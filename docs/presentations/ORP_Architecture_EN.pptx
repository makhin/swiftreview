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41ca0cca6b4aab" /><Relationship Type="http://schemas.openxmlformats.org/officeDocument/2006/relationships/extended-properties" Target="/docProps/app.xml" Id="Rb0ff39ae2ba44af9" /><Relationship Type="http://schemas.openxmlformats.org/officeDocument/2006/relationships/officeDocument" Target="/ppt/presentation.xml" Id="Rd97341fee86f4e66" /></Relationships>
</file>

<file path=ppt/presentation.xml><?xml version="1.0" encoding="utf-8"?>
<p:presentation xmlns:p="http://schemas.openxmlformats.org/presentationml/2006/main">
  <p:sldMasterIdLst>
    <p:sldMasterId xmlns:r="http://schemas.openxmlformats.org/officeDocument/2006/relationships" id="2147483648" r:id="R4ff43df2d80d41d8"/>
  </p:sldMasterIdLst>
  <p:notesMasterIdLst>
    <p:notesMasterId xmlns:r="http://schemas.openxmlformats.org/officeDocument/2006/relationships" r:id="Rc730c6c40b0c412d"/>
  </p:notesMasterIdLst>
  <p:sldIdLst>
    <p:sldId xmlns:r="http://schemas.openxmlformats.org/officeDocument/2006/relationships" id="256" r:id="Re4f0a70a5f924973"/>
    <p:sldId xmlns:r="http://schemas.openxmlformats.org/officeDocument/2006/relationships" id="257" r:id="Rd0742ca993bd42f8"/>
    <p:sldId xmlns:r="http://schemas.openxmlformats.org/officeDocument/2006/relationships" id="258" r:id="Rc948ddc37fda4668"/>
    <p:sldId xmlns:r="http://schemas.openxmlformats.org/officeDocument/2006/relationships" id="259" r:id="R584d2dd4c4d04362"/>
    <p:sldId xmlns:r="http://schemas.openxmlformats.org/officeDocument/2006/relationships" id="260" r:id="Rd18a6fa6e97b43db"/>
    <p:sldId xmlns:r="http://schemas.openxmlformats.org/officeDocument/2006/relationships" id="261" r:id="Rca6aff5c85834476"/>
    <p:sldId xmlns:r="http://schemas.openxmlformats.org/officeDocument/2006/relationships" id="262" r:id="Rdd54c3c3f39847d3"/>
    <p:sldId xmlns:r="http://schemas.openxmlformats.org/officeDocument/2006/relationships" id="263" r:id="Racfd266b600849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7ee3f2887d4d82" /><Relationship Type="http://schemas.openxmlformats.org/officeDocument/2006/relationships/slideMaster" Target="/ppt/slideMasters/slideMaster1.xml" Id="R4ff43df2d80d41d8" /><Relationship Type="http://schemas.openxmlformats.org/officeDocument/2006/relationships/notesMaster" Target="/ppt/notesMasters/notesMaster1.xml" Id="Rc730c6c40b0c412d" /><Relationship Type="http://schemas.openxmlformats.org/officeDocument/2006/relationships/presProps" Target="/ppt/presProps.xml" Id="Rbdf73ea342bc4802" /><Relationship Type="http://schemas.openxmlformats.org/officeDocument/2006/relationships/tableStyles" Target="/ppt/tableStyles.xml" Id="R75307d5bb2884115" /><Relationship Type="http://schemas.openxmlformats.org/officeDocument/2006/relationships/slide" Target="/ppt/slides/slide1.xml" Id="Re4f0a70a5f924973" /><Relationship Type="http://schemas.openxmlformats.org/officeDocument/2006/relationships/slide" Target="/ppt/slides/slide2.xml" Id="Rd0742ca993bd42f8" /><Relationship Type="http://schemas.openxmlformats.org/officeDocument/2006/relationships/slide" Target="/ppt/slides/slide3.xml" Id="Rc948ddc37fda4668" /><Relationship Type="http://schemas.openxmlformats.org/officeDocument/2006/relationships/slide" Target="/ppt/slides/slide4.xml" Id="R584d2dd4c4d04362" /><Relationship Type="http://schemas.openxmlformats.org/officeDocument/2006/relationships/slide" Target="/ppt/slides/slide5.xml" Id="Rd18a6fa6e97b43db" /><Relationship Type="http://schemas.openxmlformats.org/officeDocument/2006/relationships/slide" Target="/ppt/slides/slide6.xml" Id="Rca6aff5c85834476" /><Relationship Type="http://schemas.openxmlformats.org/officeDocument/2006/relationships/slide" Target="/ppt/slides/slide7.xml" Id="Rdd54c3c3f39847d3" /><Relationship Type="http://schemas.openxmlformats.org/officeDocument/2006/relationships/slide" Target="/ppt/slides/slide8.xml" Id="Racfd266b600849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3ce1d034a647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f7b69702e44e26" /><Relationship Type="http://schemas.openxmlformats.org/officeDocument/2006/relationships/notesMaster" Target="/ppt/notesMasters/notesMaster1.xml" Id="R5bceeb45286747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94bc58038244eb" /><Relationship Type="http://schemas.openxmlformats.org/officeDocument/2006/relationships/notesMaster" Target="/ppt/notesMasters/notesMaster1.xml" Id="Rd5c9606d412347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4a13b2b5494bbc" /><Relationship Type="http://schemas.openxmlformats.org/officeDocument/2006/relationships/notesMaster" Target="/ppt/notesMasters/notesMaster1.xml" Id="Re2e88bf5361440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a89437c4264c3f" /><Relationship Type="http://schemas.openxmlformats.org/officeDocument/2006/relationships/notesMaster" Target="/ppt/notesMasters/notesMaster1.xml" Id="Rf15ec0b9b96a4c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bd9e13e4d1484f" /><Relationship Type="http://schemas.openxmlformats.org/officeDocument/2006/relationships/notesMaster" Target="/ppt/notesMasters/notesMaster1.xml" Id="R7e9fa509912a4a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1fb036f7aa41eb" /><Relationship Type="http://schemas.openxmlformats.org/officeDocument/2006/relationships/notesMaster" Target="/ppt/notesMasters/notesMaster1.xml" Id="R0cff4de6609241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d9ca2dc2b94e8b" /><Relationship Type="http://schemas.openxmlformats.org/officeDocument/2006/relationships/notesMaster" Target="/ppt/notesMasters/notesMaster1.xml" Id="R8a6bbd7fa7c646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b878b4180f443c" /><Relationship Type="http://schemas.openxmlformats.org/officeDocument/2006/relationships/notesMaster" Target="/ppt/notesMasters/notesMaster1.xml" Id="Rad555a0298f146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sections 1–2.</a:t>
            </a:r>
          </a:p>
          <a:p xmlns:a="http://schemas.openxmlformats.org/drawingml/2006/main">
            <a:r>
              <a:t>The document describes a React SPA, an ASP.NET Core backend and SQL Server. The backend separates Domain, Application, Infrastructure and API. This presentation explains those architectural choices, using ORP only as an implementation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sections 2–3.</a:t>
            </a:r>
          </a:p>
          <a:p xmlns:a="http://schemas.openxmlformats.org/drawingml/2006/main">
            <a:r>
              <a:t>Domain contains entities and invariants without HTTP or SQL dependencies. Application defines use cases, contracts and infrastructure interfaces. Infrastructure implements those interfaces. API is the composition root in Program.cs. API and Infrastructure depend on Application, and backend dependencies point toward Domain.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 3, Application and Infrastructure.</a:t>
            </a:r>
          </a:p>
          <a:p xmlns:a="http://schemas.openxmlformats.org/drawingml/2006/main">
            <a:r>
              <a:t>The document describes two deliberate persistence styles. Commands use IORPStore and tracked Domain entities. Queries project directly to DTOs/read models with AsNoTracking. This is command/query separation within the application. The source does not describe separate databases or an event-sourced persistence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 3, Infrastructure, and section 4.</a:t>
            </a:r>
          </a:p>
          <a:p xmlns:a="http://schemas.openxmlformats.org/drawingml/2006/main">
            <a:r>
              <a:t>Mutations use Serializable isolation through ITransactionExecutor. TransactionExecutor reloads state and permissions on an EF retry, commits once and does not replay a mutation when the commit result is unknown. Filtered unique indexes provide a database concurrency guard. State changes and business audit records are committed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 6.</a:t>
            </a:r>
          </a:p>
          <a:p xmlns:a="http://schemas.openxmlformats.org/drawingml/2006/main">
            <a:r>
              <a:t>Frontend dependency direction is app to pages to shared. ESLint forbids reverse imports and imports between page slices. app owns startup/providers/routing, pages own route-specific features and shared owns reusable code. TanStack Query manages non-grid server state. DevExtreme CustomStore loads grid data through DevExtreme.AspNet.Data, which translates remote operations into 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sections 3, API, 6, Server state and HTTP, and 8.</a:t>
            </a:r>
          </a:p>
          <a:p xmlns:a="http://schemas.openxmlformats.org/drawingml/2006/main">
            <a:r>
              <a:t>Application contracts are public API DTOs and remain separate from EF entities. OpenAPI schemas generate frontend TypeScript DTOs through tools/OpenApiTsContracts. Endpoint functions and hooks remain handwritten. Minimal API modules use shared Problem Details responses. X-Correlation-ID links request logs and audit events. Health checks and OpenTelemetry expose operational signals.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 3, API.</a:t>
            </a:r>
          </a:p>
          <a:p xmlns:a="http://schemas.openxmlformats.org/drawingml/2006/main">
            <a:r>
              <a:t>Implementation: backend/src/ORP.Api/Program.cs uses app.MapOpenApi() and app.MapScalarApiReference("/scalar", options =&gt; options.WithTitle("ORP API")). Minimal API modules expose HTTP endpoints. /openapi/v1.json publishes the contract. Scalar provides the interactive reference and an embedded client for sending requests. Scalar capability reference: https://scalar.com/products/api-client.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sections 2 and 8–9.</a:t>
            </a:r>
          </a:p>
          <a:p xmlns:a="http://schemas.openxmlformats.org/drawingml/2006/main">
            <a:r>
              <a:t>Domain tests exercise entity rules without SQL. Application tests use test doubles. Local-only API integration tests use real SQL Server and a fresh database per fixture. Frontend tests use Vitest, jsdom and React Testing Library. Scheduler is an independent .NET Framework 4.7.2 library with a separate solution and test suite, outside the web application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7f8aa399324a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c4f4ee3e5e4870" /><Relationship Type="http://schemas.openxmlformats.org/officeDocument/2006/relationships/slideLayout" Target="/ppt/slideLayouts/slideLayout1.xml" Id="Rbd9ecf66f5ba4e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9ecf66f5ba4e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80ae87bc7b4dc6" /><Relationship Type="http://schemas.openxmlformats.org/officeDocument/2006/relationships/notesSlide" Target="/ppt/notesSlides/notesSlide1.xml" Id="Rf963a1d5f5ad4b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20a6c7ec2142e4" /><Relationship Type="http://schemas.openxmlformats.org/officeDocument/2006/relationships/notesSlide" Target="/ppt/notesSlides/notesSlide2.xml" Id="Rd315a9b2865a46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f2f7c19afe40ba" /><Relationship Type="http://schemas.openxmlformats.org/officeDocument/2006/relationships/notesSlide" Target="/ppt/notesSlides/notesSlide3.xml" Id="R2f7f200077864f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1c06976ef046ea" /><Relationship Type="http://schemas.openxmlformats.org/officeDocument/2006/relationships/notesSlide" Target="/ppt/notesSlides/notesSlide4.xml" Id="R31accf11ce6c44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2bddc9e5054873" /><Relationship Type="http://schemas.openxmlformats.org/officeDocument/2006/relationships/notesSlide" Target="/ppt/notesSlides/notesSlide5.xml" Id="R415cbcd88dfd46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d615b1b1b74c3a" /><Relationship Type="http://schemas.openxmlformats.org/officeDocument/2006/relationships/notesSlide" Target="/ppt/notesSlides/notesSlide6.xml" Id="R54137890148849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1d0963b0ae4222" /><Relationship Type="http://schemas.openxmlformats.org/officeDocument/2006/relationships/notesSlide" Target="/ppt/notesSlides/notesSlide7.xml" Id="Rb06359fdfc4a46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a098af6d73448e" /><Relationship Type="http://schemas.openxmlformats.org/officeDocument/2006/relationships/notesSlide" Target="/ppt/notesSlides/notesSlide8.xml" Id="Rd0b36993b31b46c9" /></Relationships>
</file>

<file path=ppt/slides/slide1.xml><?xml version="1.0" encoding="utf-8"?>
<p:sld xmlns:p="http://schemas.openxmlformats.org/presentationml/2006/main">
  <p:cSld>
    <p:bg>
      <p:bgPr>
        <a:solidFill xmlns:a="http://schemas.openxmlformats.org/drawingml/2006/main">
          <a:srgbClr val="18312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4D0D80-CBE1-4796-80A7-3BB641011DF6}"/>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2CFB3"/>
                </a:solidFill>
                <a:latin typeface="Helvetica Neue"/>
                <a:ea typeface="Helvetica Neue"/>
                <a:cs typeface="Helvetica Neue"/>
              </a:defRPr>
            </a:pPr>
            <a:r>
              <a:rPr sz="3300" b="1">
                <a:solidFill>
                  <a:srgbClr val="82CFB3"/>
                </a:solidFill>
                <a:latin typeface="Helvetica Neue"/>
                <a:ea typeface="Helvetica Neue"/>
                <a:cs typeface="Helvetica Neue"/>
              </a:rPr>
              <a:t>Architecture</a:t>
            </a:r>
          </a:p>
        </p:txBody>
      </p:sp>
      <p:sp>
        <p:nvSpPr>
          <p:cNvPr id="2" name="">
            <a:extLst xmlns:a="http://schemas.openxmlformats.org/drawingml/2006/main">
              <a:ext uri="{FF2B5EF4-FFF2-40B4-BE49-F238E27FC236}">
                <a16:creationId xmlns:a16="http://schemas.microsoft.com/office/drawing/2014/main" id="{C6D2C33B-45FD-4CD9-81EF-90BAE086A096}"/>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E6DF"/>
                </a:solidFill>
                <a:latin typeface="Helvetica Neue"/>
                <a:ea typeface="Helvetica Neue"/>
                <a:cs typeface="Helvetica Neue"/>
              </a:defRPr>
            </a:pPr>
            <a:r>
              <a:rPr sz="1350" b="0">
                <a:solidFill>
                  <a:srgbClr val="D4E6DF"/>
                </a:solidFill>
                <a:latin typeface="Helvetica Neue"/>
                <a:ea typeface="Helvetica Neue"/>
                <a:cs typeface="Helvetica Neue"/>
              </a:rPr>
              <a:t>01 / 08</a:t>
            </a:r>
          </a:p>
        </p:txBody>
      </p:sp>
      <p:sp>
        <p:nvSpPr>
          <p:cNvPr id="3" name="">
            <a:extLst xmlns:a="http://schemas.openxmlformats.org/drawingml/2006/main">
              <a:ext uri="{FF2B5EF4-FFF2-40B4-BE49-F238E27FC236}">
                <a16:creationId xmlns:a16="http://schemas.microsoft.com/office/drawing/2014/main" id="{9041EF66-2F3B-4890-B62A-7621041E77FF}"/>
              </a:ext>
            </a:extLst>
          </p:cNvPr>
          <p:cNvSpPr>
            <a:spLocks xmlns:a="http://schemas.openxmlformats.org/drawingml/2006/main" noGrp="1"/>
          </p:cNvSpPr>
          <p:nvPr/>
        </p:nvSpPr>
        <p:spPr>
          <a:xfrm xmlns:a="http://schemas.openxmlformats.org/drawingml/2006/main">
            <a:off x="685800" y="20955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Layered Web Architecture</a:t>
            </a:r>
          </a:p>
        </p:txBody>
      </p:sp>
      <p:sp>
        <p:nvSpPr>
          <p:cNvPr id="4" name="">
            <a:extLst xmlns:a="http://schemas.openxmlformats.org/drawingml/2006/main">
              <a:ext uri="{FF2B5EF4-FFF2-40B4-BE49-F238E27FC236}">
                <a16:creationId xmlns:a16="http://schemas.microsoft.com/office/drawing/2014/main" id="{F748A4E3-1A92-405D-81B9-943748CE10FD}"/>
              </a:ext>
            </a:extLst>
          </p:cNvPr>
          <p:cNvSpPr>
            <a:spLocks xmlns:a="http://schemas.openxmlformats.org/drawingml/2006/main" noGrp="1"/>
          </p:cNvSpPr>
          <p:nvPr/>
        </p:nvSpPr>
        <p:spPr>
          <a:xfrm xmlns:a="http://schemas.openxmlformats.org/drawingml/2006/main">
            <a:off x="685800" y="331470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D4E6DF"/>
                </a:solidFill>
                <a:latin typeface="Helvetica Neue"/>
                <a:ea typeface="Helvetica Neue"/>
                <a:cs typeface="Helvetica Neue"/>
              </a:defRPr>
            </a:pPr>
            <a:r>
              <a:rPr sz="2550" b="0">
                <a:solidFill>
                  <a:srgbClr val="D4E6DF"/>
                </a:solidFill>
                <a:latin typeface="Helvetica Neue"/>
                <a:ea typeface="Helvetica Neue"/>
                <a:cs typeface="Helvetica Neue"/>
              </a:rPr>
              <a:t>Dependency inversion, data access</a:t>
            </a:r>
          </a:p>
          <a:p xmlns:a="http://schemas.openxmlformats.org/drawingml/2006/main">
            <a:pPr>
              <a:defRPr sz="2550" b="0">
                <a:solidFill>
                  <a:srgbClr val="D4E6DF"/>
                </a:solidFill>
                <a:latin typeface="Helvetica Neue"/>
                <a:ea typeface="Helvetica Neue"/>
                <a:cs typeface="Helvetica Neue"/>
              </a:defRPr>
            </a:pPr>
            <a:r>
              <a:rPr sz="2550" b="0">
                <a:solidFill>
                  <a:srgbClr val="D4E6DF"/>
                </a:solidFill>
                <a:latin typeface="Helvetica Neue"/>
                <a:ea typeface="Helvetica Neue"/>
                <a:cs typeface="Helvetica Neue"/>
              </a:rPr>
              <a:t>and frontend boundaries</a:t>
            </a:r>
          </a:p>
        </p:txBody>
      </p:sp>
      <p:sp>
        <p:nvSpPr>
          <p:cNvPr id="5" name="">
            <a:extLst xmlns:a="http://schemas.openxmlformats.org/drawingml/2006/main">
              <a:ext uri="{FF2B5EF4-FFF2-40B4-BE49-F238E27FC236}">
                <a16:creationId xmlns:a16="http://schemas.microsoft.com/office/drawing/2014/main" id="{28A63795-02FB-402B-A84A-819AC5A81C25}"/>
              </a:ext>
            </a:extLst>
          </p:cNvPr>
          <p:cNvSpPr>
            <a:spLocks xmlns:a="http://schemas.openxmlformats.org/drawingml/2006/main" noGrp="1"/>
          </p:cNvSpPr>
          <p:nvPr/>
        </p:nvSpPr>
        <p:spPr>
          <a:xfrm xmlns:a="http://schemas.openxmlformats.org/drawingml/2006/main">
            <a:off x="685800" y="52578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82CFB3"/>
                </a:solidFill>
                <a:latin typeface="Helvetica Neue"/>
                <a:ea typeface="Helvetica Neue"/>
                <a:cs typeface="Helvetica Neue"/>
              </a:defRPr>
            </a:pPr>
            <a:r>
              <a:rPr sz="2100" b="0">
                <a:solidFill>
                  <a:srgbClr val="82CFB3"/>
                </a:solidFill>
                <a:latin typeface="Helvetica Neue"/>
                <a:ea typeface="Helvetica Neue"/>
                <a:cs typeface="Helvetica Neue"/>
              </a:rPr>
              <a:t>Illustrated by ORP</a:t>
            </a:r>
          </a:p>
        </p:txBody>
      </p:sp>
    </p:spTree>
    <p:extLst>
      <p:ext uri="{BB962C8B-B14F-4D97-AF65-F5344CB8AC3E}">
        <p14:creationId xmlns:p14="http://schemas.microsoft.com/office/powerpoint/2010/main" val="1634359110"/>
      </p:ext>
    </p:extLst>
  </p:cSld>
</p:sld>
</file>

<file path=ppt/slides/slide2.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14EAE0E-5105-49B5-B389-D7F7C0F8D24B}"/>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F"/>
                </a:solidFill>
                <a:latin typeface="Helvetica Neue"/>
                <a:ea typeface="Helvetica Neue"/>
                <a:cs typeface="Helvetica Neue"/>
              </a:defRPr>
            </a:pPr>
            <a:r>
              <a:rPr sz="3300" b="1">
                <a:solidFill>
                  <a:srgbClr val="18312F"/>
                </a:solidFill>
                <a:latin typeface="Helvetica Neue"/>
                <a:ea typeface="Helvetica Neue"/>
                <a:cs typeface="Helvetica Neue"/>
              </a:rPr>
              <a:t>Backend layers and dependency inversion</a:t>
            </a:r>
          </a:p>
        </p:txBody>
      </p:sp>
      <p:sp>
        <p:nvSpPr>
          <p:cNvPr id="2" name="">
            <a:extLst xmlns:a="http://schemas.openxmlformats.org/drawingml/2006/main">
              <a:ext uri="{FF2B5EF4-FFF2-40B4-BE49-F238E27FC236}">
                <a16:creationId xmlns:a16="http://schemas.microsoft.com/office/drawing/2014/main" id="{AF6E8420-C21D-4F6A-B5FA-8E123F2B4F47}"/>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5F"/>
                </a:solidFill>
                <a:latin typeface="Helvetica Neue"/>
                <a:ea typeface="Helvetica Neue"/>
                <a:cs typeface="Helvetica Neue"/>
              </a:defRPr>
            </a:pPr>
            <a:r>
              <a:rPr sz="1350" b="0">
                <a:solidFill>
                  <a:srgbClr val="50615F"/>
                </a:solidFill>
                <a:latin typeface="Helvetica Neue"/>
                <a:ea typeface="Helvetica Neue"/>
                <a:cs typeface="Helvetica Neue"/>
              </a:rPr>
              <a:t>02 / 08</a:t>
            </a:r>
          </a:p>
        </p:txBody>
      </p:sp>
      <p:sp>
        <p:nvSpPr>
          <p:cNvPr id="3" name="">
            <a:extLst xmlns:a="http://schemas.openxmlformats.org/drawingml/2006/main">
              <a:ext uri="{FF2B5EF4-FFF2-40B4-BE49-F238E27FC236}">
                <a16:creationId xmlns:a16="http://schemas.microsoft.com/office/drawing/2014/main" id="{131DFCBB-4A55-4893-A29D-0529FEA53F6E}"/>
              </a:ext>
            </a:extLst>
          </p:cNvPr>
          <p:cNvSpPr>
            <a:spLocks xmlns:a="http://schemas.openxmlformats.org/drawingml/2006/main" noGrp="1"/>
          </p:cNvSpPr>
          <p:nvPr/>
        </p:nvSpPr>
        <p:spPr>
          <a:xfrm xmlns:a="http://schemas.openxmlformats.org/drawingml/2006/main">
            <a:off x="685800" y="14954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15F"/>
                </a:solidFill>
                <a:latin typeface="Helvetica Neue"/>
                <a:ea typeface="Helvetica Neue"/>
                <a:cs typeface="Helvetica Neue"/>
              </a:defRPr>
            </a:pPr>
            <a:r>
              <a:rPr sz="2175" b="0">
                <a:solidFill>
                  <a:srgbClr val="50615F"/>
                </a:solidFill>
                <a:latin typeface="Helvetica Neue"/>
                <a:ea typeface="Helvetica Neue"/>
                <a:cs typeface="Helvetica Neue"/>
              </a:rPr>
              <a:t>Primary compile-time dependencies point toward the core.</a:t>
            </a:r>
          </a:p>
        </p:txBody>
      </p:sp>
      <p:sp>
        <p:nvSpPr>
          <p:cNvPr id="4" name="">
            <a:extLst xmlns:a="http://schemas.openxmlformats.org/drawingml/2006/main">
              <a:ext uri="{FF2B5EF4-FFF2-40B4-BE49-F238E27FC236}">
                <a16:creationId xmlns:a16="http://schemas.microsoft.com/office/drawing/2014/main" id="{A7536B84-6309-4AF6-94E6-2EE4FF6C24C0}"/>
              </a:ext>
            </a:extLst>
          </p:cNvPr>
          <p:cNvSpPr>
            <a:spLocks xmlns:a="http://schemas.openxmlformats.org/drawingml/2006/main" noGrp="1"/>
          </p:cNvSpPr>
          <p:nvPr/>
        </p:nvSpPr>
        <p:spPr>
          <a:xfrm xmlns:a="http://schemas.openxmlformats.org/drawingml/2006/main">
            <a:off x="685800" y="2552700"/>
            <a:ext cx="2686050" cy="106680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API</a:t>
            </a:r>
          </a:p>
        </p:txBody>
      </p:sp>
      <p:sp>
        <p:nvSpPr>
          <p:cNvPr id="5" name="">
            <a:extLst xmlns:a="http://schemas.openxmlformats.org/drawingml/2006/main">
              <a:ext uri="{FF2B5EF4-FFF2-40B4-BE49-F238E27FC236}">
                <a16:creationId xmlns:a16="http://schemas.microsoft.com/office/drawing/2014/main" id="{ED7ED2AD-151A-4E27-85E4-201F44FBB170}"/>
              </a:ext>
            </a:extLst>
          </p:cNvPr>
          <p:cNvSpPr>
            <a:spLocks xmlns:a="http://schemas.openxmlformats.org/drawingml/2006/main" noGrp="1"/>
          </p:cNvSpPr>
          <p:nvPr/>
        </p:nvSpPr>
        <p:spPr>
          <a:xfrm xmlns:a="http://schemas.openxmlformats.org/drawingml/2006/main">
            <a:off x="4514850" y="2552700"/>
            <a:ext cx="3162300" cy="1066800"/>
          </a:xfrm>
          <a:prstGeom xmlns:a="http://schemas.openxmlformats.org/drawingml/2006/main" prst="rect">
            <a:avLst/>
          </a:prstGeom>
          <a:solidFill xmlns:a="http://schemas.openxmlformats.org/drawingml/2006/main">
            <a:srgbClr val="18312F"/>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Application</a:t>
            </a:r>
          </a:p>
        </p:txBody>
      </p:sp>
      <p:sp>
        <p:nvSpPr>
          <p:cNvPr id="6" name="">
            <a:extLst xmlns:a="http://schemas.openxmlformats.org/drawingml/2006/main">
              <a:ext uri="{FF2B5EF4-FFF2-40B4-BE49-F238E27FC236}">
                <a16:creationId xmlns:a16="http://schemas.microsoft.com/office/drawing/2014/main" id="{94548B1B-53B4-4DBF-BA40-8D4BFFDE2393}"/>
              </a:ext>
            </a:extLst>
          </p:cNvPr>
          <p:cNvSpPr>
            <a:spLocks xmlns:a="http://schemas.openxmlformats.org/drawingml/2006/main" noGrp="1"/>
          </p:cNvSpPr>
          <p:nvPr/>
        </p:nvSpPr>
        <p:spPr>
          <a:xfrm xmlns:a="http://schemas.openxmlformats.org/drawingml/2006/main">
            <a:off x="8820150" y="2552700"/>
            <a:ext cx="2686050" cy="106680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Infrastructure</a:t>
            </a:r>
          </a:p>
        </p:txBody>
      </p:sp>
      <p:sp>
        <p:nvSpPr>
          <p:cNvPr id="7" name="">
            <a:extLst xmlns:a="http://schemas.openxmlformats.org/drawingml/2006/main">
              <a:ext uri="{FF2B5EF4-FFF2-40B4-BE49-F238E27FC236}">
                <a16:creationId xmlns:a16="http://schemas.microsoft.com/office/drawing/2014/main" id="{E3E044E8-42A0-4784-925B-5BA8698EB483}"/>
              </a:ext>
            </a:extLst>
          </p:cNvPr>
          <p:cNvSpPr>
            <a:spLocks xmlns:a="http://schemas.openxmlformats.org/drawingml/2006/main" noGrp="1"/>
          </p:cNvSpPr>
          <p:nvPr/>
        </p:nvSpPr>
        <p:spPr>
          <a:xfrm xmlns:a="http://schemas.openxmlformats.org/drawingml/2006/main">
            <a:off x="4514850" y="4533900"/>
            <a:ext cx="3162300" cy="857250"/>
          </a:xfrm>
          <a:prstGeom xmlns:a="http://schemas.openxmlformats.org/drawingml/2006/main" prst="rect">
            <a:avLst/>
          </a:prstGeom>
          <a:solidFill xmlns:a="http://schemas.openxmlformats.org/drawingml/2006/main">
            <a:srgbClr val="18312F"/>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Domain</a:t>
            </a:r>
          </a:p>
        </p:txBody>
      </p: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3371850" y="3086100"/>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cxnSp>
        <p:nvCxnSpPr>
          <p:cNvPr id="25" name=""/>
          <p:cNvCxnSpPr>
            <a:stCxn xmlns:a="http://schemas.openxmlformats.org/drawingml/2006/main" id="6" idx="1"/>
            <a:endCxn xmlns:a="http://schemas.openxmlformats.org/drawingml/2006/main" id="5" idx="3"/>
          </p:cNvCxnSpPr>
          <p:nvPr/>
        </p:nvCxnSpPr>
        <p:spPr>
          <a:xfrm xmlns:a="http://schemas.openxmlformats.org/drawingml/2006/main" flipH="1">
            <a:off x="7677150" y="3086100"/>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cxnSp>
        <p:nvCxnSpPr>
          <p:cNvPr id="26" name=""/>
          <p:cNvCxnSpPr>
            <a:stCxn xmlns:a="http://schemas.openxmlformats.org/drawingml/2006/main" id="5" idx="2"/>
            <a:endCxn xmlns:a="http://schemas.openxmlformats.org/drawingml/2006/main" id="7" idx="0"/>
          </p:cNvCxnSpPr>
          <p:nvPr/>
        </p:nvCxnSpPr>
        <p:spPr>
          <a:xfrm xmlns:a="http://schemas.openxmlformats.org/drawingml/2006/main">
            <a:off x="6096000" y="3619500"/>
            <a:ext cx="0" cy="914400"/>
          </a:xfrm>
          <a:prstGeom xmlns:a="http://schemas.openxmlformats.org/drawingml/2006/main" prst="straightConnector1">
            <a:avLst/>
          </a:prstGeom>
          <a:ln xmlns:a="http://schemas.openxmlformats.org/drawingml/2006/main" w="23813">
            <a:solidFill>
              <a:srgbClr val="16816E"/>
            </a:solidFill>
            <a:tailEnd type="triangle" w="med" len="med"/>
          </a:ln>
        </p:spPr>
      </p:cxnSp>
      <p:sp>
        <p:nvSpPr>
          <p:cNvPr id="11" name="">
            <a:extLst xmlns:a="http://schemas.openxmlformats.org/drawingml/2006/main">
              <a:ext uri="{FF2B5EF4-FFF2-40B4-BE49-F238E27FC236}">
                <a16:creationId xmlns:a16="http://schemas.microsoft.com/office/drawing/2014/main" id="{C2E66F36-01BF-46F7-91E0-70271CC7EB4A}"/>
              </a:ext>
            </a:extLst>
          </p:cNvPr>
          <p:cNvSpPr>
            <a:spLocks xmlns:a="http://schemas.openxmlformats.org/drawingml/2006/main" noGrp="1"/>
          </p:cNvSpPr>
          <p:nvPr/>
        </p:nvSpPr>
        <p:spPr>
          <a:xfrm xmlns:a="http://schemas.openxmlformats.org/drawingml/2006/main">
            <a:off x="685800" y="20288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15F"/>
                </a:solidFill>
                <a:latin typeface="Helvetica Neue"/>
                <a:ea typeface="Helvetica Neue"/>
                <a:cs typeface="Helvetica Neue"/>
              </a:defRPr>
            </a:pPr>
            <a:r>
              <a:rPr sz="1800" b="0">
                <a:solidFill>
                  <a:srgbClr val="50615F"/>
                </a:solidFill>
                <a:latin typeface="Helvetica Neue"/>
                <a:ea typeface="Helvetica Neue"/>
                <a:cs typeface="Helvetica Neue"/>
              </a:rPr>
              <a:t>HTTP and composition</a:t>
            </a:r>
          </a:p>
        </p:txBody>
      </p:sp>
      <p:sp>
        <p:nvSpPr>
          <p:cNvPr id="12" name="">
            <a:extLst xmlns:a="http://schemas.openxmlformats.org/drawingml/2006/main">
              <a:ext uri="{FF2B5EF4-FFF2-40B4-BE49-F238E27FC236}">
                <a16:creationId xmlns:a16="http://schemas.microsoft.com/office/drawing/2014/main" id="{EAE9D3A0-6CF0-44A3-AC67-75C94E773463}"/>
              </a:ext>
            </a:extLst>
          </p:cNvPr>
          <p:cNvSpPr>
            <a:spLocks xmlns:a="http://schemas.openxmlformats.org/drawingml/2006/main" noGrp="1"/>
          </p:cNvSpPr>
          <p:nvPr/>
        </p:nvSpPr>
        <p:spPr>
          <a:xfrm xmlns:a="http://schemas.openxmlformats.org/drawingml/2006/main">
            <a:off x="4514850" y="2028825"/>
            <a:ext cx="316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15F"/>
                </a:solidFill>
                <a:latin typeface="Helvetica Neue"/>
                <a:ea typeface="Helvetica Neue"/>
                <a:cs typeface="Helvetica Neue"/>
              </a:defRPr>
            </a:pPr>
            <a:r>
              <a:rPr sz="1800" b="0">
                <a:solidFill>
                  <a:srgbClr val="50615F"/>
                </a:solidFill>
                <a:latin typeface="Helvetica Neue"/>
                <a:ea typeface="Helvetica Neue"/>
                <a:cs typeface="Helvetica Neue"/>
              </a:rPr>
              <a:t>Use cases and interfaces</a:t>
            </a:r>
          </a:p>
        </p:txBody>
      </p:sp>
      <p:sp>
        <p:nvSpPr>
          <p:cNvPr id="13" name="">
            <a:extLst xmlns:a="http://schemas.openxmlformats.org/drawingml/2006/main">
              <a:ext uri="{FF2B5EF4-FFF2-40B4-BE49-F238E27FC236}">
                <a16:creationId xmlns:a16="http://schemas.microsoft.com/office/drawing/2014/main" id="{69499FC3-37FF-411B-B2DF-DADE9D4E13ED}"/>
              </a:ext>
            </a:extLst>
          </p:cNvPr>
          <p:cNvSpPr>
            <a:spLocks xmlns:a="http://schemas.openxmlformats.org/drawingml/2006/main" noGrp="1"/>
          </p:cNvSpPr>
          <p:nvPr/>
        </p:nvSpPr>
        <p:spPr>
          <a:xfrm xmlns:a="http://schemas.openxmlformats.org/drawingml/2006/main">
            <a:off x="8820150" y="20288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15F"/>
                </a:solidFill>
                <a:latin typeface="Helvetica Neue"/>
                <a:ea typeface="Helvetica Neue"/>
                <a:cs typeface="Helvetica Neue"/>
              </a:defRPr>
            </a:pPr>
            <a:r>
              <a:rPr sz="1800" b="0">
                <a:solidFill>
                  <a:srgbClr val="50615F"/>
                </a:solidFill>
                <a:latin typeface="Helvetica Neue"/>
                <a:ea typeface="Helvetica Neue"/>
                <a:cs typeface="Helvetica Neue"/>
              </a:rPr>
              <a:t>EF Core and SQL</a:t>
            </a:r>
          </a:p>
        </p:txBody>
      </p:sp>
      <p:sp>
        <p:nvSpPr>
          <p:cNvPr id="14" name="">
            <a:extLst xmlns:a="http://schemas.openxmlformats.org/drawingml/2006/main">
              <a:ext uri="{FF2B5EF4-FFF2-40B4-BE49-F238E27FC236}">
                <a16:creationId xmlns:a16="http://schemas.microsoft.com/office/drawing/2014/main" id="{085E101E-825C-40AC-89DA-0E2E1C089AF4}"/>
              </a:ext>
            </a:extLst>
          </p:cNvPr>
          <p:cNvSpPr>
            <a:spLocks xmlns:a="http://schemas.openxmlformats.org/drawingml/2006/main" noGrp="1"/>
          </p:cNvSpPr>
          <p:nvPr/>
        </p:nvSpPr>
        <p:spPr>
          <a:xfrm xmlns:a="http://schemas.openxmlformats.org/drawingml/2006/main">
            <a:off x="8324850" y="3762375"/>
            <a:ext cx="318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15F"/>
                </a:solidFill>
                <a:latin typeface="Helvetica Neue"/>
                <a:ea typeface="Helvetica Neue"/>
                <a:cs typeface="Helvetica Neue"/>
              </a:defRPr>
            </a:pPr>
            <a:r>
              <a:rPr sz="1800" b="0">
                <a:solidFill>
                  <a:srgbClr val="50615F"/>
                </a:solidFill>
                <a:latin typeface="Helvetica Neue"/>
                <a:ea typeface="Helvetica Neue"/>
                <a:cs typeface="Helvetica Neue"/>
              </a:rPr>
              <a:t>Implements Application interfaces</a:t>
            </a:r>
          </a:p>
        </p:txBody>
      </p:sp>
      <p:sp>
        <p:nvSpPr>
          <p:cNvPr id="15" name="">
            <a:extLst xmlns:a="http://schemas.openxmlformats.org/drawingml/2006/main">
              <a:ext uri="{FF2B5EF4-FFF2-40B4-BE49-F238E27FC236}">
                <a16:creationId xmlns:a16="http://schemas.microsoft.com/office/drawing/2014/main" id="{68D3040E-6A64-49F8-B283-E0C965B50539}"/>
              </a:ext>
            </a:extLst>
          </p:cNvPr>
          <p:cNvSpPr>
            <a:spLocks xmlns:a="http://schemas.openxmlformats.org/drawingml/2006/main" noGrp="1"/>
          </p:cNvSpPr>
          <p:nvPr/>
        </p:nvSpPr>
        <p:spPr>
          <a:xfrm xmlns:a="http://schemas.openxmlformats.org/drawingml/2006/main">
            <a:off x="685800" y="47529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Entities and invariants</a:t>
            </a:r>
          </a:p>
        </p:txBody>
      </p:sp>
      <p:sp>
        <p:nvSpPr>
          <p:cNvPr id="16" name="">
            <a:extLst xmlns:a="http://schemas.openxmlformats.org/drawingml/2006/main">
              <a:ext uri="{FF2B5EF4-FFF2-40B4-BE49-F238E27FC236}">
                <a16:creationId xmlns:a16="http://schemas.microsoft.com/office/drawing/2014/main" id="{BFB253DF-A343-4D8C-800A-E50000A6CE07}"/>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816E"/>
                </a:solidFill>
                <a:latin typeface="Helvetica Neue"/>
                <a:ea typeface="Helvetica Neue"/>
                <a:cs typeface="Helvetica Neue"/>
              </a:defRPr>
            </a:pPr>
            <a:r>
              <a:rPr sz="1875" b="0">
                <a:solidFill>
                  <a:srgbClr val="16816E"/>
                </a:solidFill>
                <a:latin typeface="Helvetica Neue"/>
                <a:ea typeface="Helvetica Neue"/>
                <a:cs typeface="Helvetica Neue"/>
              </a:rPr>
              <a:t>IORPStore lives in Application. Infrastructure implements it. Domain has no HTTP or SQL dependency.</a:t>
            </a:r>
          </a:p>
        </p:txBody>
      </p:sp>
    </p:spTree>
    <p:extLst>
      <p:ext uri="{BB962C8B-B14F-4D97-AF65-F5344CB8AC3E}">
        <p14:creationId xmlns:p14="http://schemas.microsoft.com/office/powerpoint/2010/main" val="1548006999"/>
      </p:ext>
    </p:extLst>
  </p:cSld>
</p:sld>
</file>

<file path=ppt/slides/slide3.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2CB1E8-8E9B-4BAE-B809-84E337C22DBC}"/>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F"/>
                </a:solidFill>
                <a:latin typeface="Helvetica Neue"/>
                <a:ea typeface="Helvetica Neue"/>
                <a:cs typeface="Helvetica Neue"/>
              </a:defRPr>
            </a:pPr>
            <a:r>
              <a:rPr sz="3300" b="1">
                <a:solidFill>
                  <a:srgbClr val="18312F"/>
                </a:solidFill>
                <a:latin typeface="Helvetica Neue"/>
                <a:ea typeface="Helvetica Neue"/>
                <a:cs typeface="Helvetica Neue"/>
              </a:rPr>
              <a:t>Separate command and query paths</a:t>
            </a:r>
          </a:p>
        </p:txBody>
      </p:sp>
      <p:sp>
        <p:nvSpPr>
          <p:cNvPr id="2" name="">
            <a:extLst xmlns:a="http://schemas.openxmlformats.org/drawingml/2006/main">
              <a:ext uri="{FF2B5EF4-FFF2-40B4-BE49-F238E27FC236}">
                <a16:creationId xmlns:a16="http://schemas.microsoft.com/office/drawing/2014/main" id="{5EC75293-AD4F-450F-A8AA-5DC12ACE3C1C}"/>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5F"/>
                </a:solidFill>
                <a:latin typeface="Helvetica Neue"/>
                <a:ea typeface="Helvetica Neue"/>
                <a:cs typeface="Helvetica Neue"/>
              </a:defRPr>
            </a:pPr>
            <a:r>
              <a:rPr sz="1350" b="0">
                <a:solidFill>
                  <a:srgbClr val="50615F"/>
                </a:solidFill>
                <a:latin typeface="Helvetica Neue"/>
                <a:ea typeface="Helvetica Neue"/>
                <a:cs typeface="Helvetica Neue"/>
              </a:rPr>
              <a:t>03 / 08</a:t>
            </a:r>
          </a:p>
        </p:txBody>
      </p:sp>
      <p:sp>
        <p:nvSpPr>
          <p:cNvPr id="3" name="">
            <a:extLst xmlns:a="http://schemas.openxmlformats.org/drawingml/2006/main">
              <a:ext uri="{FF2B5EF4-FFF2-40B4-BE49-F238E27FC236}">
                <a16:creationId xmlns:a16="http://schemas.microsoft.com/office/drawing/2014/main" id="{8F268345-495E-41DE-A393-33DC19A4450E}"/>
              </a:ext>
            </a:extLst>
          </p:cNvPr>
          <p:cNvSpPr>
            <a:spLocks xmlns:a="http://schemas.openxmlformats.org/drawingml/2006/main" noGrp="1"/>
          </p:cNvSpPr>
          <p:nvPr/>
        </p:nvSpPr>
        <p:spPr>
          <a:xfrm xmlns:a="http://schemas.openxmlformats.org/drawingml/2006/main">
            <a:off x="685800" y="16478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816E"/>
                </a:solidFill>
                <a:latin typeface="Helvetica Neue"/>
                <a:ea typeface="Helvetica Neue"/>
                <a:cs typeface="Helvetica Neue"/>
              </a:defRPr>
            </a:pPr>
            <a:r>
              <a:rPr sz="2400" b="1">
                <a:solidFill>
                  <a:srgbClr val="16816E"/>
                </a:solidFill>
                <a:latin typeface="Helvetica Neue"/>
                <a:ea typeface="Helvetica Neue"/>
                <a:cs typeface="Helvetica Neue"/>
              </a:rPr>
              <a:t>Commands</a:t>
            </a:r>
          </a:p>
        </p:txBody>
      </p:sp>
      <p:sp>
        <p:nvSpPr>
          <p:cNvPr id="4" name="">
            <a:extLst xmlns:a="http://schemas.openxmlformats.org/drawingml/2006/main">
              <a:ext uri="{FF2B5EF4-FFF2-40B4-BE49-F238E27FC236}">
                <a16:creationId xmlns:a16="http://schemas.microsoft.com/office/drawing/2014/main" id="{9335481C-4889-4A88-8B8F-C075D794B4A4}"/>
              </a:ext>
            </a:extLst>
          </p:cNvPr>
          <p:cNvSpPr>
            <a:spLocks xmlns:a="http://schemas.openxmlformats.org/drawingml/2006/main" noGrp="1"/>
          </p:cNvSpPr>
          <p:nvPr/>
        </p:nvSpPr>
        <p:spPr>
          <a:xfrm xmlns:a="http://schemas.openxmlformats.org/drawingml/2006/main">
            <a:off x="685800" y="2324100"/>
            <a:ext cx="52197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One handler per use case</a:t>
            </a:r>
          </a:p>
          <a:p xmlns:a="http://schemas.openxmlformats.org/drawingml/2006/main">
            <a:r>
              <a:t/>
            </a:r>
          </a:p>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Load tracked domain entities</a:t>
            </a:r>
          </a:p>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Apply rules through entity methods</a:t>
            </a:r>
          </a:p>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Save changes in a transaction</a:t>
            </a:r>
          </a:p>
        </p:txBody>
      </p:sp>
      <p:sp>
        <p:nvSpPr>
          <p:cNvPr id="5" name="">
            <a:extLst xmlns:a="http://schemas.openxmlformats.org/drawingml/2006/main">
              <a:ext uri="{FF2B5EF4-FFF2-40B4-BE49-F238E27FC236}">
                <a16:creationId xmlns:a16="http://schemas.microsoft.com/office/drawing/2014/main" id="{BFA87F19-C546-47B3-8980-E93CF856B621}"/>
              </a:ext>
            </a:extLst>
          </p:cNvPr>
          <p:cNvSpPr>
            <a:spLocks xmlns:a="http://schemas.openxmlformats.org/drawingml/2006/main" noGrp="1"/>
          </p:cNvSpPr>
          <p:nvPr/>
        </p:nvSpPr>
        <p:spPr>
          <a:xfrm xmlns:a="http://schemas.openxmlformats.org/drawingml/2006/main">
            <a:off x="6572250" y="1647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816E"/>
                </a:solidFill>
                <a:latin typeface="Helvetica Neue"/>
                <a:ea typeface="Helvetica Neue"/>
                <a:cs typeface="Helvetica Neue"/>
              </a:defRPr>
            </a:pPr>
            <a:r>
              <a:rPr sz="2400" b="1">
                <a:solidFill>
                  <a:srgbClr val="16816E"/>
                </a:solidFill>
                <a:latin typeface="Helvetica Neue"/>
                <a:ea typeface="Helvetica Neue"/>
                <a:cs typeface="Helvetica Neue"/>
              </a:rPr>
              <a:t>Queries</a:t>
            </a:r>
          </a:p>
        </p:txBody>
      </p:sp>
      <p:sp>
        <p:nvSpPr>
          <p:cNvPr id="6" name="">
            <a:extLst xmlns:a="http://schemas.openxmlformats.org/drawingml/2006/main">
              <a:ext uri="{FF2B5EF4-FFF2-40B4-BE49-F238E27FC236}">
                <a16:creationId xmlns:a16="http://schemas.microsoft.com/office/drawing/2014/main" id="{B92D90E9-28EB-47F2-8D2F-C1DD6FE66F98}"/>
              </a:ext>
            </a:extLst>
          </p:cNvPr>
          <p:cNvSpPr>
            <a:spLocks xmlns:a="http://schemas.openxmlformats.org/drawingml/2006/main" noGrp="1"/>
          </p:cNvSpPr>
          <p:nvPr/>
        </p:nvSpPr>
        <p:spPr>
          <a:xfrm xmlns:a="http://schemas.openxmlformats.org/drawingml/2006/main">
            <a:off x="6572250" y="2324100"/>
            <a:ext cx="4857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Return DTOs and read models</a:t>
            </a:r>
          </a:p>
          <a:p xmlns:a="http://schemas.openxmlformats.org/drawingml/2006/main">
            <a:r>
              <a:t/>
            </a:r>
          </a:p>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Project only the required fields</a:t>
            </a:r>
          </a:p>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Use AsNoTracking for reads</a:t>
            </a:r>
          </a:p>
          <a:p xmlns:a="http://schemas.openxmlformats.org/drawingml/2006/main">
            <a:pPr>
              <a:defRPr sz="2175" b="0">
                <a:solidFill>
                  <a:srgbClr val="18312F"/>
                </a:solidFill>
                <a:latin typeface="Helvetica Neue"/>
                <a:ea typeface="Helvetica Neue"/>
                <a:cs typeface="Helvetica Neue"/>
              </a:defRPr>
            </a:pPr>
            <a:r>
              <a:rPr sz="2175" b="0">
                <a:solidFill>
                  <a:srgbClr val="18312F"/>
                </a:solidFill>
                <a:latin typeface="Helvetica Neue"/>
                <a:ea typeface="Helvetica Neue"/>
                <a:cs typeface="Helvetica Neue"/>
              </a:rPr>
              <a:t>Keep filtering close to SQL</a:t>
            </a:r>
          </a:p>
        </p:txBody>
      </p:sp>
      <p:sp>
        <p:nvSpPr>
          <p:cNvPr id="7" name="">
            <a:extLst xmlns:a="http://schemas.openxmlformats.org/drawingml/2006/main">
              <a:ext uri="{FF2B5EF4-FFF2-40B4-BE49-F238E27FC236}">
                <a16:creationId xmlns:a16="http://schemas.microsoft.com/office/drawing/2014/main" id="{A92A6A99-7E8F-420E-AB54-AC0A9F736E87}"/>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816E"/>
                </a:solidFill>
                <a:latin typeface="Helvetica Neue"/>
                <a:ea typeface="Helvetica Neue"/>
                <a:cs typeface="Helvetica Neue"/>
              </a:defRPr>
            </a:pPr>
            <a:r>
              <a:rPr sz="1875" b="0">
                <a:solidFill>
                  <a:srgbClr val="16816E"/>
                </a:solidFill>
                <a:latin typeface="Helvetica Neue"/>
                <a:ea typeface="Helvetica Neue"/>
                <a:cs typeface="Helvetica Neue"/>
              </a:rPr>
              <a:t>The application uses different data access paths for state changes and read-only requests.</a:t>
            </a:r>
          </a:p>
        </p:txBody>
      </p:sp>
    </p:spTree>
    <p:extLst>
      <p:ext uri="{BB962C8B-B14F-4D97-AF65-F5344CB8AC3E}">
        <p14:creationId xmlns:p14="http://schemas.microsoft.com/office/powerpoint/2010/main" val="951369226"/>
      </p:ext>
    </p:extLst>
  </p:cSld>
</p:sld>
</file>

<file path=ppt/slides/slide4.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10321F-A0F1-47B5-A069-8531A8B51A76}"/>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F"/>
                </a:solidFill>
                <a:latin typeface="Helvetica Neue"/>
                <a:ea typeface="Helvetica Neue"/>
                <a:cs typeface="Helvetica Neue"/>
              </a:defRPr>
            </a:pPr>
            <a:r>
              <a:rPr sz="3300" b="1">
                <a:solidFill>
                  <a:srgbClr val="18312F"/>
                </a:solidFill>
                <a:latin typeface="Helvetica Neue"/>
                <a:ea typeface="Helvetica Neue"/>
                <a:cs typeface="Helvetica Neue"/>
              </a:rPr>
              <a:t>Transaction and concurrency boundaries</a:t>
            </a:r>
          </a:p>
        </p:txBody>
      </p:sp>
      <p:sp>
        <p:nvSpPr>
          <p:cNvPr id="2" name="">
            <a:extLst xmlns:a="http://schemas.openxmlformats.org/drawingml/2006/main">
              <a:ext uri="{FF2B5EF4-FFF2-40B4-BE49-F238E27FC236}">
                <a16:creationId xmlns:a16="http://schemas.microsoft.com/office/drawing/2014/main" id="{312F82F9-D2C3-48D5-896D-AF097A3046E3}"/>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5F"/>
                </a:solidFill>
                <a:latin typeface="Helvetica Neue"/>
                <a:ea typeface="Helvetica Neue"/>
                <a:cs typeface="Helvetica Neue"/>
              </a:defRPr>
            </a:pPr>
            <a:r>
              <a:rPr sz="1350" b="0">
                <a:solidFill>
                  <a:srgbClr val="50615F"/>
                </a:solidFill>
                <a:latin typeface="Helvetica Neue"/>
                <a:ea typeface="Helvetica Neue"/>
                <a:cs typeface="Helvetica Neue"/>
              </a:rPr>
              <a:t>04 / 08</a:t>
            </a:r>
          </a:p>
        </p:txBody>
      </p:sp>
      <p:sp>
        <p:nvSpPr>
          <p:cNvPr id="3" name="">
            <a:extLst xmlns:a="http://schemas.openxmlformats.org/drawingml/2006/main">
              <a:ext uri="{FF2B5EF4-FFF2-40B4-BE49-F238E27FC236}">
                <a16:creationId xmlns:a16="http://schemas.microsoft.com/office/drawing/2014/main" id="{E992DE6C-1B1F-42DF-BA54-5AD9CE1ED682}"/>
              </a:ext>
            </a:extLst>
          </p:cNvPr>
          <p:cNvSpPr>
            <a:spLocks xmlns:a="http://schemas.openxmlformats.org/drawingml/2006/main" noGrp="1"/>
          </p:cNvSpPr>
          <p:nvPr/>
        </p:nvSpPr>
        <p:spPr>
          <a:xfrm xmlns:a="http://schemas.openxmlformats.org/drawingml/2006/main">
            <a:off x="685800" y="15621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B519ABC-BA8D-4D69-B7A4-2D24551D6EAC}"/>
              </a:ext>
            </a:extLst>
          </p:cNvPr>
          <p:cNvSpPr>
            <a:spLocks xmlns:a="http://schemas.openxmlformats.org/drawingml/2006/main" noGrp="1"/>
          </p:cNvSpPr>
          <p:nvPr/>
        </p:nvSpPr>
        <p:spPr>
          <a:xfrm xmlns:a="http://schemas.openxmlformats.org/drawingml/2006/main">
            <a:off x="1524000" y="15621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One transaction per mutation</a:t>
            </a:r>
          </a:p>
        </p:txBody>
      </p:sp>
      <p:sp>
        <p:nvSpPr>
          <p:cNvPr id="5" name="">
            <a:extLst xmlns:a="http://schemas.openxmlformats.org/drawingml/2006/main">
              <a:ext uri="{FF2B5EF4-FFF2-40B4-BE49-F238E27FC236}">
                <a16:creationId xmlns:a16="http://schemas.microsoft.com/office/drawing/2014/main" id="{D3F1CB19-BCC0-415E-A7C9-1870AA5FBF58}"/>
              </a:ext>
            </a:extLst>
          </p:cNvPr>
          <p:cNvSpPr>
            <a:spLocks xmlns:a="http://schemas.openxmlformats.org/drawingml/2006/main" noGrp="1"/>
          </p:cNvSpPr>
          <p:nvPr/>
        </p:nvSpPr>
        <p:spPr>
          <a:xfrm xmlns:a="http://schemas.openxmlformats.org/drawingml/2006/main">
            <a:off x="1524000" y="20193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The handler coordinates reads, checks, state changes and audit writes inside one boundary.</a:t>
            </a:r>
          </a:p>
        </p:txBody>
      </p:sp>
      <p:sp>
        <p:nvSpPr>
          <p:cNvPr id="6" name="">
            <a:extLst xmlns:a="http://schemas.openxmlformats.org/drawingml/2006/main">
              <a:ext uri="{FF2B5EF4-FFF2-40B4-BE49-F238E27FC236}">
                <a16:creationId xmlns:a16="http://schemas.microsoft.com/office/drawing/2014/main" id="{83609B9C-24B1-4FB1-97F9-37DE9DE66218}"/>
              </a:ext>
            </a:extLst>
          </p:cNvPr>
          <p:cNvSpPr>
            <a:spLocks xmlns:a="http://schemas.openxmlformats.org/drawingml/2006/main" noGrp="1"/>
          </p:cNvSpPr>
          <p:nvPr/>
        </p:nvSpPr>
        <p:spPr>
          <a:xfrm xmlns:a="http://schemas.openxmlformats.org/drawingml/2006/main">
            <a:off x="685800" y="28384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83C3B9BC-869E-46E4-BA25-4BB7F1C6C298}"/>
              </a:ext>
            </a:extLst>
          </p:cNvPr>
          <p:cNvSpPr>
            <a:spLocks xmlns:a="http://schemas.openxmlformats.org/drawingml/2006/main" noGrp="1"/>
          </p:cNvSpPr>
          <p:nvPr/>
        </p:nvSpPr>
        <p:spPr>
          <a:xfrm xmlns:a="http://schemas.openxmlformats.org/drawingml/2006/main">
            <a:off x="1524000" y="28384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Serializable isolation</a:t>
            </a:r>
          </a:p>
        </p:txBody>
      </p:sp>
      <p:sp>
        <p:nvSpPr>
          <p:cNvPr id="8" name="">
            <a:extLst xmlns:a="http://schemas.openxmlformats.org/drawingml/2006/main">
              <a:ext uri="{FF2B5EF4-FFF2-40B4-BE49-F238E27FC236}">
                <a16:creationId xmlns:a16="http://schemas.microsoft.com/office/drawing/2014/main" id="{F9522D77-96B1-41A3-B42C-AE12C323C237}"/>
              </a:ext>
            </a:extLst>
          </p:cNvPr>
          <p:cNvSpPr>
            <a:spLocks xmlns:a="http://schemas.openxmlformats.org/drawingml/2006/main" noGrp="1"/>
          </p:cNvSpPr>
          <p:nvPr/>
        </p:nvSpPr>
        <p:spPr>
          <a:xfrm xmlns:a="http://schemas.openxmlformats.org/drawingml/2006/main">
            <a:off x="1524000" y="329565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The persistence layer protects concurrent changes. Database constraints add a final guard.</a:t>
            </a:r>
          </a:p>
        </p:txBody>
      </p:sp>
      <p:sp>
        <p:nvSpPr>
          <p:cNvPr id="9" name="">
            <a:extLst xmlns:a="http://schemas.openxmlformats.org/drawingml/2006/main">
              <a:ext uri="{FF2B5EF4-FFF2-40B4-BE49-F238E27FC236}">
                <a16:creationId xmlns:a16="http://schemas.microsoft.com/office/drawing/2014/main" id="{7A59834D-A05D-4085-B5A5-1DFF8FED29CA}"/>
              </a:ext>
            </a:extLst>
          </p:cNvPr>
          <p:cNvSpPr>
            <a:spLocks xmlns:a="http://schemas.openxmlformats.org/drawingml/2006/main" noGrp="1"/>
          </p:cNvSpPr>
          <p:nvPr/>
        </p:nvSpPr>
        <p:spPr>
          <a:xfrm xmlns:a="http://schemas.openxmlformats.org/drawingml/2006/main">
            <a:off x="685800" y="41148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2C5DE2BB-056E-4194-82E3-142AB8A125E4}"/>
              </a:ext>
            </a:extLst>
          </p:cNvPr>
          <p:cNvSpPr>
            <a:spLocks xmlns:a="http://schemas.openxmlformats.org/drawingml/2006/main" noGrp="1"/>
          </p:cNvSpPr>
          <p:nvPr/>
        </p:nvSpPr>
        <p:spPr>
          <a:xfrm xmlns:a="http://schemas.openxmlformats.org/drawingml/2006/main">
            <a:off x="1524000" y="41148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Controlled retries</a:t>
            </a:r>
          </a:p>
        </p:txBody>
      </p:sp>
      <p:sp>
        <p:nvSpPr>
          <p:cNvPr id="11" name="">
            <a:extLst xmlns:a="http://schemas.openxmlformats.org/drawingml/2006/main">
              <a:ext uri="{FF2B5EF4-FFF2-40B4-BE49-F238E27FC236}">
                <a16:creationId xmlns:a16="http://schemas.microsoft.com/office/drawing/2014/main" id="{B4412894-F682-4C91-A3B5-B66BDF185DBA}"/>
              </a:ext>
            </a:extLst>
          </p:cNvPr>
          <p:cNvSpPr>
            <a:spLocks xmlns:a="http://schemas.openxmlformats.org/drawingml/2006/main" noGrp="1"/>
          </p:cNvSpPr>
          <p:nvPr/>
        </p:nvSpPr>
        <p:spPr>
          <a:xfrm xmlns:a="http://schemas.openxmlformats.org/drawingml/2006/main">
            <a:off x="1524000" y="45720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Retries reload current state. An unknown commit outcome does not trigger mutation replay.</a:t>
            </a:r>
          </a:p>
        </p:txBody>
      </p:sp>
      <p:sp>
        <p:nvSpPr>
          <p:cNvPr id="12" name="">
            <a:extLst xmlns:a="http://schemas.openxmlformats.org/drawingml/2006/main">
              <a:ext uri="{FF2B5EF4-FFF2-40B4-BE49-F238E27FC236}">
                <a16:creationId xmlns:a16="http://schemas.microsoft.com/office/drawing/2014/main" id="{5ADC8778-1D5D-49CE-B90F-4D79ECF3EA65}"/>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816E"/>
                </a:solidFill>
                <a:latin typeface="Helvetica Neue"/>
                <a:ea typeface="Helvetica Neue"/>
                <a:cs typeface="Helvetica Neue"/>
              </a:defRPr>
            </a:pPr>
            <a:r>
              <a:rPr sz="1875" b="0">
                <a:solidFill>
                  <a:srgbClr val="16816E"/>
                </a:solidFill>
                <a:latin typeface="Helvetica Neue"/>
                <a:ea typeface="Helvetica Neue"/>
                <a:cs typeface="Helvetica Neue"/>
              </a:rPr>
              <a:t>Example: TransactionExecutor owns the transaction policy, rather than individual HTTP endpoints.</a:t>
            </a:r>
          </a:p>
        </p:txBody>
      </p:sp>
    </p:spTree>
    <p:extLst>
      <p:ext uri="{BB962C8B-B14F-4D97-AF65-F5344CB8AC3E}">
        <p14:creationId xmlns:p14="http://schemas.microsoft.com/office/powerpoint/2010/main" val="740702865"/>
      </p:ext>
    </p:extLst>
  </p:cSld>
</p:sld>
</file>

<file path=ppt/slides/slide5.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1571977-5B55-44E6-8661-10318D971EE9}"/>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F"/>
                </a:solidFill>
                <a:latin typeface="Helvetica Neue"/>
                <a:ea typeface="Helvetica Neue"/>
                <a:cs typeface="Helvetica Neue"/>
              </a:defRPr>
            </a:pPr>
            <a:r>
              <a:rPr sz="3300" b="1">
                <a:solidFill>
                  <a:srgbClr val="18312F"/>
                </a:solidFill>
                <a:latin typeface="Helvetica Neue"/>
                <a:ea typeface="Helvetica Neue"/>
                <a:cs typeface="Helvetica Neue"/>
              </a:rPr>
              <a:t>Frontend boundaries and server state</a:t>
            </a:r>
          </a:p>
        </p:txBody>
      </p:sp>
      <p:sp>
        <p:nvSpPr>
          <p:cNvPr id="2" name="">
            <a:extLst xmlns:a="http://schemas.openxmlformats.org/drawingml/2006/main">
              <a:ext uri="{FF2B5EF4-FFF2-40B4-BE49-F238E27FC236}">
                <a16:creationId xmlns:a16="http://schemas.microsoft.com/office/drawing/2014/main" id="{029761E2-6AA8-4EE7-B83A-0F8964BB24CC}"/>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5F"/>
                </a:solidFill>
                <a:latin typeface="Helvetica Neue"/>
                <a:ea typeface="Helvetica Neue"/>
                <a:cs typeface="Helvetica Neue"/>
              </a:defRPr>
            </a:pPr>
            <a:r>
              <a:rPr sz="1350" b="0">
                <a:solidFill>
                  <a:srgbClr val="50615F"/>
                </a:solidFill>
                <a:latin typeface="Helvetica Neue"/>
                <a:ea typeface="Helvetica Neue"/>
                <a:cs typeface="Helvetica Neue"/>
              </a:rPr>
              <a:t>05 / 08</a:t>
            </a:r>
          </a:p>
        </p:txBody>
      </p:sp>
      <p:sp>
        <p:nvSpPr>
          <p:cNvPr id="3" name="">
            <a:extLst xmlns:a="http://schemas.openxmlformats.org/drawingml/2006/main">
              <a:ext uri="{FF2B5EF4-FFF2-40B4-BE49-F238E27FC236}">
                <a16:creationId xmlns:a16="http://schemas.microsoft.com/office/drawing/2014/main" id="{0288DF10-151A-4068-BD82-B99C6EBE11B6}"/>
              </a:ext>
            </a:extLst>
          </p:cNvPr>
          <p:cNvSpPr>
            <a:spLocks xmlns:a="http://schemas.openxmlformats.org/drawingml/2006/main" noGrp="1"/>
          </p:cNvSpPr>
          <p:nvPr/>
        </p:nvSpPr>
        <p:spPr>
          <a:xfrm xmlns:a="http://schemas.openxmlformats.org/drawingml/2006/main">
            <a:off x="685800" y="14954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Import dependencies</a:t>
            </a:r>
          </a:p>
        </p:txBody>
      </p:sp>
      <p:sp>
        <p:nvSpPr>
          <p:cNvPr id="4" name="">
            <a:extLst xmlns:a="http://schemas.openxmlformats.org/drawingml/2006/main">
              <a:ext uri="{FF2B5EF4-FFF2-40B4-BE49-F238E27FC236}">
                <a16:creationId xmlns:a16="http://schemas.microsoft.com/office/drawing/2014/main" id="{E102F5DA-B5BC-4B7D-9CDF-4F0E929F6D10}"/>
              </a:ext>
            </a:extLst>
          </p:cNvPr>
          <p:cNvSpPr>
            <a:spLocks xmlns:a="http://schemas.openxmlformats.org/drawingml/2006/main" noGrp="1"/>
          </p:cNvSpPr>
          <p:nvPr/>
        </p:nvSpPr>
        <p:spPr>
          <a:xfrm xmlns:a="http://schemas.openxmlformats.org/drawingml/2006/main">
            <a:off x="685800" y="1952625"/>
            <a:ext cx="2686050" cy="64770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app</a:t>
            </a:r>
          </a:p>
        </p:txBody>
      </p:sp>
      <p:sp>
        <p:nvSpPr>
          <p:cNvPr id="5" name="">
            <a:extLst xmlns:a="http://schemas.openxmlformats.org/drawingml/2006/main">
              <a:ext uri="{FF2B5EF4-FFF2-40B4-BE49-F238E27FC236}">
                <a16:creationId xmlns:a16="http://schemas.microsoft.com/office/drawing/2014/main" id="{F5AC9616-D87A-4402-AC07-C851D3DFD11B}"/>
              </a:ext>
            </a:extLst>
          </p:cNvPr>
          <p:cNvSpPr>
            <a:spLocks xmlns:a="http://schemas.openxmlformats.org/drawingml/2006/main" noGrp="1"/>
          </p:cNvSpPr>
          <p:nvPr/>
        </p:nvSpPr>
        <p:spPr>
          <a:xfrm xmlns:a="http://schemas.openxmlformats.org/drawingml/2006/main">
            <a:off x="4514850" y="1952625"/>
            <a:ext cx="3162300" cy="64770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pages</a:t>
            </a:r>
          </a:p>
        </p:txBody>
      </p:sp>
      <p:sp>
        <p:nvSpPr>
          <p:cNvPr id="6" name="">
            <a:extLst xmlns:a="http://schemas.openxmlformats.org/drawingml/2006/main">
              <a:ext uri="{FF2B5EF4-FFF2-40B4-BE49-F238E27FC236}">
                <a16:creationId xmlns:a16="http://schemas.microsoft.com/office/drawing/2014/main" id="{43563566-6FAD-48A5-BD48-BE384F76CE42}"/>
              </a:ext>
            </a:extLst>
          </p:cNvPr>
          <p:cNvSpPr>
            <a:spLocks xmlns:a="http://schemas.openxmlformats.org/drawingml/2006/main" noGrp="1"/>
          </p:cNvSpPr>
          <p:nvPr/>
        </p:nvSpPr>
        <p:spPr>
          <a:xfrm xmlns:a="http://schemas.openxmlformats.org/drawingml/2006/main">
            <a:off x="8820150" y="1952625"/>
            <a:ext cx="2686050" cy="64770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shared</a:t>
            </a:r>
          </a:p>
        </p:txBody>
      </p: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3371850" y="2276475"/>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677150" y="2276475"/>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sp>
        <p:nvSpPr>
          <p:cNvPr id="9" name="">
            <a:extLst xmlns:a="http://schemas.openxmlformats.org/drawingml/2006/main">
              <a:ext uri="{FF2B5EF4-FFF2-40B4-BE49-F238E27FC236}">
                <a16:creationId xmlns:a16="http://schemas.microsoft.com/office/drawing/2014/main" id="{57557BEE-3C68-4BFB-AC05-150E8B500E75}"/>
              </a:ext>
            </a:extLst>
          </p:cNvPr>
          <p:cNvSpPr>
            <a:spLocks xmlns:a="http://schemas.openxmlformats.org/drawingml/2006/main" noGrp="1"/>
          </p:cNvSpPr>
          <p:nvPr/>
        </p:nvSpPr>
        <p:spPr>
          <a:xfrm xmlns:a="http://schemas.openxmlformats.org/drawingml/2006/main">
            <a:off x="685800" y="29051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Server data requests</a:t>
            </a:r>
          </a:p>
        </p:txBody>
      </p:sp>
      <p:sp>
        <p:nvSpPr>
          <p:cNvPr id="10" name="">
            <a:extLst xmlns:a="http://schemas.openxmlformats.org/drawingml/2006/main">
              <a:ext uri="{FF2B5EF4-FFF2-40B4-BE49-F238E27FC236}">
                <a16:creationId xmlns:a16="http://schemas.microsoft.com/office/drawing/2014/main" id="{4C3D068B-5C66-42CB-9268-B48185F71575}"/>
              </a:ext>
            </a:extLst>
          </p:cNvPr>
          <p:cNvSpPr>
            <a:spLocks xmlns:a="http://schemas.openxmlformats.org/drawingml/2006/main" noGrp="1"/>
          </p:cNvSpPr>
          <p:nvPr/>
        </p:nvSpPr>
        <p:spPr>
          <a:xfrm xmlns:a="http://schemas.openxmlformats.org/drawingml/2006/main">
            <a:off x="685800" y="3371850"/>
            <a:ext cx="2686050" cy="81915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TanStack Query</a:t>
            </a:r>
          </a:p>
        </p:txBody>
      </p:sp>
      <p:sp>
        <p:nvSpPr>
          <p:cNvPr id="11" name="">
            <a:extLst xmlns:a="http://schemas.openxmlformats.org/drawingml/2006/main">
              <a:ext uri="{FF2B5EF4-FFF2-40B4-BE49-F238E27FC236}">
                <a16:creationId xmlns:a16="http://schemas.microsoft.com/office/drawing/2014/main" id="{3C504214-AB2F-4BFE-A47B-03D7E5018849}"/>
              </a:ext>
            </a:extLst>
          </p:cNvPr>
          <p:cNvSpPr>
            <a:spLocks xmlns:a="http://schemas.openxmlformats.org/drawingml/2006/main" noGrp="1"/>
          </p:cNvSpPr>
          <p:nvPr/>
        </p:nvSpPr>
        <p:spPr>
          <a:xfrm xmlns:a="http://schemas.openxmlformats.org/drawingml/2006/main">
            <a:off x="4514850" y="3371850"/>
            <a:ext cx="3162300" cy="81915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Shared HTTP client</a:t>
            </a:r>
          </a:p>
        </p:txBody>
      </p:sp>
      <p:sp>
        <p:nvSpPr>
          <p:cNvPr id="12" name="">
            <a:extLst xmlns:a="http://schemas.openxmlformats.org/drawingml/2006/main">
              <a:ext uri="{FF2B5EF4-FFF2-40B4-BE49-F238E27FC236}">
                <a16:creationId xmlns:a16="http://schemas.microsoft.com/office/drawing/2014/main" id="{E6A157F3-EC7F-4A08-8F5D-A1B9BD9FD139}"/>
              </a:ext>
            </a:extLst>
          </p:cNvPr>
          <p:cNvSpPr>
            <a:spLocks xmlns:a="http://schemas.openxmlformats.org/drawingml/2006/main" noGrp="1"/>
          </p:cNvSpPr>
          <p:nvPr/>
        </p:nvSpPr>
        <p:spPr>
          <a:xfrm xmlns:a="http://schemas.openxmlformats.org/drawingml/2006/main">
            <a:off x="8820150" y="3371850"/>
            <a:ext cx="2686050" cy="819150"/>
          </a:xfrm>
          <a:prstGeom xmlns:a="http://schemas.openxmlformats.org/drawingml/2006/main" prst="rect">
            <a:avLst/>
          </a:prstGeom>
          <a:solidFill xmlns:a="http://schemas.openxmlformats.org/drawingml/2006/main">
            <a:srgbClr val="18312F"/>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API / DTOs</a:t>
            </a:r>
          </a:p>
        </p:txBody>
      </p:sp>
      <p:cxnSp>
        <p:nvCxnSpPr>
          <p:cNvPr id="36" name=""/>
          <p:cNvCxnSpPr>
            <a:stCxn xmlns:a="http://schemas.openxmlformats.org/drawingml/2006/main" id="10" idx="3"/>
            <a:endCxn xmlns:a="http://schemas.openxmlformats.org/drawingml/2006/main" id="11" idx="1"/>
          </p:cNvCxnSpPr>
          <p:nvPr/>
        </p:nvCxnSpPr>
        <p:spPr>
          <a:xfrm xmlns:a="http://schemas.openxmlformats.org/drawingml/2006/main">
            <a:off x="3371850" y="3781425"/>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7677150" y="3781425"/>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sp>
        <p:nvSpPr>
          <p:cNvPr id="15" name="">
            <a:extLst xmlns:a="http://schemas.openxmlformats.org/drawingml/2006/main">
              <a:ext uri="{FF2B5EF4-FFF2-40B4-BE49-F238E27FC236}">
                <a16:creationId xmlns:a16="http://schemas.microsoft.com/office/drawing/2014/main" id="{1AEDA3BF-0260-4736-A22E-9C7C6F18E615}"/>
              </a:ext>
            </a:extLst>
          </p:cNvPr>
          <p:cNvSpPr>
            <a:spLocks xmlns:a="http://schemas.openxmlformats.org/drawingml/2006/main" noGrp="1"/>
          </p:cNvSpPr>
          <p:nvPr/>
        </p:nvSpPr>
        <p:spPr>
          <a:xfrm xmlns:a="http://schemas.openxmlformats.org/drawingml/2006/main">
            <a:off x="685800" y="4572000"/>
            <a:ext cx="2686050" cy="81915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CustomStore</a:t>
            </a:r>
          </a:p>
        </p:txBody>
      </p:sp>
      <p:sp>
        <p:nvSpPr>
          <p:cNvPr id="16" name="">
            <a:extLst xmlns:a="http://schemas.openxmlformats.org/drawingml/2006/main">
              <a:ext uri="{FF2B5EF4-FFF2-40B4-BE49-F238E27FC236}">
                <a16:creationId xmlns:a16="http://schemas.microsoft.com/office/drawing/2014/main" id="{1E8BD1A9-A2CF-40F3-A64E-3F9EE40B48A5}"/>
              </a:ext>
            </a:extLst>
          </p:cNvPr>
          <p:cNvSpPr>
            <a:spLocks xmlns:a="http://schemas.openxmlformats.org/drawingml/2006/main" noGrp="1"/>
          </p:cNvSpPr>
          <p:nvPr/>
        </p:nvSpPr>
        <p:spPr>
          <a:xfrm xmlns:a="http://schemas.openxmlformats.org/drawingml/2006/main">
            <a:off x="4514850" y="4572000"/>
            <a:ext cx="3162300" cy="819150"/>
          </a:xfrm>
          <a:prstGeom xmlns:a="http://schemas.openxmlformats.org/drawingml/2006/main" prst="rect">
            <a:avLst/>
          </a:prstGeom>
          <a:solidFill xmlns:a="http://schemas.openxmlformats.org/drawingml/2006/main">
            <a:srgbClr val="E3ECE5"/>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100" b="1">
                <a:solidFill>
                  <a:srgbClr val="18312F"/>
                </a:solidFill>
                <a:latin typeface="Helvetica Neue"/>
                <a:ea typeface="Helvetica Neue"/>
                <a:cs typeface="Helvetica Neue"/>
              </a:defRPr>
            </a:pPr>
            <a:r>
              <a:rPr sz="2100" b="1">
                <a:solidFill>
                  <a:srgbClr val="18312F"/>
                </a:solidFill>
                <a:latin typeface="Helvetica Neue"/>
                <a:ea typeface="Helvetica Neue"/>
                <a:cs typeface="Helvetica Neue"/>
              </a:rPr>
              <a:t>Shared HTTP client</a:t>
            </a:r>
          </a:p>
        </p:txBody>
      </p:sp>
      <p:sp>
        <p:nvSpPr>
          <p:cNvPr id="17" name="">
            <a:extLst xmlns:a="http://schemas.openxmlformats.org/drawingml/2006/main">
              <a:ext uri="{FF2B5EF4-FFF2-40B4-BE49-F238E27FC236}">
                <a16:creationId xmlns:a16="http://schemas.microsoft.com/office/drawing/2014/main" id="{FAD22866-CF3A-4C25-91E9-087095C2073D}"/>
              </a:ext>
            </a:extLst>
          </p:cNvPr>
          <p:cNvSpPr>
            <a:spLocks xmlns:a="http://schemas.openxmlformats.org/drawingml/2006/main" noGrp="1"/>
          </p:cNvSpPr>
          <p:nvPr/>
        </p:nvSpPr>
        <p:spPr>
          <a:xfrm xmlns:a="http://schemas.openxmlformats.org/drawingml/2006/main">
            <a:off x="8820150" y="4572000"/>
            <a:ext cx="2686050" cy="819150"/>
          </a:xfrm>
          <a:prstGeom xmlns:a="http://schemas.openxmlformats.org/drawingml/2006/main" prst="rect">
            <a:avLst/>
          </a:prstGeom>
          <a:solidFill xmlns:a="http://schemas.openxmlformats.org/drawingml/2006/main">
            <a:srgbClr val="18312F"/>
          </a:solidFill>
          <a:ln xmlns:a="http://schemas.openxmlformats.org/drawingml/2006/main" w="14288">
            <a:solidFill>
              <a:srgbClr val="16816E"/>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DevExtreme.</a:t>
            </a:r>
          </a:p>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AspNet.Data</a:t>
            </a:r>
          </a:p>
        </p:txBody>
      </p:sp>
      <p:cxnSp>
        <p:nvCxnSpPr>
          <p:cNvPr id="41" name=""/>
          <p:cNvCxnSpPr>
            <a:stCxn xmlns:a="http://schemas.openxmlformats.org/drawingml/2006/main" id="15" idx="3"/>
            <a:endCxn xmlns:a="http://schemas.openxmlformats.org/drawingml/2006/main" id="16" idx="1"/>
          </p:cNvCxnSpPr>
          <p:nvPr/>
        </p:nvCxnSpPr>
        <p:spPr>
          <a:xfrm xmlns:a="http://schemas.openxmlformats.org/drawingml/2006/main">
            <a:off x="3371850" y="4981575"/>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cxnSp>
        <p:nvCxnSpPr>
          <p:cNvPr id="42" name=""/>
          <p:cNvCxnSpPr>
            <a:stCxn xmlns:a="http://schemas.openxmlformats.org/drawingml/2006/main" id="16" idx="3"/>
            <a:endCxn xmlns:a="http://schemas.openxmlformats.org/drawingml/2006/main" id="17" idx="1"/>
          </p:cNvCxnSpPr>
          <p:nvPr/>
        </p:nvCxnSpPr>
        <p:spPr>
          <a:xfrm xmlns:a="http://schemas.openxmlformats.org/drawingml/2006/main">
            <a:off x="7677150" y="4981575"/>
            <a:ext cx="1143000" cy="0"/>
          </a:xfrm>
          <a:prstGeom xmlns:a="http://schemas.openxmlformats.org/drawingml/2006/main" prst="straightConnector1">
            <a:avLst/>
          </a:prstGeom>
          <a:ln xmlns:a="http://schemas.openxmlformats.org/drawingml/2006/main" w="23813">
            <a:solidFill>
              <a:srgbClr val="16816E"/>
            </a:solidFill>
            <a:tailEnd type="triangle" w="med" len="med"/>
          </a:ln>
        </p:spPr>
      </p:cxnSp>
      <p:sp>
        <p:nvSpPr>
          <p:cNvPr id="20" name="">
            <a:extLst xmlns:a="http://schemas.openxmlformats.org/drawingml/2006/main">
              <a:ext uri="{FF2B5EF4-FFF2-40B4-BE49-F238E27FC236}">
                <a16:creationId xmlns:a16="http://schemas.microsoft.com/office/drawing/2014/main" id="{72D1FC41-624A-4CD0-B836-CC1348CC0B03}"/>
              </a:ext>
            </a:extLst>
          </p:cNvPr>
          <p:cNvSpPr>
            <a:spLocks xmlns:a="http://schemas.openxmlformats.org/drawingml/2006/main" noGrp="1"/>
          </p:cNvSpPr>
          <p:nvPr/>
        </p:nvSpPr>
        <p:spPr>
          <a:xfrm xmlns:a="http://schemas.openxmlformats.org/drawingml/2006/main">
            <a:off x="685800" y="4200525"/>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15F"/>
                </a:solidFill>
                <a:latin typeface="Helvetica Neue"/>
                <a:ea typeface="Helvetica Neue"/>
                <a:cs typeface="Helvetica Neue"/>
              </a:defRPr>
            </a:pPr>
            <a:r>
              <a:rPr sz="1725" b="0">
                <a:solidFill>
                  <a:srgbClr val="50615F"/>
                </a:solidFill>
                <a:latin typeface="Helvetica Neue"/>
                <a:ea typeface="Helvetica Neue"/>
                <a:cs typeface="Helvetica Neue"/>
              </a:rPr>
              <a:t>Non-grid data</a:t>
            </a:r>
          </a:p>
        </p:txBody>
      </p:sp>
      <p:sp>
        <p:nvSpPr>
          <p:cNvPr id="21" name="">
            <a:extLst xmlns:a="http://schemas.openxmlformats.org/drawingml/2006/main">
              <a:ext uri="{FF2B5EF4-FFF2-40B4-BE49-F238E27FC236}">
                <a16:creationId xmlns:a16="http://schemas.microsoft.com/office/drawing/2014/main" id="{C02771FD-B84D-48DD-A64A-34D4261EA448}"/>
              </a:ext>
            </a:extLst>
          </p:cNvPr>
          <p:cNvSpPr>
            <a:spLocks xmlns:a="http://schemas.openxmlformats.org/drawingml/2006/main" noGrp="1"/>
          </p:cNvSpPr>
          <p:nvPr/>
        </p:nvSpPr>
        <p:spPr>
          <a:xfrm xmlns:a="http://schemas.openxmlformats.org/drawingml/2006/main">
            <a:off x="685800" y="5400675"/>
            <a:ext cx="2686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15F"/>
                </a:solidFill>
                <a:latin typeface="Helvetica Neue"/>
                <a:ea typeface="Helvetica Neue"/>
                <a:cs typeface="Helvetica Neue"/>
              </a:defRPr>
            </a:pPr>
            <a:r>
              <a:rPr sz="1725" b="0">
                <a:solidFill>
                  <a:srgbClr val="50615F"/>
                </a:solidFill>
                <a:latin typeface="Helvetica Neue"/>
                <a:ea typeface="Helvetica Neue"/>
                <a:cs typeface="Helvetica Neue"/>
              </a:rPr>
              <a:t>Grid operations</a:t>
            </a:r>
          </a:p>
        </p:txBody>
      </p:sp>
      <p:sp>
        <p:nvSpPr>
          <p:cNvPr id="22" name="">
            <a:extLst xmlns:a="http://schemas.openxmlformats.org/drawingml/2006/main">
              <a:ext uri="{FF2B5EF4-FFF2-40B4-BE49-F238E27FC236}">
                <a16:creationId xmlns:a16="http://schemas.microsoft.com/office/drawing/2014/main" id="{08C04489-373F-46E1-B963-05F7DC5E321A}"/>
              </a:ext>
            </a:extLst>
          </p:cNvPr>
          <p:cNvSpPr>
            <a:spLocks xmlns:a="http://schemas.openxmlformats.org/drawingml/2006/main" noGrp="1"/>
          </p:cNvSpPr>
          <p:nvPr/>
        </p:nvSpPr>
        <p:spPr>
          <a:xfrm xmlns:a="http://schemas.openxmlformats.org/drawingml/2006/main">
            <a:off x="7924800" y="5410200"/>
            <a:ext cx="3581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15F"/>
                </a:solidFill>
                <a:latin typeface="Helvetica Neue"/>
                <a:ea typeface="Helvetica Neue"/>
                <a:cs typeface="Helvetica Neue"/>
              </a:defRPr>
            </a:pPr>
            <a:r>
              <a:rPr sz="1500" b="0">
                <a:solidFill>
                  <a:srgbClr val="50615F"/>
                </a:solidFill>
                <a:latin typeface="Helvetica Neue"/>
                <a:ea typeface="Helvetica Neue"/>
                <a:cs typeface="Helvetica Neue"/>
              </a:rPr>
              <a:t>API applies grid operations in SQL</a:t>
            </a:r>
          </a:p>
        </p:txBody>
      </p:sp>
      <p:sp>
        <p:nvSpPr>
          <p:cNvPr id="23" name="">
            <a:extLst xmlns:a="http://schemas.openxmlformats.org/drawingml/2006/main">
              <a:ext uri="{FF2B5EF4-FFF2-40B4-BE49-F238E27FC236}">
                <a16:creationId xmlns:a16="http://schemas.microsoft.com/office/drawing/2014/main" id="{BA2D12A1-C7C4-4B15-940D-13E2B40C857E}"/>
              </a:ext>
            </a:extLst>
          </p:cNvPr>
          <p:cNvSpPr>
            <a:spLocks xmlns:a="http://schemas.openxmlformats.org/drawingml/2006/main" noGrp="1"/>
          </p:cNvSpPr>
          <p:nvPr/>
        </p:nvSpPr>
        <p:spPr>
          <a:xfrm xmlns:a="http://schemas.openxmlformats.org/drawingml/2006/main">
            <a:off x="685800" y="58864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816E"/>
                </a:solidFill>
                <a:latin typeface="Helvetica Neue"/>
                <a:ea typeface="Helvetica Neue"/>
                <a:cs typeface="Helvetica Neue"/>
              </a:defRPr>
            </a:pPr>
            <a:r>
              <a:rPr sz="1875" b="0">
                <a:solidFill>
                  <a:srgbClr val="16816E"/>
                </a:solidFill>
                <a:latin typeface="Helvetica Neue"/>
                <a:ea typeface="Helvetica Neue"/>
                <a:cs typeface="Helvetica Neue"/>
              </a:rPr>
              <a:t>ESLint enforces import direction. DevExtreme owns the remote grid loading protocol.</a:t>
            </a:r>
          </a:p>
        </p:txBody>
      </p:sp>
    </p:spTree>
    <p:extLst>
      <p:ext uri="{BB962C8B-B14F-4D97-AF65-F5344CB8AC3E}">
        <p14:creationId xmlns:p14="http://schemas.microsoft.com/office/powerpoint/2010/main" val="1534852767"/>
      </p:ext>
    </p:extLst>
  </p:cSld>
</p:sld>
</file>

<file path=ppt/slides/slide6.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4983E6F-3B70-4C58-98AD-E35A31582C00}"/>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F"/>
                </a:solidFill>
                <a:latin typeface="Helvetica Neue"/>
                <a:ea typeface="Helvetica Neue"/>
                <a:cs typeface="Helvetica Neue"/>
              </a:defRPr>
            </a:pPr>
            <a:r>
              <a:rPr sz="3300" b="1">
                <a:solidFill>
                  <a:srgbClr val="18312F"/>
                </a:solidFill>
                <a:latin typeface="Helvetica Neue"/>
                <a:ea typeface="Helvetica Neue"/>
                <a:cs typeface="Helvetica Neue"/>
              </a:rPr>
              <a:t>API contracts and cross-cutting concerns</a:t>
            </a:r>
          </a:p>
        </p:txBody>
      </p:sp>
      <p:sp>
        <p:nvSpPr>
          <p:cNvPr id="2" name="">
            <a:extLst xmlns:a="http://schemas.openxmlformats.org/drawingml/2006/main">
              <a:ext uri="{FF2B5EF4-FFF2-40B4-BE49-F238E27FC236}">
                <a16:creationId xmlns:a16="http://schemas.microsoft.com/office/drawing/2014/main" id="{6F5984E9-A99F-4057-92B5-E7FE316F270E}"/>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5F"/>
                </a:solidFill>
                <a:latin typeface="Helvetica Neue"/>
                <a:ea typeface="Helvetica Neue"/>
                <a:cs typeface="Helvetica Neue"/>
              </a:defRPr>
            </a:pPr>
            <a:r>
              <a:rPr sz="1350" b="0">
                <a:solidFill>
                  <a:srgbClr val="50615F"/>
                </a:solidFill>
                <a:latin typeface="Helvetica Neue"/>
                <a:ea typeface="Helvetica Neue"/>
                <a:cs typeface="Helvetica Neue"/>
              </a:rPr>
              <a:t>06 / 08</a:t>
            </a:r>
          </a:p>
        </p:txBody>
      </p:sp>
      <p:sp>
        <p:nvSpPr>
          <p:cNvPr id="3" name="">
            <a:extLst xmlns:a="http://schemas.openxmlformats.org/drawingml/2006/main">
              <a:ext uri="{FF2B5EF4-FFF2-40B4-BE49-F238E27FC236}">
                <a16:creationId xmlns:a16="http://schemas.microsoft.com/office/drawing/2014/main" id="{7811D459-ED66-41CD-90BE-009FB311F777}"/>
              </a:ext>
            </a:extLst>
          </p:cNvPr>
          <p:cNvSpPr>
            <a:spLocks xmlns:a="http://schemas.openxmlformats.org/drawingml/2006/main" noGrp="1"/>
          </p:cNvSpPr>
          <p:nvPr/>
        </p:nvSpPr>
        <p:spPr>
          <a:xfrm xmlns:a="http://schemas.openxmlformats.org/drawingml/2006/main">
            <a:off x="685800" y="15621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4353AE1B-8982-4F10-8765-D5671A4D90FB}"/>
              </a:ext>
            </a:extLst>
          </p:cNvPr>
          <p:cNvSpPr>
            <a:spLocks xmlns:a="http://schemas.openxmlformats.org/drawingml/2006/main" noGrp="1"/>
          </p:cNvSpPr>
          <p:nvPr/>
        </p:nvSpPr>
        <p:spPr>
          <a:xfrm xmlns:a="http://schemas.openxmlformats.org/drawingml/2006/main">
            <a:off x="1524000" y="15621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TypeScript contracts from OpenAPI</a:t>
            </a:r>
          </a:p>
        </p:txBody>
      </p:sp>
      <p:sp>
        <p:nvSpPr>
          <p:cNvPr id="5" name="">
            <a:extLst xmlns:a="http://schemas.openxmlformats.org/drawingml/2006/main">
              <a:ext uri="{FF2B5EF4-FFF2-40B4-BE49-F238E27FC236}">
                <a16:creationId xmlns:a16="http://schemas.microsoft.com/office/drawing/2014/main" id="{5457883C-DC47-486B-A5B4-563DB102A798}"/>
              </a:ext>
            </a:extLst>
          </p:cNvPr>
          <p:cNvSpPr>
            <a:spLocks xmlns:a="http://schemas.openxmlformats.org/drawingml/2006/main" noGrp="1"/>
          </p:cNvSpPr>
          <p:nvPr/>
        </p:nvSpPr>
        <p:spPr>
          <a:xfrm xmlns:a="http://schemas.openxmlformats.org/drawingml/2006/main">
            <a:off x="1524000" y="20193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OpenApiTsContracts generates TypeScript DTOs. API calls and hooks stay handwritten.</a:t>
            </a:r>
          </a:p>
        </p:txBody>
      </p:sp>
      <p:sp>
        <p:nvSpPr>
          <p:cNvPr id="6" name="">
            <a:extLst xmlns:a="http://schemas.openxmlformats.org/drawingml/2006/main">
              <a:ext uri="{FF2B5EF4-FFF2-40B4-BE49-F238E27FC236}">
                <a16:creationId xmlns:a16="http://schemas.microsoft.com/office/drawing/2014/main" id="{11C1E154-3B31-4B8A-A54D-98E18BD96232}"/>
              </a:ext>
            </a:extLst>
          </p:cNvPr>
          <p:cNvSpPr>
            <a:spLocks xmlns:a="http://schemas.openxmlformats.org/drawingml/2006/main" noGrp="1"/>
          </p:cNvSpPr>
          <p:nvPr/>
        </p:nvSpPr>
        <p:spPr>
          <a:xfrm xmlns:a="http://schemas.openxmlformats.org/drawingml/2006/main">
            <a:off x="685800" y="28384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33AE6A28-89EC-4795-AEE2-848432D4086D}"/>
              </a:ext>
            </a:extLst>
          </p:cNvPr>
          <p:cNvSpPr>
            <a:spLocks xmlns:a="http://schemas.openxmlformats.org/drawingml/2006/main" noGrp="1"/>
          </p:cNvSpPr>
          <p:nvPr/>
        </p:nvSpPr>
        <p:spPr>
          <a:xfrm xmlns:a="http://schemas.openxmlformats.org/drawingml/2006/main">
            <a:off x="1524000" y="28384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Consistent error handling</a:t>
            </a:r>
          </a:p>
        </p:txBody>
      </p:sp>
      <p:sp>
        <p:nvSpPr>
          <p:cNvPr id="8" name="">
            <a:extLst xmlns:a="http://schemas.openxmlformats.org/drawingml/2006/main">
              <a:ext uri="{FF2B5EF4-FFF2-40B4-BE49-F238E27FC236}">
                <a16:creationId xmlns:a16="http://schemas.microsoft.com/office/drawing/2014/main" id="{BBD6D3FC-4330-4C52-B2F7-B83FB5818CAD}"/>
              </a:ext>
            </a:extLst>
          </p:cNvPr>
          <p:cNvSpPr>
            <a:spLocks xmlns:a="http://schemas.openxmlformats.org/drawingml/2006/main" noGrp="1"/>
          </p:cNvSpPr>
          <p:nvPr/>
        </p:nvSpPr>
        <p:spPr>
          <a:xfrm xmlns:a="http://schemas.openxmlformats.org/drawingml/2006/main">
            <a:off x="1524000" y="329565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The API returns Problem Details. The shared client distinguishes HTTP and transport errors.</a:t>
            </a:r>
          </a:p>
        </p:txBody>
      </p:sp>
      <p:sp>
        <p:nvSpPr>
          <p:cNvPr id="9" name="">
            <a:extLst xmlns:a="http://schemas.openxmlformats.org/drawingml/2006/main">
              <a:ext uri="{FF2B5EF4-FFF2-40B4-BE49-F238E27FC236}">
                <a16:creationId xmlns:a16="http://schemas.microsoft.com/office/drawing/2014/main" id="{CF738699-A0DE-4F87-AD0D-2F2F454EBC5C}"/>
              </a:ext>
            </a:extLst>
          </p:cNvPr>
          <p:cNvSpPr>
            <a:spLocks xmlns:a="http://schemas.openxmlformats.org/drawingml/2006/main" noGrp="1"/>
          </p:cNvSpPr>
          <p:nvPr/>
        </p:nvSpPr>
        <p:spPr>
          <a:xfrm xmlns:a="http://schemas.openxmlformats.org/drawingml/2006/main">
            <a:off x="685800" y="41148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B32D0FC4-FFE0-46C5-8DEE-05B45573349C}"/>
              </a:ext>
            </a:extLst>
          </p:cNvPr>
          <p:cNvSpPr>
            <a:spLocks xmlns:a="http://schemas.openxmlformats.org/drawingml/2006/main" noGrp="1"/>
          </p:cNvSpPr>
          <p:nvPr/>
        </p:nvSpPr>
        <p:spPr>
          <a:xfrm xmlns:a="http://schemas.openxmlformats.org/drawingml/2006/main">
            <a:off x="1524000" y="41148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Operational visibility</a:t>
            </a:r>
          </a:p>
        </p:txBody>
      </p:sp>
      <p:sp>
        <p:nvSpPr>
          <p:cNvPr id="11" name="">
            <a:extLst xmlns:a="http://schemas.openxmlformats.org/drawingml/2006/main">
              <a:ext uri="{FF2B5EF4-FFF2-40B4-BE49-F238E27FC236}">
                <a16:creationId xmlns:a16="http://schemas.microsoft.com/office/drawing/2014/main" id="{333000DC-065A-4A05-BD26-4C53D91C82CD}"/>
              </a:ext>
            </a:extLst>
          </p:cNvPr>
          <p:cNvSpPr>
            <a:spLocks xmlns:a="http://schemas.openxmlformats.org/drawingml/2006/main" noGrp="1"/>
          </p:cNvSpPr>
          <p:nvPr/>
        </p:nvSpPr>
        <p:spPr>
          <a:xfrm xmlns:a="http://schemas.openxmlformats.org/drawingml/2006/main">
            <a:off x="1524000" y="45720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Correlation IDs link requests, logs and audit. Health checks and telemetry expose runtime status.</a:t>
            </a:r>
          </a:p>
        </p:txBody>
      </p:sp>
      <p:sp>
        <p:nvSpPr>
          <p:cNvPr id="12" name="">
            <a:extLst xmlns:a="http://schemas.openxmlformats.org/drawingml/2006/main">
              <a:ext uri="{FF2B5EF4-FFF2-40B4-BE49-F238E27FC236}">
                <a16:creationId xmlns:a16="http://schemas.microsoft.com/office/drawing/2014/main" id="{EB43C969-522E-4797-8788-D1795EADDA80}"/>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816E"/>
                </a:solidFill>
                <a:latin typeface="Helvetica Neue"/>
                <a:ea typeface="Helvetica Neue"/>
                <a:cs typeface="Helvetica Neue"/>
              </a:defRPr>
            </a:pPr>
            <a:r>
              <a:rPr sz="1875" b="0">
                <a:solidFill>
                  <a:srgbClr val="16816E"/>
                </a:solidFill>
                <a:latin typeface="Helvetica Neue"/>
                <a:ea typeface="Helvetica Neue"/>
                <a:cs typeface="Helvetica Neue"/>
              </a:rPr>
              <a:t>Generator: tools/OpenApiTsContracts. Output: shared/api/generated/contracts.generated.ts</a:t>
            </a:r>
          </a:p>
        </p:txBody>
      </p:sp>
    </p:spTree>
    <p:extLst>
      <p:ext uri="{BB962C8B-B14F-4D97-AF65-F5344CB8AC3E}">
        <p14:creationId xmlns:p14="http://schemas.microsoft.com/office/powerpoint/2010/main" val="1883749645"/>
      </p:ext>
    </p:extLst>
  </p:cSld>
</p:sld>
</file>

<file path=ppt/slides/slide7.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B497ED-5032-430E-9712-E710D30728D7}"/>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F"/>
                </a:solidFill>
                <a:latin typeface="Helvetica Neue"/>
                <a:ea typeface="Helvetica Neue"/>
                <a:cs typeface="Helvetica Neue"/>
              </a:defRPr>
            </a:pPr>
            <a:r>
              <a:rPr sz="3300" b="1">
                <a:solidFill>
                  <a:srgbClr val="18312F"/>
                </a:solidFill>
                <a:latin typeface="Helvetica Neue"/>
                <a:ea typeface="Helvetica Neue"/>
                <a:cs typeface="Helvetica Neue"/>
              </a:rPr>
              <a:t>Minimal API and interactive API tooling</a:t>
            </a:r>
          </a:p>
        </p:txBody>
      </p:sp>
      <p:sp>
        <p:nvSpPr>
          <p:cNvPr id="2" name="">
            <a:extLst xmlns:a="http://schemas.openxmlformats.org/drawingml/2006/main">
              <a:ext uri="{FF2B5EF4-FFF2-40B4-BE49-F238E27FC236}">
                <a16:creationId xmlns:a16="http://schemas.microsoft.com/office/drawing/2014/main" id="{7FB8C24D-D703-44CC-870E-4A854973EA57}"/>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5F"/>
                </a:solidFill>
                <a:latin typeface="Helvetica Neue"/>
                <a:ea typeface="Helvetica Neue"/>
                <a:cs typeface="Helvetica Neue"/>
              </a:defRPr>
            </a:pPr>
            <a:r>
              <a:rPr sz="1350" b="0">
                <a:solidFill>
                  <a:srgbClr val="50615F"/>
                </a:solidFill>
                <a:latin typeface="Helvetica Neue"/>
                <a:ea typeface="Helvetica Neue"/>
                <a:cs typeface="Helvetica Neue"/>
              </a:rPr>
              <a:t>07 / 08</a:t>
            </a:r>
          </a:p>
        </p:txBody>
      </p:sp>
      <p:sp>
        <p:nvSpPr>
          <p:cNvPr id="3" name="">
            <a:extLst xmlns:a="http://schemas.openxmlformats.org/drawingml/2006/main">
              <a:ext uri="{FF2B5EF4-FFF2-40B4-BE49-F238E27FC236}">
                <a16:creationId xmlns:a16="http://schemas.microsoft.com/office/drawing/2014/main" id="{5B2F302C-DB6E-424F-A42A-C7D4AC9EABAF}"/>
              </a:ext>
            </a:extLst>
          </p:cNvPr>
          <p:cNvSpPr>
            <a:spLocks xmlns:a="http://schemas.openxmlformats.org/drawingml/2006/main" noGrp="1"/>
          </p:cNvSpPr>
          <p:nvPr/>
        </p:nvSpPr>
        <p:spPr>
          <a:xfrm xmlns:a="http://schemas.openxmlformats.org/drawingml/2006/main">
            <a:off x="685800" y="15621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397254A-8CE8-4E43-B188-2678E84E2510}"/>
              </a:ext>
            </a:extLst>
          </p:cNvPr>
          <p:cNvSpPr>
            <a:spLocks xmlns:a="http://schemas.openxmlformats.org/drawingml/2006/main" noGrp="1"/>
          </p:cNvSpPr>
          <p:nvPr/>
        </p:nvSpPr>
        <p:spPr>
          <a:xfrm xmlns:a="http://schemas.openxmlformats.org/drawingml/2006/main">
            <a:off x="1524000" y="15621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ASP.NET Core Minimal API</a:t>
            </a:r>
          </a:p>
        </p:txBody>
      </p:sp>
      <p:sp>
        <p:nvSpPr>
          <p:cNvPr id="5" name="">
            <a:extLst xmlns:a="http://schemas.openxmlformats.org/drawingml/2006/main">
              <a:ext uri="{FF2B5EF4-FFF2-40B4-BE49-F238E27FC236}">
                <a16:creationId xmlns:a16="http://schemas.microsoft.com/office/drawing/2014/main" id="{F89B2E63-BABC-4549-AB3E-F6F466A9A402}"/>
              </a:ext>
            </a:extLst>
          </p:cNvPr>
          <p:cNvSpPr>
            <a:spLocks xmlns:a="http://schemas.openxmlformats.org/drawingml/2006/main" noGrp="1"/>
          </p:cNvSpPr>
          <p:nvPr/>
        </p:nvSpPr>
        <p:spPr>
          <a:xfrm xmlns:a="http://schemas.openxmlformats.org/drawingml/2006/main">
            <a:off x="1524000" y="20193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Endpoint modules map HTTP routes to Application handlers. Program.cs composes services.</a:t>
            </a:r>
          </a:p>
        </p:txBody>
      </p:sp>
      <p:sp>
        <p:nvSpPr>
          <p:cNvPr id="6" name="">
            <a:extLst xmlns:a="http://schemas.openxmlformats.org/drawingml/2006/main">
              <a:ext uri="{FF2B5EF4-FFF2-40B4-BE49-F238E27FC236}">
                <a16:creationId xmlns:a16="http://schemas.microsoft.com/office/drawing/2014/main" id="{193A9162-FEF6-4783-A812-FC81855F2258}"/>
              </a:ext>
            </a:extLst>
          </p:cNvPr>
          <p:cNvSpPr>
            <a:spLocks xmlns:a="http://schemas.openxmlformats.org/drawingml/2006/main" noGrp="1"/>
          </p:cNvSpPr>
          <p:nvPr/>
        </p:nvSpPr>
        <p:spPr>
          <a:xfrm xmlns:a="http://schemas.openxmlformats.org/drawingml/2006/main">
            <a:off x="685800" y="28384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2C610217-679C-4242-A3EF-85BCB4F0309A}"/>
              </a:ext>
            </a:extLst>
          </p:cNvPr>
          <p:cNvSpPr>
            <a:spLocks xmlns:a="http://schemas.openxmlformats.org/drawingml/2006/main" noGrp="1"/>
          </p:cNvSpPr>
          <p:nvPr/>
        </p:nvSpPr>
        <p:spPr>
          <a:xfrm xmlns:a="http://schemas.openxmlformats.org/drawingml/2006/main">
            <a:off x="1524000" y="28384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OpenAPI as the shared API description</a:t>
            </a:r>
          </a:p>
        </p:txBody>
      </p:sp>
      <p:sp>
        <p:nvSpPr>
          <p:cNvPr id="8" name="">
            <a:extLst xmlns:a="http://schemas.openxmlformats.org/drawingml/2006/main">
              <a:ext uri="{FF2B5EF4-FFF2-40B4-BE49-F238E27FC236}">
                <a16:creationId xmlns:a16="http://schemas.microsoft.com/office/drawing/2014/main" id="{5D60D3D2-D6DE-4C5E-8FD3-B4AE1E382E8F}"/>
              </a:ext>
            </a:extLst>
          </p:cNvPr>
          <p:cNvSpPr>
            <a:spLocks xmlns:a="http://schemas.openxmlformats.org/drawingml/2006/main" noGrp="1"/>
          </p:cNvSpPr>
          <p:nvPr/>
        </p:nvSpPr>
        <p:spPr>
          <a:xfrm xmlns:a="http://schemas.openxmlformats.org/drawingml/2006/main">
            <a:off x="1524000" y="329565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/openapi/v1.json supplies the schema for API documentation and TypeScript DTO generation.</a:t>
            </a:r>
          </a:p>
        </p:txBody>
      </p:sp>
      <p:sp>
        <p:nvSpPr>
          <p:cNvPr id="9" name="">
            <a:extLst xmlns:a="http://schemas.openxmlformats.org/drawingml/2006/main">
              <a:ext uri="{FF2B5EF4-FFF2-40B4-BE49-F238E27FC236}">
                <a16:creationId xmlns:a16="http://schemas.microsoft.com/office/drawing/2014/main" id="{B8FB639D-C9D9-42C0-A711-D143B4406748}"/>
              </a:ext>
            </a:extLst>
          </p:cNvPr>
          <p:cNvSpPr>
            <a:spLocks xmlns:a="http://schemas.openxmlformats.org/drawingml/2006/main" noGrp="1"/>
          </p:cNvSpPr>
          <p:nvPr/>
        </p:nvSpPr>
        <p:spPr>
          <a:xfrm xmlns:a="http://schemas.openxmlformats.org/drawingml/2006/main">
            <a:off x="685800" y="41148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1FB97DAC-2A18-4171-B834-672BD73C9D85}"/>
              </a:ext>
            </a:extLst>
          </p:cNvPr>
          <p:cNvSpPr>
            <a:spLocks xmlns:a="http://schemas.openxmlformats.org/drawingml/2006/main" noGrp="1"/>
          </p:cNvSpPr>
          <p:nvPr/>
        </p:nvSpPr>
        <p:spPr>
          <a:xfrm xmlns:a="http://schemas.openxmlformats.org/drawingml/2006/main">
            <a:off x="1524000" y="41148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Scalar for interactive requests</a:t>
            </a:r>
          </a:p>
        </p:txBody>
      </p:sp>
      <p:sp>
        <p:nvSpPr>
          <p:cNvPr id="11" name="">
            <a:extLst xmlns:a="http://schemas.openxmlformats.org/drawingml/2006/main">
              <a:ext uri="{FF2B5EF4-FFF2-40B4-BE49-F238E27FC236}">
                <a16:creationId xmlns:a16="http://schemas.microsoft.com/office/drawing/2014/main" id="{15AC05AD-F889-40D6-901E-861212844DA7}"/>
              </a:ext>
            </a:extLst>
          </p:cNvPr>
          <p:cNvSpPr>
            <a:spLocks xmlns:a="http://schemas.openxmlformats.org/drawingml/2006/main" noGrp="1"/>
          </p:cNvSpPr>
          <p:nvPr/>
        </p:nvSpPr>
        <p:spPr>
          <a:xfrm xmlns:a="http://schemas.openxmlformats.org/drawingml/2006/main">
            <a:off x="1524000" y="45720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/scalar lets developers inspect endpoints, send requests and examine backend responses.</a:t>
            </a:r>
          </a:p>
        </p:txBody>
      </p:sp>
      <p:sp>
        <p:nvSpPr>
          <p:cNvPr id="12" name="">
            <a:extLst xmlns:a="http://schemas.openxmlformats.org/drawingml/2006/main">
              <a:ext uri="{FF2B5EF4-FFF2-40B4-BE49-F238E27FC236}">
                <a16:creationId xmlns:a16="http://schemas.microsoft.com/office/drawing/2014/main" id="{9AC6651A-DDBD-441F-8285-DDDB87EAA7E9}"/>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816E"/>
                </a:solidFill>
                <a:latin typeface="Helvetica Neue"/>
                <a:ea typeface="Helvetica Neue"/>
                <a:cs typeface="Helvetica Neue"/>
              </a:defRPr>
            </a:pPr>
            <a:r>
              <a:rPr sz="1875" b="0">
                <a:solidFill>
                  <a:srgbClr val="16816E"/>
                </a:solidFill>
                <a:latin typeface="Helvetica Neue"/>
                <a:ea typeface="Helvetica Neue"/>
                <a:cs typeface="Helvetica Neue"/>
              </a:rPr>
              <a:t>Minimal API defines the endpoints. Scalar provides the browser interface for exploring and calling them.</a:t>
            </a:r>
          </a:p>
        </p:txBody>
      </p:sp>
    </p:spTree>
    <p:extLst>
      <p:ext uri="{BB962C8B-B14F-4D97-AF65-F5344CB8AC3E}">
        <p14:creationId xmlns:p14="http://schemas.microsoft.com/office/powerpoint/2010/main" val="1981208505"/>
      </p:ext>
    </p:extLst>
  </p:cSld>
</p:sld>
</file>

<file path=ppt/slides/slide8.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EF0E14-8AAA-4C42-938E-38110AAE7913}"/>
              </a:ext>
            </a:extLst>
          </p:cNvPr>
          <p:cNvSpPr>
            <a:spLocks xmlns:a="http://schemas.openxmlformats.org/drawingml/2006/main" noGrp="1"/>
          </p:cNvSpPr>
          <p:nvPr/>
        </p:nvSpPr>
        <p:spPr>
          <a:xfrm xmlns:a="http://schemas.openxmlformats.org/drawingml/2006/main">
            <a:off x="685800" y="49530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12F"/>
                </a:solidFill>
                <a:latin typeface="Helvetica Neue"/>
                <a:ea typeface="Helvetica Neue"/>
                <a:cs typeface="Helvetica Neue"/>
              </a:defRPr>
            </a:pPr>
            <a:r>
              <a:rPr sz="3300" b="1">
                <a:solidFill>
                  <a:srgbClr val="18312F"/>
                </a:solidFill>
                <a:latin typeface="Helvetica Neue"/>
                <a:ea typeface="Helvetica Neue"/>
                <a:cs typeface="Helvetica Neue"/>
              </a:rPr>
              <a:t>Testing aligned with architectural boundaries</a:t>
            </a:r>
          </a:p>
        </p:txBody>
      </p:sp>
      <p:sp>
        <p:nvSpPr>
          <p:cNvPr id="2" name="">
            <a:extLst xmlns:a="http://schemas.openxmlformats.org/drawingml/2006/main">
              <a:ext uri="{FF2B5EF4-FFF2-40B4-BE49-F238E27FC236}">
                <a16:creationId xmlns:a16="http://schemas.microsoft.com/office/drawing/2014/main" id="{BA3A4970-C065-473F-ACF6-6FF96D65DFDA}"/>
              </a:ext>
            </a:extLst>
          </p:cNvPr>
          <p:cNvSpPr>
            <a:spLocks xmlns:a="http://schemas.openxmlformats.org/drawingml/2006/main" noGrp="1"/>
          </p:cNvSpPr>
          <p:nvPr/>
        </p:nvSpPr>
        <p:spPr>
          <a:xfrm xmlns:a="http://schemas.openxmlformats.org/drawingml/2006/main">
            <a:off x="10687050" y="63246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5F"/>
                </a:solidFill>
                <a:latin typeface="Helvetica Neue"/>
                <a:ea typeface="Helvetica Neue"/>
                <a:cs typeface="Helvetica Neue"/>
              </a:defRPr>
            </a:pPr>
            <a:r>
              <a:rPr sz="1350" b="0">
                <a:solidFill>
                  <a:srgbClr val="50615F"/>
                </a:solidFill>
                <a:latin typeface="Helvetica Neue"/>
                <a:ea typeface="Helvetica Neue"/>
                <a:cs typeface="Helvetica Neue"/>
              </a:rPr>
              <a:t>08 / 08</a:t>
            </a:r>
          </a:p>
        </p:txBody>
      </p:sp>
      <p:sp>
        <p:nvSpPr>
          <p:cNvPr id="3" name="">
            <a:extLst xmlns:a="http://schemas.openxmlformats.org/drawingml/2006/main">
              <a:ext uri="{FF2B5EF4-FFF2-40B4-BE49-F238E27FC236}">
                <a16:creationId xmlns:a16="http://schemas.microsoft.com/office/drawing/2014/main" id="{59131DD0-2BF9-4C1E-B76A-0D557B3A81D2}"/>
              </a:ext>
            </a:extLst>
          </p:cNvPr>
          <p:cNvSpPr>
            <a:spLocks xmlns:a="http://schemas.openxmlformats.org/drawingml/2006/main" noGrp="1"/>
          </p:cNvSpPr>
          <p:nvPr/>
        </p:nvSpPr>
        <p:spPr>
          <a:xfrm xmlns:a="http://schemas.openxmlformats.org/drawingml/2006/main">
            <a:off x="685800" y="15621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C0E155B4-79CD-4FCB-B8B1-124559C1C811}"/>
              </a:ext>
            </a:extLst>
          </p:cNvPr>
          <p:cNvSpPr>
            <a:spLocks xmlns:a="http://schemas.openxmlformats.org/drawingml/2006/main" noGrp="1"/>
          </p:cNvSpPr>
          <p:nvPr/>
        </p:nvSpPr>
        <p:spPr>
          <a:xfrm xmlns:a="http://schemas.openxmlformats.org/drawingml/2006/main">
            <a:off x="1524000" y="15621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Core tests without infrastructure</a:t>
            </a:r>
          </a:p>
        </p:txBody>
      </p:sp>
      <p:sp>
        <p:nvSpPr>
          <p:cNvPr id="5" name="">
            <a:extLst xmlns:a="http://schemas.openxmlformats.org/drawingml/2006/main">
              <a:ext uri="{FF2B5EF4-FFF2-40B4-BE49-F238E27FC236}">
                <a16:creationId xmlns:a16="http://schemas.microsoft.com/office/drawing/2014/main" id="{88B1AEA8-EA7E-4E81-B969-EE18FA74EB79}"/>
              </a:ext>
            </a:extLst>
          </p:cNvPr>
          <p:cNvSpPr>
            <a:spLocks xmlns:a="http://schemas.openxmlformats.org/drawingml/2006/main" noGrp="1"/>
          </p:cNvSpPr>
          <p:nvPr/>
        </p:nvSpPr>
        <p:spPr>
          <a:xfrm xmlns:a="http://schemas.openxmlformats.org/drawingml/2006/main">
            <a:off x="1524000" y="20193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Domain tests check invariants. Application tests check use-case orchestration with test doubles.</a:t>
            </a:r>
          </a:p>
        </p:txBody>
      </p:sp>
      <p:sp>
        <p:nvSpPr>
          <p:cNvPr id="6" name="">
            <a:extLst xmlns:a="http://schemas.openxmlformats.org/drawingml/2006/main">
              <a:ext uri="{FF2B5EF4-FFF2-40B4-BE49-F238E27FC236}">
                <a16:creationId xmlns:a16="http://schemas.microsoft.com/office/drawing/2014/main" id="{670D46CA-BBD7-419F-8B10-2A1EDCF60005}"/>
              </a:ext>
            </a:extLst>
          </p:cNvPr>
          <p:cNvSpPr>
            <a:spLocks xmlns:a="http://schemas.openxmlformats.org/drawingml/2006/main" noGrp="1"/>
          </p:cNvSpPr>
          <p:nvPr/>
        </p:nvSpPr>
        <p:spPr>
          <a:xfrm xmlns:a="http://schemas.openxmlformats.org/drawingml/2006/main">
            <a:off x="685800" y="28384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C582478F-671A-4C57-A7AF-3573772EEDD5}"/>
              </a:ext>
            </a:extLst>
          </p:cNvPr>
          <p:cNvSpPr>
            <a:spLocks xmlns:a="http://schemas.openxmlformats.org/drawingml/2006/main" noGrp="1"/>
          </p:cNvSpPr>
          <p:nvPr/>
        </p:nvSpPr>
        <p:spPr>
          <a:xfrm xmlns:a="http://schemas.openxmlformats.org/drawingml/2006/main">
            <a:off x="1524000" y="28384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Integration tests at the persistence boundary</a:t>
            </a:r>
          </a:p>
        </p:txBody>
      </p:sp>
      <p:sp>
        <p:nvSpPr>
          <p:cNvPr id="8" name="">
            <a:extLst xmlns:a="http://schemas.openxmlformats.org/drawingml/2006/main">
              <a:ext uri="{FF2B5EF4-FFF2-40B4-BE49-F238E27FC236}">
                <a16:creationId xmlns:a16="http://schemas.microsoft.com/office/drawing/2014/main" id="{96A2D9EB-388F-4583-A278-7D12001D661E}"/>
              </a:ext>
            </a:extLst>
          </p:cNvPr>
          <p:cNvSpPr>
            <a:spLocks xmlns:a="http://schemas.openxmlformats.org/drawingml/2006/main" noGrp="1"/>
          </p:cNvSpPr>
          <p:nvPr/>
        </p:nvSpPr>
        <p:spPr>
          <a:xfrm xmlns:a="http://schemas.openxmlformats.org/drawingml/2006/main">
            <a:off x="1524000" y="329565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The local API suite uses real SQL Server and an isolated database per fixture.</a:t>
            </a:r>
          </a:p>
        </p:txBody>
      </p:sp>
      <p:sp>
        <p:nvSpPr>
          <p:cNvPr id="9" name="">
            <a:extLst xmlns:a="http://schemas.openxmlformats.org/drawingml/2006/main">
              <a:ext uri="{FF2B5EF4-FFF2-40B4-BE49-F238E27FC236}">
                <a16:creationId xmlns:a16="http://schemas.microsoft.com/office/drawing/2014/main" id="{FD2A15C4-E5AB-4E6F-99FE-16F70F88276C}"/>
              </a:ext>
            </a:extLst>
          </p:cNvPr>
          <p:cNvSpPr>
            <a:spLocks xmlns:a="http://schemas.openxmlformats.org/drawingml/2006/main" noGrp="1"/>
          </p:cNvSpPr>
          <p:nvPr/>
        </p:nvSpPr>
        <p:spPr>
          <a:xfrm xmlns:a="http://schemas.openxmlformats.org/drawingml/2006/main">
            <a:off x="685800" y="41148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16E"/>
                </a:solidFill>
                <a:latin typeface="Helvetica Neue"/>
                <a:ea typeface="Helvetica Neue"/>
                <a:cs typeface="Helvetica Neue"/>
              </a:defRPr>
            </a:pPr>
            <a:r>
              <a:rPr sz="2700" b="1">
                <a:solidFill>
                  <a:srgbClr val="16816E"/>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4CCECA64-7005-431E-A927-2BF5F5589036}"/>
              </a:ext>
            </a:extLst>
          </p:cNvPr>
          <p:cNvSpPr>
            <a:spLocks xmlns:a="http://schemas.openxmlformats.org/drawingml/2006/main" noGrp="1"/>
          </p:cNvSpPr>
          <p:nvPr/>
        </p:nvSpPr>
        <p:spPr>
          <a:xfrm xmlns:a="http://schemas.openxmlformats.org/drawingml/2006/main">
            <a:off x="1524000" y="41148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F"/>
                </a:solidFill>
                <a:latin typeface="Helvetica Neue"/>
                <a:ea typeface="Helvetica Neue"/>
                <a:cs typeface="Helvetica Neue"/>
              </a:defRPr>
            </a:pPr>
            <a:r>
              <a:rPr sz="2175" b="1">
                <a:solidFill>
                  <a:srgbClr val="18312F"/>
                </a:solidFill>
                <a:latin typeface="Helvetica Neue"/>
                <a:ea typeface="Helvetica Neue"/>
                <a:cs typeface="Helvetica Neue"/>
              </a:rPr>
              <a:t>Frontend and independent components</a:t>
            </a:r>
          </a:p>
        </p:txBody>
      </p:sp>
      <p:sp>
        <p:nvSpPr>
          <p:cNvPr id="11" name="">
            <a:extLst xmlns:a="http://schemas.openxmlformats.org/drawingml/2006/main">
              <a:ext uri="{FF2B5EF4-FFF2-40B4-BE49-F238E27FC236}">
                <a16:creationId xmlns:a16="http://schemas.microsoft.com/office/drawing/2014/main" id="{F7DB3A7A-B3F5-4862-A9A9-442EBF423667}"/>
              </a:ext>
            </a:extLst>
          </p:cNvPr>
          <p:cNvSpPr>
            <a:spLocks xmlns:a="http://schemas.openxmlformats.org/drawingml/2006/main" noGrp="1"/>
          </p:cNvSpPr>
          <p:nvPr/>
        </p:nvSpPr>
        <p:spPr>
          <a:xfrm xmlns:a="http://schemas.openxmlformats.org/drawingml/2006/main">
            <a:off x="1524000" y="4572000"/>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15F"/>
                </a:solidFill>
                <a:latin typeface="Helvetica Neue"/>
                <a:ea typeface="Helvetica Neue"/>
                <a:cs typeface="Helvetica Neue"/>
              </a:defRPr>
            </a:pPr>
            <a:r>
              <a:rPr sz="1875" b="0">
                <a:solidFill>
                  <a:srgbClr val="50615F"/>
                </a:solidFill>
                <a:latin typeface="Helvetica Neue"/>
                <a:ea typeface="Helvetica Neue"/>
                <a:cs typeface="Helvetica Neue"/>
              </a:rPr>
              <a:t>Vitest tests UI behavior. The separate Scheduler library has its own solution and test suite.</a:t>
            </a:r>
          </a:p>
        </p:txBody>
      </p:sp>
      <p:sp>
        <p:nvSpPr>
          <p:cNvPr id="12" name="">
            <a:extLst xmlns:a="http://schemas.openxmlformats.org/drawingml/2006/main">
              <a:ext uri="{FF2B5EF4-FFF2-40B4-BE49-F238E27FC236}">
                <a16:creationId xmlns:a16="http://schemas.microsoft.com/office/drawing/2014/main" id="{F7F44241-62BB-4C4F-BDFD-1EC3E2F7FF1F}"/>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816E"/>
                </a:solidFill>
                <a:latin typeface="Helvetica Neue"/>
                <a:ea typeface="Helvetica Neue"/>
                <a:cs typeface="Helvetica Neue"/>
              </a:defRPr>
            </a:pPr>
            <a:r>
              <a:rPr sz="1875" b="0">
                <a:solidFill>
                  <a:srgbClr val="16816E"/>
                </a:solidFill>
                <a:latin typeface="Helvetica Neue"/>
                <a:ea typeface="Helvetica Neue"/>
                <a:cs typeface="Helvetica Neue"/>
              </a:rPr>
              <a:t>Each architectural boundary defines a responsibility that can be verified at the appropriate level.</a:t>
            </a:r>
          </a:p>
        </p:txBody>
      </p:sp>
    </p:spTree>
    <p:extLst>
      <p:ext uri="{BB962C8B-B14F-4D97-AF65-F5344CB8AC3E}">
        <p14:creationId xmlns:p14="http://schemas.microsoft.com/office/powerpoint/2010/main" val="5318451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2026-10-07T20:14:04.0640000Z</dcterms:created>
  <dcterms:modified xsi:type="dcterms:W3CDTF">2026-10-07T20:14:04.0650000Z</dcterms:modified>
</coreProperties>
</file>