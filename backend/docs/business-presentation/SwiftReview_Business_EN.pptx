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will show how Operations Reporting and Processing, or ORP, supports the review of SWIFT messages. The central idea is simple: each message has a visible stage, an accountable reviewer when assigned, and a record of the decisions made. For leadership, this creates a clearer operating process. For users, it brings the queue and review actions together. We will follow a message through the application, look at the controls behind that journey, and finish with the decisions needed for a pilot. The screens use synthetic demonstration data. This presentation describes the current implementation, rather than a claim of production readiness.
Evidence: README.md; backend/README.md; backend/docs/MESSAGE_STATE_MACHINE.md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practical benefits. First, teams can identify the current stage and the person assigned to a message. Second, reviewers have a personal work queue, so they can find their assigned messages and take the permitted next action. Third, authorised users can follow the history of assignments and decisions. These are capabilities supported by the current application. We should validate the resulting time savings and operating improvements in a pilot; there are no measured productivity or cost-saving figures behind this presentation. The objective is to make the process easier to manage and use, with evidence of what happened when questions arise.
Evidence: frontend/src/pages/messages/AssignedMessagesPage.tsx; MessagesGrid.tsx; AuditTrailDrawer.tsx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Messages arrive through the configured source integration and are registered against a review workflow. An authorised person then assigns an eligible reviewer. The reviewer reads the message and records a decision. When another review level is required, the message waits for a new manual assignment to a different eligible reviewer. Once every required level is approved, the review is complete. A rejection stops the review workflow and is currently final. In this product, completed means that the configured review has finished; it should not be described as execution or release of a payment. This distinction keeps the business promise aligned with the implemented scope.
Evidence: backend/docs/MESSAGE_STATE_MACHINE.md; backend/docs/AWH_DATA_INGESTION.md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message workspace, using demonstration data. The table brings together message type, organisational context, current stage, received date, amount and assignee. Users can filter the available messages and inspect the actions offered for each row. Visibility and actions depend on their permissions and organisational scope. A personal My work view is available for reviewers, together with a My departments view. The current interface is in English. For a live walkthrough, start with the team queue, point out a waiting message and its assignee, then switch to a reviewer’s personal queue. The numbers visible here are synthetic examples, not business performance figures.
Evidence: frontend/src/pages/messages/MessagesGrid.tsx; AssignedMessagesPage.tsx; assets/messages.png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is a deliberate business action, not automatic workload distribution. An authorised assigner chooses a reviewer from the candidates the application permits for this message. Eligibility combines organisational access, permission for the required review level, and independence from earlier approvals on the same message. Users cannot assign a message to themselves. Responsibility can be transferred before a review starts, while reassignment during an active review is blocked. Approval clears the assignment; if another stage is required, an authorised person assigns the next reviewer. These controls make ownership explicit, but staffing cover and the person responsible for monitoring unassigned work still need to be agreed for the pilot.
Evidence: docs/BUSINESS_WORKFLOW_DECISIONS.md; backend/docs/MESSAGE_STATE_MACHINE.md; AssignmentPopup.tsx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message needs the same review depth. ORP supports workflows with one, two or three required levels. Each approval moves the message to the next required level, or completes the review if no level remains. In a multi-level workflow, a user who approved an earlier level cannot perform a later one on the same message. This is the four-eyes principle in practical terms: later approval requires another eligible person. These are configured workflows; this presentation does not claim a business-user workflow designer exists. The specific message types and conditions that allow optional levels to be skipped remain a business decision to confirm before pilot configuration.
Evidence: backend/src/ORP.Domain/Workflows/WorkflowDefinition.cs; backend/docs/MESSAGE_STATE_MACHINE.md; docs/BUSINESS_WORKFLOW_DECISIONS.md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reviewer, the everyday journey is short. Open My work, select a message assigned to you, and choose Review. The review window shows the message content and an optional comment field. An authorised reviewer can approve or reject. The application verifies ownership and the required stage before accepting the action. Approval either completes the review or sends it to the waiting state for the next required level. Rejection is final in the current version, so training should make that consequence clear. An API capability also exists to withdraw the reviewer’s own latest approval under defined conditions; there is no demonstrated Undo button in this screen, so do not promise a user-facing undo journey during the demo.
Evidence: frontend/src/pages/messages/ReviewDecisionPopup.tsx; reviewDecision.ts; backend/docs/MESSAGE_STATE_MACHINE.md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question arises, the message’s audit history provides the sequence of recorded actions. It includes registration, assignment, review start, approval or rejection, and related changes in workflow state. Events carry the actor and timestamp, with comments or assignment details when applicable. This supports investigation and operational handover without relying only on someone’s recollection. Access to audit history is permission-controlled. The implementation preserves audit entries through its persistence boundary, but this should not be presented as a separately certified immutable archive. Retention, external audit requirements and operating controls need to be confirmed with the organisation before production use.
Evidence: frontend/src/pages/messages/AuditTrailDrawer.tsx; backend/docs/MESSAGE_STATE_MACHINE.md; assets/audit-panel.png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high level, the architecture has five parts. The existing SWIFT source is read by a scheduled integration component. That component registers new messages in the application’s shared database. The application service reads and updates that same store while enforcing workflow and access rules. Users work in the browser. This is a modular application, rather than a fleet of independent microservices. The underlying technologies are React for the interface, .NET for the service, and SQL Server for persistent storage. Repeated imports are designed to avoid registering duplicate source messages and to preserve existing review progress. For deployment, the approved source connector, corporate sign-in, routing configuration and operational arrangements must be completed and verified.
Evidence: backend/README.md; backend/src/ORP.Sync/README.md; backend/docs/AWH_DATA_INGESTION.md; frontend/package.json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demonstrates message queues, manual assignment, multi-level review, organisational access rules and audit history. These are the functions you have seen today. A pilot in the organisation’s environment still needs preparation. The current sign-in is a development mechanism, so corporate authentication must be integrated. The source integration requires the approved library and the organisation’s routing rules. We also need agreed roles, review-level mappings and a process for handling unassigned or rejected messages. Finally, deployment, recovery and usability should be exercised with the people who will operate the system. Automatic assignment, workload balancing and SLA escalation are not demonstrated capabilities of the current version.
Evidence: backend/src/ORP.Api/Authentication/DebugAuthenticationHandler.cs; backend/src/ORP.Sync/README.md; docs/BUSINESS_WORKFLOW_DECISIONS.md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suggest a focused pilot with a named business owner, a representative user group and a bounded set of message types. First agree the scope and the current baseline. Then configure the environment, access and workflow rules. Next, exercise normal work and exceptions: reassignment before review, a further review level, rejection and investigation through audit history. Evaluate three areas: time to first assignment, end-to-end review turnaround and task completion with user feedback. Compare like-for-like message types and review depths; a three-stage process should not be judged against a one-stage baseline. These are proposed pilot measures, not an existing analytics dashboard. Targets and dates should be agreed by the sponsor and operational team.
Evidence: Recommendation based on the confirmed workflow; no observed business-performance dataset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decision is to sponsor a focused pilot. We need a named business owner and a representative group of future users. We need to agree the departments, message types, workflow depth and exception cases to include. And we need success criteria and a review date, so the pilot ends with a concrete decision. Leadership can help define ownership and the level of evidence needed to proceed. Future users can show us where the process is clear, where it slows them down and which exceptions need more attention. My suggested closing question is: which team and message scope should we use to prove the workflow first?
Evidence: Proposed next steps derived from the current product scope and outstanding business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22"/>
        </a:solidFill>
      </p:bgPr>
    </p:bg>
    <p:spTree>
      <p:nvGrpSpPr>
        <p:cNvPr id="1" name=""/>
        <p:cNvGrpSpPr/>
        <p:nvPr/>
      </p:nvGrpSpPr>
      <p:grpSpPr>
        <a:xfrm>
          <a:off x="0" y="0"/>
          <a:ext cx="0" cy="0"/>
          <a:chOff x="0" y="0"/>
          <a:chExt cx="0" cy="0"/>
        </a:xfrm>
      </p:grpSpPr>
      <p:sp>
        <p:nvSpPr>
          <p:cNvPr id="2" name="Text 0"/>
          <p:cNvSpPr/>
          <p:nvPr/>
        </p:nvSpPr>
        <p:spPr>
          <a:xfrm>
            <a:off x="530352" y="6455664"/>
            <a:ext cx="7315200" cy="164592"/>
          </a:xfrm>
          <a:prstGeom prst="rect">
            <a:avLst/>
          </a:prstGeom>
          <a:noFill/>
          <a:ln/>
        </p:spPr>
        <p:txBody>
          <a:bodyPr wrap="square" lIns="0" tIns="0" rIns="0" bIns="0" rtlCol="0" anchor="t">
            <a:spAutoFit/>
          </a:bodyPr>
          <a:lstStyle/>
          <a:p>
            <a:pPr indent="0" marL="0">
              <a:buNone/>
            </a:pPr>
            <a:r>
              <a:rPr lang="en-US" sz="900" dirty="0">
                <a:solidFill>
                  <a:srgbClr val="B1CCC4"/>
                </a:solidFill>
                <a:latin typeface="Arial" pitchFamily="34" charset="0"/>
                <a:ea typeface="Arial" pitchFamily="34" charset="-122"/>
                <a:cs typeface="Arial" pitchFamily="34" charset="-120"/>
              </a:rPr>
              <a:t>ORP  /  Operations Reporting and Processing</a:t>
            </a:r>
            <a:endParaRPr lang="en-US" sz="900" dirty="0"/>
          </a:p>
        </p:txBody>
      </p:sp>
      <p:sp>
        <p:nvSpPr>
          <p:cNvPr id="3" name="Text 1"/>
          <p:cNvSpPr/>
          <p:nvPr/>
        </p:nvSpPr>
        <p:spPr>
          <a:xfrm>
            <a:off x="11064240" y="6419088"/>
            <a:ext cx="566928" cy="228600"/>
          </a:xfrm>
          <a:prstGeom prst="rect">
            <a:avLst/>
          </a:prstGeom>
          <a:noFill/>
          <a:ln/>
        </p:spPr>
        <p:txBody>
          <a:bodyPr wrap="square" lIns="0" tIns="0" rIns="0" bIns="0" rtlCol="0" anchor="t">
            <a:spAutoFit/>
          </a:bodyPr>
          <a:lstStyle/>
          <a:p>
            <a:pPr algn="r" indent="0" marL="0">
              <a:buNone/>
            </a:pPr>
            <a:r>
              <a:rPr lang="en-US" sz="1100" dirty="0">
                <a:solidFill>
                  <a:srgbClr val="B1CCC4"/>
                </a:solidFill>
                <a:latin typeface="Arial" pitchFamily="34" charset="0"/>
                <a:ea typeface="Arial" pitchFamily="34" charset="-122"/>
                <a:cs typeface="Arial" pitchFamily="34" charset="-120"/>
              </a:rPr>
              <a:t>01</a:t>
            </a:r>
            <a:endParaRPr lang="en-US" sz="1100" dirty="0"/>
          </a:p>
        </p:txBody>
      </p:sp>
      <p:sp>
        <p:nvSpPr>
          <p:cNvPr id="5" name="Text 2"/>
          <p:cNvSpPr/>
          <p:nvPr/>
        </p:nvSpPr>
        <p:spPr>
          <a:xfrm>
            <a:off x="585216" y="585216"/>
            <a:ext cx="6949440" cy="320040"/>
          </a:xfrm>
          <a:prstGeom prst="rect">
            <a:avLst/>
          </a:prstGeom>
          <a:noFill/>
          <a:ln/>
        </p:spPr>
        <p:txBody>
          <a:bodyPr wrap="square" lIns="0" tIns="0" rIns="0" bIns="0" rtlCol="0" anchor="t">
            <a:spAutoFit/>
          </a:bodyPr>
          <a:lstStyle/>
          <a:p>
            <a:pPr indent="0" marL="0">
              <a:buNone/>
            </a:pPr>
            <a:r>
              <a:rPr lang="en-US" sz="1400" dirty="0">
                <a:solidFill>
                  <a:srgbClr val="B1CCC4"/>
                </a:solidFill>
                <a:latin typeface="Arial" pitchFamily="34" charset="0"/>
                <a:ea typeface="Arial" pitchFamily="34" charset="-122"/>
                <a:cs typeface="Arial" pitchFamily="34" charset="-120"/>
              </a:rPr>
              <a:t>Operations Reporting and Processing</a:t>
            </a:r>
            <a:endParaRPr lang="en-US" sz="1400" dirty="0"/>
          </a:p>
        </p:txBody>
      </p:sp>
      <p:sp>
        <p:nvSpPr>
          <p:cNvPr id="6" name="Text 3"/>
          <p:cNvSpPr/>
          <p:nvPr/>
        </p:nvSpPr>
        <p:spPr>
          <a:xfrm>
            <a:off x="548640" y="1481328"/>
            <a:ext cx="6949440" cy="1737360"/>
          </a:xfrm>
          <a:prstGeom prst="rect">
            <a:avLst/>
          </a:prstGeom>
          <a:noFill/>
          <a:ln/>
        </p:spPr>
        <p:txBody>
          <a:bodyPr wrap="square" lIns="0" tIns="0" rIns="0" bIns="0" rtlCol="0" anchor="t">
            <a:spAutoFit/>
          </a:bodyPr>
          <a:lstStyle/>
          <a:p>
            <a:pPr indent="0" marL="0">
              <a:buNone/>
            </a:pPr>
            <a:r>
              <a:rPr lang="en-US" sz="4600" b="1" dirty="0">
                <a:solidFill>
                  <a:srgbClr val="FFFFFF"/>
                </a:solidFill>
                <a:latin typeface="Arial" pitchFamily="34" charset="0"/>
                <a:ea typeface="Arial" pitchFamily="34" charset="-122"/>
                <a:cs typeface="Arial" pitchFamily="34" charset="-120"/>
              </a:rPr>
              <a:t>SWIFT reviews.</a:t>
            </a:r>
            <a:endParaRPr lang="en-US" sz="4600" dirty="0"/>
          </a:p>
          <a:p>
            <a:pPr indent="0" marL="0">
              <a:buNone/>
            </a:pPr>
            <a:r>
              <a:rPr lang="en-US" sz="4600" b="1" dirty="0">
                <a:solidFill>
                  <a:srgbClr val="FFFFFF"/>
                </a:solidFill>
                <a:latin typeface="Arial" pitchFamily="34" charset="0"/>
                <a:ea typeface="Arial" pitchFamily="34" charset="-122"/>
                <a:cs typeface="Arial" pitchFamily="34" charset="-120"/>
              </a:rPr>
              <a:t>Clear ownership.</a:t>
            </a:r>
            <a:endParaRPr lang="en-US" sz="4600" dirty="0"/>
          </a:p>
        </p:txBody>
      </p:sp>
      <p:sp>
        <p:nvSpPr>
          <p:cNvPr id="7" name="Text 4"/>
          <p:cNvSpPr/>
          <p:nvPr/>
        </p:nvSpPr>
        <p:spPr>
          <a:xfrm>
            <a:off x="594360" y="3538728"/>
            <a:ext cx="6492240" cy="822960"/>
          </a:xfrm>
          <a:prstGeom prst="rect">
            <a:avLst/>
          </a:prstGeom>
          <a:noFill/>
          <a:ln/>
        </p:spPr>
        <p:txBody>
          <a:bodyPr wrap="square" lIns="0" tIns="0" rIns="0" bIns="0" rtlCol="0" anchor="t">
            <a:spAutoFit/>
          </a:bodyPr>
          <a:lstStyle/>
          <a:p>
            <a:pPr indent="0" marL="0">
              <a:buNone/>
            </a:pPr>
            <a:r>
              <a:rPr lang="en-US" sz="2300" dirty="0">
                <a:solidFill>
                  <a:srgbClr val="D5E4E1"/>
                </a:solidFill>
                <a:latin typeface="Arial" pitchFamily="34" charset="0"/>
                <a:ea typeface="Arial" pitchFamily="34" charset="-122"/>
                <a:cs typeface="Arial" pitchFamily="34" charset="-120"/>
              </a:rPr>
              <a:t>A shared workflow for assigning, reviewing</a:t>
            </a:r>
            <a:endParaRPr lang="en-US" sz="2300" dirty="0"/>
          </a:p>
          <a:p>
            <a:pPr indent="0" marL="0">
              <a:buNone/>
            </a:pPr>
            <a:r>
              <a:rPr lang="en-US" sz="2300" dirty="0">
                <a:solidFill>
                  <a:srgbClr val="D5E4E1"/>
                </a:solidFill>
                <a:latin typeface="Arial" pitchFamily="34" charset="0"/>
                <a:ea typeface="Arial" pitchFamily="34" charset="-122"/>
                <a:cs typeface="Arial" pitchFamily="34" charset="-120"/>
              </a:rPr>
              <a:t>and tracing message decisions.</a:t>
            </a:r>
            <a:endParaRPr lang="en-US" sz="2300" dirty="0"/>
          </a:p>
        </p:txBody>
      </p:sp>
      <p:sp>
        <p:nvSpPr>
          <p:cNvPr id="8" name="Shape 5"/>
          <p:cNvSpPr/>
          <p:nvPr/>
        </p:nvSpPr>
        <p:spPr>
          <a:xfrm>
            <a:off x="594360" y="5120640"/>
            <a:ext cx="2496312" cy="320040"/>
          </a:xfrm>
          <a:prstGeom prst="roundRect">
            <a:avLst>
              <a:gd name="adj" fmla="val 34286"/>
            </a:avLst>
          </a:prstGeom>
          <a:solidFill>
            <a:srgbClr val="C4D600"/>
          </a:solidFill>
          <a:ln w="12700">
            <a:solidFill>
              <a:srgbClr val="C4D600"/>
            </a:solidFill>
            <a:prstDash val="solid"/>
          </a:ln>
        </p:spPr>
      </p:sp>
      <p:sp>
        <p:nvSpPr>
          <p:cNvPr id="9" name="Text 6"/>
          <p:cNvSpPr/>
          <p:nvPr/>
        </p:nvSpPr>
        <p:spPr>
          <a:xfrm>
            <a:off x="713232" y="5186477"/>
            <a:ext cx="2258568" cy="182880"/>
          </a:xfrm>
          <a:prstGeom prst="rect">
            <a:avLst/>
          </a:prstGeom>
          <a:noFill/>
          <a:ln/>
        </p:spPr>
        <p:txBody>
          <a:bodyPr wrap="square" lIns="0" tIns="0" rIns="0" bIns="0" rtlCol="0" anchor="t">
            <a:spAutoFit/>
          </a:bodyPr>
          <a:lstStyle/>
          <a:p>
            <a:pPr indent="0" marL="0">
              <a:buNone/>
            </a:pPr>
            <a:r>
              <a:rPr lang="en-US" sz="1050" b="1" dirty="0">
                <a:solidFill>
                  <a:srgbClr val="003322"/>
                </a:solidFill>
                <a:latin typeface="Arial" pitchFamily="34" charset="0"/>
                <a:ea typeface="Arial" pitchFamily="34" charset="-122"/>
                <a:cs typeface="Arial" pitchFamily="34" charset="-120"/>
              </a:rPr>
              <a:t>Leadership + future users</a:t>
            </a:r>
            <a:endParaRPr lang="en-US" sz="1050" dirty="0"/>
          </a:p>
        </p:txBody>
      </p:sp>
      <p:sp>
        <p:nvSpPr>
          <p:cNvPr id="10" name="Text 7"/>
          <p:cNvSpPr/>
          <p:nvPr/>
        </p:nvSpPr>
        <p:spPr>
          <a:xfrm>
            <a:off x="603504" y="5687568"/>
            <a:ext cx="5486400" cy="301752"/>
          </a:xfrm>
          <a:prstGeom prst="rect">
            <a:avLst/>
          </a:prstGeom>
          <a:noFill/>
          <a:ln/>
        </p:spPr>
        <p:txBody>
          <a:bodyPr wrap="square" lIns="0" tIns="0" rIns="0" bIns="0" rtlCol="0" anchor="t">
            <a:spAutoFit/>
          </a:bodyPr>
          <a:lstStyle/>
          <a:p>
            <a:pPr indent="0" marL="0">
              <a:buNone/>
            </a:pPr>
            <a:r>
              <a:rPr lang="en-US" sz="1200" dirty="0">
                <a:solidFill>
                  <a:srgbClr val="B1CCC4"/>
                </a:solidFill>
                <a:latin typeface="Arial" pitchFamily="34" charset="0"/>
                <a:ea typeface="Arial" pitchFamily="34" charset="-122"/>
                <a:cs typeface="Arial" pitchFamily="34" charset="-120"/>
              </a:rPr>
              <a:t>Product overview  •  September 2026</a:t>
            </a:r>
            <a:endParaRPr lang="en-US" sz="1200" dirty="0"/>
          </a:p>
        </p:txBody>
      </p:sp>
      <p:sp>
        <p:nvSpPr>
          <p:cNvPr id="11" name="Shape 8"/>
          <p:cNvSpPr/>
          <p:nvPr/>
        </p:nvSpPr>
        <p:spPr>
          <a:xfrm>
            <a:off x="8229600" y="1828800"/>
            <a:ext cx="2395728" cy="1298448"/>
          </a:xfrm>
          <a:prstGeom prst="line">
            <a:avLst/>
          </a:prstGeom>
          <a:noFill/>
          <a:ln w="25400">
            <a:solidFill>
              <a:srgbClr val="589284"/>
            </a:solidFill>
            <a:prstDash val="solid"/>
            <a:headEnd type="none"/>
            <a:tailEnd type="none"/>
          </a:ln>
        </p:spPr>
      </p:sp>
      <p:sp>
        <p:nvSpPr>
          <p:cNvPr id="12" name="Shape 9"/>
          <p:cNvSpPr/>
          <p:nvPr/>
        </p:nvSpPr>
        <p:spPr>
          <a:xfrm>
            <a:off x="10625328" y="3127248"/>
            <a:ext cx="-2395728" cy="1444752"/>
          </a:xfrm>
          <a:prstGeom prst="line">
            <a:avLst/>
          </a:prstGeom>
          <a:noFill/>
          <a:ln w="25400">
            <a:solidFill>
              <a:srgbClr val="589284"/>
            </a:solidFill>
            <a:prstDash val="solid"/>
            <a:headEnd type="none"/>
            <a:tailEnd type="none"/>
          </a:ln>
        </p:spPr>
      </p:sp>
      <p:sp>
        <p:nvSpPr>
          <p:cNvPr id="13" name="Shape 10"/>
          <p:cNvSpPr/>
          <p:nvPr/>
        </p:nvSpPr>
        <p:spPr>
          <a:xfrm>
            <a:off x="8229600" y="4572000"/>
            <a:ext cx="0" cy="-2743200"/>
          </a:xfrm>
          <a:prstGeom prst="line">
            <a:avLst/>
          </a:prstGeom>
          <a:noFill/>
          <a:ln w="25400">
            <a:solidFill>
              <a:srgbClr val="589284"/>
            </a:solidFill>
            <a:prstDash val="solid"/>
            <a:headEnd type="none"/>
            <a:tailEnd type="none"/>
          </a:ln>
        </p:spPr>
      </p:sp>
      <p:sp>
        <p:nvSpPr>
          <p:cNvPr id="14" name="Shape 11"/>
          <p:cNvSpPr/>
          <p:nvPr/>
        </p:nvSpPr>
        <p:spPr>
          <a:xfrm>
            <a:off x="7726680" y="1371600"/>
            <a:ext cx="1051560" cy="1051560"/>
          </a:xfrm>
          <a:prstGeom prst="ellipse">
            <a:avLst/>
          </a:prstGeom>
          <a:solidFill>
            <a:srgbClr val="C4D600"/>
          </a:solidFill>
          <a:ln w="12700">
            <a:solidFill>
              <a:srgbClr val="C4D600"/>
            </a:solidFill>
            <a:prstDash val="solid"/>
          </a:ln>
        </p:spPr>
      </p:sp>
      <p:sp>
        <p:nvSpPr>
          <p:cNvPr id="15" name="Shape 12"/>
          <p:cNvSpPr/>
          <p:nvPr/>
        </p:nvSpPr>
        <p:spPr>
          <a:xfrm>
            <a:off x="8052664" y="1613459"/>
            <a:ext cx="410108" cy="567842"/>
          </a:xfrm>
          <a:prstGeom prst="rect">
            <a:avLst/>
          </a:prstGeom>
          <a:solidFill>
            <a:srgbClr val="C4D600"/>
          </a:solidFill>
          <a:ln w="12700">
            <a:solidFill>
              <a:srgbClr val="003322"/>
            </a:solidFill>
            <a:prstDash val="solid"/>
          </a:ln>
        </p:spPr>
      </p:sp>
      <p:sp>
        <p:nvSpPr>
          <p:cNvPr id="16" name="Shape 13"/>
          <p:cNvSpPr/>
          <p:nvPr/>
        </p:nvSpPr>
        <p:spPr>
          <a:xfrm>
            <a:off x="8136788" y="1781708"/>
            <a:ext cx="241859" cy="0"/>
          </a:xfrm>
          <a:prstGeom prst="line">
            <a:avLst/>
          </a:prstGeom>
          <a:noFill/>
          <a:ln w="16510">
            <a:solidFill>
              <a:srgbClr val="003322"/>
            </a:solidFill>
            <a:prstDash val="solid"/>
            <a:headEnd type="none"/>
            <a:tailEnd type="none"/>
          </a:ln>
        </p:spPr>
      </p:sp>
      <p:sp>
        <p:nvSpPr>
          <p:cNvPr id="17" name="Shape 14"/>
          <p:cNvSpPr/>
          <p:nvPr/>
        </p:nvSpPr>
        <p:spPr>
          <a:xfrm>
            <a:off x="8136788" y="1907896"/>
            <a:ext cx="241859" cy="0"/>
          </a:xfrm>
          <a:prstGeom prst="line">
            <a:avLst/>
          </a:prstGeom>
          <a:noFill/>
          <a:ln w="16510">
            <a:solidFill>
              <a:srgbClr val="003322"/>
            </a:solidFill>
            <a:prstDash val="solid"/>
            <a:headEnd type="none"/>
            <a:tailEnd type="none"/>
          </a:ln>
        </p:spPr>
      </p:sp>
      <p:sp>
        <p:nvSpPr>
          <p:cNvPr id="18" name="Shape 15"/>
          <p:cNvSpPr/>
          <p:nvPr/>
        </p:nvSpPr>
        <p:spPr>
          <a:xfrm>
            <a:off x="8136788" y="2034083"/>
            <a:ext cx="178765" cy="0"/>
          </a:xfrm>
          <a:prstGeom prst="line">
            <a:avLst/>
          </a:prstGeom>
          <a:noFill/>
          <a:ln w="16510">
            <a:solidFill>
              <a:srgbClr val="003322"/>
            </a:solidFill>
            <a:prstDash val="solid"/>
            <a:headEnd type="none"/>
            <a:tailEnd type="none"/>
          </a:ln>
        </p:spPr>
      </p:sp>
      <p:sp>
        <p:nvSpPr>
          <p:cNvPr id="19" name="Shape 16"/>
          <p:cNvSpPr/>
          <p:nvPr/>
        </p:nvSpPr>
        <p:spPr>
          <a:xfrm>
            <a:off x="10058400" y="2633472"/>
            <a:ext cx="1051560" cy="1051560"/>
          </a:xfrm>
          <a:prstGeom prst="ellipse">
            <a:avLst/>
          </a:prstGeom>
          <a:solidFill>
            <a:srgbClr val="D5E4E1"/>
          </a:solidFill>
          <a:ln w="12700">
            <a:solidFill>
              <a:srgbClr val="D5E4E1"/>
            </a:solidFill>
            <a:prstDash val="solid"/>
          </a:ln>
        </p:spPr>
      </p:sp>
      <p:sp>
        <p:nvSpPr>
          <p:cNvPr id="20" name="Shape 17"/>
          <p:cNvSpPr/>
          <p:nvPr/>
        </p:nvSpPr>
        <p:spPr>
          <a:xfrm>
            <a:off x="10447477" y="2875331"/>
            <a:ext cx="273406" cy="273406"/>
          </a:xfrm>
          <a:prstGeom prst="ellipse">
            <a:avLst/>
          </a:prstGeom>
          <a:solidFill>
            <a:srgbClr val="003322"/>
          </a:solidFill>
          <a:ln w="12700">
            <a:solidFill>
              <a:srgbClr val="003322"/>
            </a:solidFill>
            <a:prstDash val="solid"/>
          </a:ln>
        </p:spPr>
      </p:sp>
      <p:sp>
        <p:nvSpPr>
          <p:cNvPr id="21" name="Shape 18"/>
          <p:cNvSpPr/>
          <p:nvPr/>
        </p:nvSpPr>
        <p:spPr>
          <a:xfrm>
            <a:off x="10331806" y="3211830"/>
            <a:ext cx="504749" cy="252374"/>
          </a:xfrm>
          <a:prstGeom prst="roundRect">
            <a:avLst/>
          </a:prstGeom>
          <a:solidFill>
            <a:srgbClr val="003322"/>
          </a:solidFill>
          <a:ln w="12700">
            <a:solidFill>
              <a:srgbClr val="003322"/>
            </a:solidFill>
            <a:prstDash val="solid"/>
          </a:ln>
        </p:spPr>
      </p:sp>
      <p:sp>
        <p:nvSpPr>
          <p:cNvPr id="22" name="Shape 19"/>
          <p:cNvSpPr/>
          <p:nvPr/>
        </p:nvSpPr>
        <p:spPr>
          <a:xfrm>
            <a:off x="7726680" y="4069080"/>
            <a:ext cx="1051560" cy="1051560"/>
          </a:xfrm>
          <a:prstGeom prst="ellipse">
            <a:avLst/>
          </a:prstGeom>
          <a:solidFill>
            <a:srgbClr val="C4D600"/>
          </a:solidFill>
          <a:ln w="12700">
            <a:solidFill>
              <a:srgbClr val="C4D600"/>
            </a:solidFill>
            <a:prstDash val="solid"/>
          </a:ln>
        </p:spPr>
      </p:sp>
      <p:sp>
        <p:nvSpPr>
          <p:cNvPr id="23" name="Shape 20"/>
          <p:cNvSpPr/>
          <p:nvPr/>
        </p:nvSpPr>
        <p:spPr>
          <a:xfrm>
            <a:off x="8010601" y="4605376"/>
            <a:ext cx="168250" cy="157734"/>
          </a:xfrm>
          <a:prstGeom prst="line">
            <a:avLst/>
          </a:prstGeom>
          <a:noFill/>
          <a:ln w="27940">
            <a:solidFill>
              <a:srgbClr val="003322"/>
            </a:solidFill>
            <a:prstDash val="solid"/>
            <a:headEnd type="none"/>
            <a:tailEnd type="none"/>
          </a:ln>
        </p:spPr>
      </p:sp>
      <p:sp>
        <p:nvSpPr>
          <p:cNvPr id="24" name="Shape 21"/>
          <p:cNvSpPr/>
          <p:nvPr/>
        </p:nvSpPr>
        <p:spPr>
          <a:xfrm>
            <a:off x="8178851" y="4763110"/>
            <a:ext cx="325984" cy="-347015"/>
          </a:xfrm>
          <a:prstGeom prst="line">
            <a:avLst/>
          </a:prstGeom>
          <a:noFill/>
          <a:ln w="27940">
            <a:solidFill>
              <a:srgbClr val="003322"/>
            </a:solidFill>
            <a:prstDash val="solid"/>
            <a:headEnd type="none"/>
            <a:tailEnd type="none"/>
          </a:ln>
        </p:spPr>
      </p:sp>
      <p:sp>
        <p:nvSpPr>
          <p:cNvPr id="25" name="Text 22"/>
          <p:cNvSpPr/>
          <p:nvPr/>
        </p:nvSpPr>
        <p:spPr>
          <a:xfrm>
            <a:off x="7461504" y="2606040"/>
            <a:ext cx="1600200" cy="274320"/>
          </a:xfrm>
          <a:prstGeom prst="rect">
            <a:avLst/>
          </a:prstGeom>
          <a:noFill/>
          <a:ln/>
        </p:spPr>
        <p:txBody>
          <a:bodyPr wrap="square" lIns="0" tIns="0" rIns="0" bIns="0" rtlCol="0" anchor="t">
            <a:sp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Message</a:t>
            </a:r>
            <a:endParaRPr lang="en-US" sz="1500" dirty="0"/>
          </a:p>
        </p:txBody>
      </p:sp>
      <p:sp>
        <p:nvSpPr>
          <p:cNvPr id="26" name="Text 23"/>
          <p:cNvSpPr/>
          <p:nvPr/>
        </p:nvSpPr>
        <p:spPr>
          <a:xfrm>
            <a:off x="9765792" y="3822192"/>
            <a:ext cx="1600200" cy="274320"/>
          </a:xfrm>
          <a:prstGeom prst="rect">
            <a:avLst/>
          </a:prstGeom>
          <a:noFill/>
          <a:ln/>
        </p:spPr>
        <p:txBody>
          <a:bodyPr wrap="square" lIns="0" tIns="0" rIns="0" bIns="0" rtlCol="0" anchor="t">
            <a:sp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Reviewer</a:t>
            </a:r>
            <a:endParaRPr lang="en-US" sz="1500" dirty="0"/>
          </a:p>
        </p:txBody>
      </p:sp>
      <p:sp>
        <p:nvSpPr>
          <p:cNvPr id="27" name="Text 24"/>
          <p:cNvSpPr/>
          <p:nvPr/>
        </p:nvSpPr>
        <p:spPr>
          <a:xfrm>
            <a:off x="7461504" y="5257800"/>
            <a:ext cx="1600200" cy="274320"/>
          </a:xfrm>
          <a:prstGeom prst="rect">
            <a:avLst/>
          </a:prstGeom>
          <a:noFill/>
          <a:ln/>
        </p:spPr>
        <p:txBody>
          <a:bodyPr wrap="square" lIns="0" tIns="0" rIns="0" bIns="0" rtlCol="0" anchor="t">
            <a:sp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Decision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6"/>
        </a:solidFill>
      </p:bgPr>
    </p:bg>
    <p:spTree>
      <p:nvGrpSpPr>
        <p:cNvPr id="1" name=""/>
        <p:cNvGrpSpPr/>
        <p:nvPr/>
      </p:nvGrpSpPr>
      <p:grpSpPr>
        <a:xfrm>
          <a:off x="0" y="0"/>
          <a:ext cx="0" cy="0"/>
          <a:chOff x="0" y="0"/>
          <a:chExt cx="0" cy="0"/>
        </a:xfrm>
      </p:grpSpPr>
      <p:sp>
        <p:nvSpPr>
          <p:cNvPr id="2" name="Text 0"/>
          <p:cNvSpPr/>
          <p:nvPr/>
        </p:nvSpPr>
        <p:spPr>
          <a:xfrm>
            <a:off x="548640" y="429768"/>
            <a:ext cx="10058400" cy="210312"/>
          </a:xfrm>
          <a:prstGeom prst="rect">
            <a:avLst/>
          </a:prstGeom>
          <a:noFill/>
          <a:ln/>
        </p:spPr>
        <p:txBody>
          <a:bodyPr wrap="square" lIns="0" tIns="0" rIns="0" bIns="0" rtlCol="0" anchor="t">
            <a:spAutoFit/>
          </a:bodyPr>
          <a:lstStyle/>
          <a:p>
            <a:pPr indent="0" marL="0">
              <a:buNone/>
            </a:pPr>
            <a:r>
              <a:rPr lang="en-US" sz="1100" b="1" dirty="0">
                <a:solidFill>
                  <a:srgbClr val="004831"/>
                </a:solidFill>
                <a:latin typeface="Arial" pitchFamily="34" charset="0"/>
                <a:ea typeface="Arial" pitchFamily="34" charset="-122"/>
                <a:cs typeface="Arial" pitchFamily="34" charset="-120"/>
              </a:rPr>
              <a:t>Business value</a:t>
            </a:r>
            <a:endParaRPr lang="en-US" sz="1100" dirty="0"/>
          </a:p>
        </p:txBody>
      </p:sp>
      <p:sp>
        <p:nvSpPr>
          <p:cNvPr id="3" name="Text 1"/>
          <p:cNvSpPr/>
          <p:nvPr/>
        </p:nvSpPr>
        <p:spPr>
          <a:xfrm>
            <a:off x="530352" y="868680"/>
            <a:ext cx="11064240" cy="621792"/>
          </a:xfrm>
          <a:prstGeom prst="rect">
            <a:avLst/>
          </a:prstGeom>
          <a:noFill/>
          <a:ln/>
        </p:spPr>
        <p:txBody>
          <a:bodyPr wrap="square" lIns="0" tIns="0" rIns="0" bIns="0" rtlCol="0" anchor="t">
            <a:spAutoFit/>
          </a:bodyPr>
          <a:lstStyle/>
          <a:p>
            <a:pPr indent="0" marL="0">
              <a:buNone/>
            </a:pPr>
            <a:r>
              <a:rPr lang="en-US" sz="3400" b="1" dirty="0">
                <a:solidFill>
                  <a:srgbClr val="1F2522"/>
                </a:solidFill>
                <a:latin typeface="Arial" pitchFamily="34" charset="0"/>
                <a:ea typeface="Arial" pitchFamily="34" charset="-122"/>
                <a:cs typeface="Arial" pitchFamily="34" charset="-120"/>
              </a:rPr>
              <a:t>One workflow. Three practical benefits.</a:t>
            </a:r>
            <a:endParaRPr lang="en-US" sz="3400" dirty="0"/>
          </a:p>
        </p:txBody>
      </p:sp>
      <p:sp>
        <p:nvSpPr>
          <p:cNvPr id="4" name="Text 2"/>
          <p:cNvSpPr/>
          <p:nvPr/>
        </p:nvSpPr>
        <p:spPr>
          <a:xfrm>
            <a:off x="548640" y="1572768"/>
            <a:ext cx="10927080" cy="502920"/>
          </a:xfrm>
          <a:prstGeom prst="rect">
            <a:avLst/>
          </a:prstGeom>
          <a:noFill/>
          <a:ln/>
        </p:spPr>
        <p:txBody>
          <a:bodyPr wrap="square" lIns="0" tIns="0" rIns="0" bIns="0" rtlCol="0" anchor="t">
            <a:spAutoFit/>
          </a:bodyPr>
          <a:lstStyle/>
          <a:p>
            <a:pPr indent="0" marL="0">
              <a:buNone/>
            </a:pPr>
            <a:r>
              <a:rPr lang="en-US" sz="1600" dirty="0">
                <a:solidFill>
                  <a:srgbClr val="68716C"/>
                </a:solidFill>
                <a:latin typeface="Arial" pitchFamily="34" charset="0"/>
                <a:ea typeface="Arial" pitchFamily="34" charset="-122"/>
                <a:cs typeface="Arial" pitchFamily="34" charset="-120"/>
              </a:rPr>
              <a:t>A shared view of work connects responsibility, review and follow-up.</a:t>
            </a:r>
            <a:endParaRPr lang="en-US" sz="1600" dirty="0"/>
          </a:p>
        </p:txBody>
      </p:sp>
      <p:sp>
        <p:nvSpPr>
          <p:cNvPr id="5" name="Text 3"/>
          <p:cNvSpPr/>
          <p:nvPr/>
        </p:nvSpPr>
        <p:spPr>
          <a:xfrm>
            <a:off x="530352" y="6455664"/>
            <a:ext cx="7315200" cy="164592"/>
          </a:xfrm>
          <a:prstGeom prst="rect">
            <a:avLst/>
          </a:prstGeom>
          <a:noFill/>
          <a:ln/>
        </p:spPr>
        <p:txBody>
          <a:bodyPr wrap="square" lIns="0" tIns="0" rIns="0" bIns="0" rtlCol="0" anchor="t">
            <a:spAutoFit/>
          </a:bodyPr>
          <a:lstStyle/>
          <a:p>
            <a:pPr indent="0" marL="0">
              <a:buNone/>
            </a:pPr>
            <a:r>
              <a:rPr lang="en-US" sz="900" dirty="0">
                <a:solidFill>
                  <a:srgbClr val="68716C"/>
                </a:solidFill>
                <a:latin typeface="Arial" pitchFamily="34" charset="0"/>
                <a:ea typeface="Arial" pitchFamily="34" charset="-122"/>
                <a:cs typeface="Arial" pitchFamily="34" charset="-120"/>
              </a:rPr>
              <a:t>ORP  /  Operations Reporting and Processing</a:t>
            </a:r>
            <a:endParaRPr lang="en-US" sz="900" dirty="0"/>
          </a:p>
        </p:txBody>
      </p:sp>
      <p:sp>
        <p:nvSpPr>
          <p:cNvPr id="6" name="Text 4"/>
          <p:cNvSpPr/>
          <p:nvPr/>
        </p:nvSpPr>
        <p:spPr>
          <a:xfrm>
            <a:off x="11064240" y="6419088"/>
            <a:ext cx="566928" cy="228600"/>
          </a:xfrm>
          <a:prstGeom prst="rect">
            <a:avLst/>
          </a:prstGeom>
          <a:noFill/>
          <a:ln/>
        </p:spPr>
        <p:txBody>
          <a:bodyPr wrap="square" lIns="0" tIns="0" rIns="0" bIns="0" rtlCol="0" anchor="t">
            <a:spAutoFit/>
          </a:bodyPr>
          <a:lstStyle/>
          <a:p>
            <a:pPr algn="r" indent="0" marL="0">
              <a:buNone/>
            </a:pPr>
            <a:r>
              <a:rPr lang="en-US" sz="1100" dirty="0">
                <a:solidFill>
                  <a:srgbClr val="68716C"/>
                </a:solidFill>
                <a:latin typeface="Arial" pitchFamily="34" charset="0"/>
                <a:ea typeface="Arial" pitchFamily="34" charset="-122"/>
                <a:cs typeface="Arial" pitchFamily="34" charset="-120"/>
              </a:rPr>
              <a:t>02</a:t>
            </a:r>
            <a:endParaRPr lang="en-US" sz="1100" dirty="0"/>
          </a:p>
        </p:txBody>
      </p:sp>
      <p:sp>
        <p:nvSpPr>
          <p:cNvPr id="8" name="Shape 5"/>
          <p:cNvSpPr/>
          <p:nvPr/>
        </p:nvSpPr>
        <p:spPr>
          <a:xfrm>
            <a:off x="548640" y="2350008"/>
            <a:ext cx="3547872" cy="3108960"/>
          </a:xfrm>
          <a:prstGeom prst="roundRect">
            <a:avLst>
              <a:gd name="adj" fmla="val 3529"/>
            </a:avLst>
          </a:prstGeom>
          <a:solidFill>
            <a:srgbClr val="FFFFFF"/>
          </a:solidFill>
          <a:ln w="12700">
            <a:solidFill>
              <a:srgbClr val="FFFFFF"/>
            </a:solidFill>
            <a:prstDash val="solid"/>
          </a:ln>
        </p:spPr>
      </p:sp>
      <p:sp>
        <p:nvSpPr>
          <p:cNvPr id="9" name="Shape 6"/>
          <p:cNvSpPr/>
          <p:nvPr/>
        </p:nvSpPr>
        <p:spPr>
          <a:xfrm>
            <a:off x="804672" y="2606040"/>
            <a:ext cx="640080" cy="640080"/>
          </a:xfrm>
          <a:prstGeom prst="ellipse">
            <a:avLst/>
          </a:prstGeom>
          <a:solidFill>
            <a:srgbClr val="EAF2EE"/>
          </a:solidFill>
          <a:ln w="12700">
            <a:solidFill>
              <a:srgbClr val="EAF2EE"/>
            </a:solidFill>
            <a:prstDash val="solid"/>
          </a:ln>
        </p:spPr>
      </p:sp>
      <p:sp>
        <p:nvSpPr>
          <p:cNvPr id="10" name="Shape 7"/>
          <p:cNvSpPr/>
          <p:nvPr/>
        </p:nvSpPr>
        <p:spPr>
          <a:xfrm>
            <a:off x="983894" y="2785262"/>
            <a:ext cx="115214" cy="115214"/>
          </a:xfrm>
          <a:prstGeom prst="rect">
            <a:avLst/>
          </a:prstGeom>
          <a:solidFill>
            <a:srgbClr val="004831"/>
          </a:solidFill>
          <a:ln w="12700">
            <a:solidFill>
              <a:srgbClr val="004831"/>
            </a:solidFill>
            <a:prstDash val="solid"/>
          </a:ln>
        </p:spPr>
      </p:sp>
      <p:sp>
        <p:nvSpPr>
          <p:cNvPr id="11" name="Shape 8"/>
          <p:cNvSpPr/>
          <p:nvPr/>
        </p:nvSpPr>
        <p:spPr>
          <a:xfrm>
            <a:off x="983894" y="2945282"/>
            <a:ext cx="115214" cy="115214"/>
          </a:xfrm>
          <a:prstGeom prst="rect">
            <a:avLst/>
          </a:prstGeom>
          <a:solidFill>
            <a:srgbClr val="004831"/>
          </a:solidFill>
          <a:ln w="12700">
            <a:solidFill>
              <a:srgbClr val="004831"/>
            </a:solidFill>
            <a:prstDash val="solid"/>
          </a:ln>
        </p:spPr>
      </p:sp>
      <p:sp>
        <p:nvSpPr>
          <p:cNvPr id="12" name="Shape 9"/>
          <p:cNvSpPr/>
          <p:nvPr/>
        </p:nvSpPr>
        <p:spPr>
          <a:xfrm>
            <a:off x="1143914" y="2785262"/>
            <a:ext cx="115214" cy="115214"/>
          </a:xfrm>
          <a:prstGeom prst="rect">
            <a:avLst/>
          </a:prstGeom>
          <a:solidFill>
            <a:srgbClr val="004831"/>
          </a:solidFill>
          <a:ln w="12700">
            <a:solidFill>
              <a:srgbClr val="004831"/>
            </a:solidFill>
            <a:prstDash val="solid"/>
          </a:ln>
        </p:spPr>
      </p:sp>
      <p:sp>
        <p:nvSpPr>
          <p:cNvPr id="13" name="Shape 10"/>
          <p:cNvSpPr/>
          <p:nvPr/>
        </p:nvSpPr>
        <p:spPr>
          <a:xfrm>
            <a:off x="1143914" y="2945282"/>
            <a:ext cx="115214" cy="115214"/>
          </a:xfrm>
          <a:prstGeom prst="rect">
            <a:avLst/>
          </a:prstGeom>
          <a:solidFill>
            <a:srgbClr val="004831"/>
          </a:solidFill>
          <a:ln w="12700">
            <a:solidFill>
              <a:srgbClr val="004831"/>
            </a:solidFill>
            <a:prstDash val="solid"/>
          </a:ln>
        </p:spPr>
      </p:sp>
      <p:sp>
        <p:nvSpPr>
          <p:cNvPr id="14" name="Text 11"/>
          <p:cNvSpPr/>
          <p:nvPr/>
        </p:nvSpPr>
        <p:spPr>
          <a:xfrm>
            <a:off x="804672" y="3502152"/>
            <a:ext cx="3017520" cy="320040"/>
          </a:xfrm>
          <a:prstGeom prst="rect">
            <a:avLst/>
          </a:prstGeom>
          <a:noFill/>
          <a:ln/>
        </p:spPr>
        <p:txBody>
          <a:bodyPr wrap="square" lIns="0" tIns="0" rIns="0" bIns="0" rtlCol="0" anchor="t">
            <a:spAutoFit/>
          </a:bodyPr>
          <a:lstStyle/>
          <a:p>
            <a:pPr indent="0" marL="0">
              <a:buNone/>
            </a:pPr>
            <a:r>
              <a:rPr lang="en-US" sz="1300" b="1" dirty="0">
                <a:solidFill>
                  <a:srgbClr val="004831"/>
                </a:solidFill>
                <a:latin typeface="Arial" pitchFamily="34" charset="0"/>
                <a:ea typeface="Arial" pitchFamily="34" charset="-122"/>
                <a:cs typeface="Arial" pitchFamily="34" charset="-120"/>
              </a:rPr>
              <a:t>For leadership</a:t>
            </a:r>
            <a:endParaRPr lang="en-US" sz="1300" dirty="0"/>
          </a:p>
        </p:txBody>
      </p:sp>
      <p:sp>
        <p:nvSpPr>
          <p:cNvPr id="15" name="Text 12"/>
          <p:cNvSpPr/>
          <p:nvPr/>
        </p:nvSpPr>
        <p:spPr>
          <a:xfrm>
            <a:off x="804672" y="3950208"/>
            <a:ext cx="3017520" cy="630936"/>
          </a:xfrm>
          <a:prstGeom prst="rect">
            <a:avLst/>
          </a:prstGeom>
          <a:noFill/>
          <a:ln/>
        </p:spPr>
        <p:txBody>
          <a:bodyPr wrap="square" lIns="0" tIns="0" rIns="0" bIns="0" rtlCol="0" anchor="t">
            <a:spAutoFit/>
          </a:bodyPr>
          <a:lstStyle/>
          <a:p>
            <a:pPr indent="0" marL="0">
              <a:buNone/>
            </a:pPr>
            <a:r>
              <a:rPr lang="en-US" sz="2200" b="1" dirty="0">
                <a:solidFill>
                  <a:srgbClr val="1F2522"/>
                </a:solidFill>
                <a:latin typeface="Arial" pitchFamily="34" charset="0"/>
                <a:ea typeface="Arial" pitchFamily="34" charset="-122"/>
                <a:cs typeface="Arial" pitchFamily="34" charset="-120"/>
              </a:rPr>
              <a:t>See work clearly</a:t>
            </a:r>
            <a:endParaRPr lang="en-US" sz="2200" dirty="0"/>
          </a:p>
        </p:txBody>
      </p:sp>
      <p:sp>
        <p:nvSpPr>
          <p:cNvPr id="16" name="Text 13"/>
          <p:cNvSpPr/>
          <p:nvPr/>
        </p:nvSpPr>
        <p:spPr>
          <a:xfrm>
            <a:off x="804672" y="4709160"/>
            <a:ext cx="3035808" cy="585216"/>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Stage and owner are visible</a:t>
            </a:r>
            <a:endParaRPr lang="en-US" sz="1500" dirty="0"/>
          </a:p>
          <a:p>
            <a:pPr indent="0" marL="0">
              <a:buNone/>
            </a:pPr>
            <a:r>
              <a:rPr lang="en-US" sz="1500" dirty="0">
                <a:solidFill>
                  <a:srgbClr val="68716C"/>
                </a:solidFill>
                <a:latin typeface="Arial" pitchFamily="34" charset="0"/>
                <a:ea typeface="Arial" pitchFamily="34" charset="-122"/>
                <a:cs typeface="Arial" pitchFamily="34" charset="-120"/>
              </a:rPr>
              <a:t>in the message queue.</a:t>
            </a:r>
            <a:endParaRPr lang="en-US" sz="1500" dirty="0"/>
          </a:p>
        </p:txBody>
      </p:sp>
      <p:sp>
        <p:nvSpPr>
          <p:cNvPr id="17" name="Shape 14"/>
          <p:cNvSpPr/>
          <p:nvPr/>
        </p:nvSpPr>
        <p:spPr>
          <a:xfrm>
            <a:off x="4325112" y="2350008"/>
            <a:ext cx="3547872" cy="3108960"/>
          </a:xfrm>
          <a:prstGeom prst="roundRect">
            <a:avLst>
              <a:gd name="adj" fmla="val 3529"/>
            </a:avLst>
          </a:prstGeom>
          <a:solidFill>
            <a:srgbClr val="FFFFFF"/>
          </a:solidFill>
          <a:ln w="12700">
            <a:solidFill>
              <a:srgbClr val="FFFFFF"/>
            </a:solidFill>
            <a:prstDash val="solid"/>
          </a:ln>
        </p:spPr>
      </p:sp>
      <p:sp>
        <p:nvSpPr>
          <p:cNvPr id="18" name="Shape 15"/>
          <p:cNvSpPr/>
          <p:nvPr/>
        </p:nvSpPr>
        <p:spPr>
          <a:xfrm>
            <a:off x="4581144" y="2606040"/>
            <a:ext cx="640080" cy="640080"/>
          </a:xfrm>
          <a:prstGeom prst="ellipse">
            <a:avLst/>
          </a:prstGeom>
          <a:solidFill>
            <a:srgbClr val="EAF2EE"/>
          </a:solidFill>
          <a:ln w="12700">
            <a:solidFill>
              <a:srgbClr val="EAF2EE"/>
            </a:solidFill>
            <a:prstDash val="solid"/>
          </a:ln>
        </p:spPr>
      </p:sp>
      <p:sp>
        <p:nvSpPr>
          <p:cNvPr id="19" name="Shape 16"/>
          <p:cNvSpPr/>
          <p:nvPr/>
        </p:nvSpPr>
        <p:spPr>
          <a:xfrm>
            <a:off x="4817974" y="2753258"/>
            <a:ext cx="166421" cy="166421"/>
          </a:xfrm>
          <a:prstGeom prst="ellipse">
            <a:avLst/>
          </a:prstGeom>
          <a:solidFill>
            <a:srgbClr val="004831"/>
          </a:solidFill>
          <a:ln w="12700">
            <a:solidFill>
              <a:srgbClr val="004831"/>
            </a:solidFill>
            <a:prstDash val="solid"/>
          </a:ln>
        </p:spPr>
      </p:sp>
      <p:sp>
        <p:nvSpPr>
          <p:cNvPr id="20" name="Shape 17"/>
          <p:cNvSpPr/>
          <p:nvPr/>
        </p:nvSpPr>
        <p:spPr>
          <a:xfrm>
            <a:off x="4747565" y="2958084"/>
            <a:ext cx="307238" cy="153619"/>
          </a:xfrm>
          <a:prstGeom prst="roundRect">
            <a:avLst/>
          </a:prstGeom>
          <a:solidFill>
            <a:srgbClr val="004831"/>
          </a:solidFill>
          <a:ln w="12700">
            <a:solidFill>
              <a:srgbClr val="004831"/>
            </a:solidFill>
            <a:prstDash val="solid"/>
          </a:ln>
        </p:spPr>
      </p:sp>
      <p:sp>
        <p:nvSpPr>
          <p:cNvPr id="21" name="Text 18"/>
          <p:cNvSpPr/>
          <p:nvPr/>
        </p:nvSpPr>
        <p:spPr>
          <a:xfrm>
            <a:off x="4581144" y="3502152"/>
            <a:ext cx="3017520" cy="320040"/>
          </a:xfrm>
          <a:prstGeom prst="rect">
            <a:avLst/>
          </a:prstGeom>
          <a:noFill/>
          <a:ln/>
        </p:spPr>
        <p:txBody>
          <a:bodyPr wrap="square" lIns="0" tIns="0" rIns="0" bIns="0" rtlCol="0" anchor="t">
            <a:spAutoFit/>
          </a:bodyPr>
          <a:lstStyle/>
          <a:p>
            <a:pPr indent="0" marL="0">
              <a:buNone/>
            </a:pPr>
            <a:r>
              <a:rPr lang="en-US" sz="1300" b="1" dirty="0">
                <a:solidFill>
                  <a:srgbClr val="004831"/>
                </a:solidFill>
                <a:latin typeface="Arial" pitchFamily="34" charset="0"/>
                <a:ea typeface="Arial" pitchFamily="34" charset="-122"/>
                <a:cs typeface="Arial" pitchFamily="34" charset="-120"/>
              </a:rPr>
              <a:t>For reviewers</a:t>
            </a:r>
            <a:endParaRPr lang="en-US" sz="1300" dirty="0"/>
          </a:p>
        </p:txBody>
      </p:sp>
      <p:sp>
        <p:nvSpPr>
          <p:cNvPr id="22" name="Text 19"/>
          <p:cNvSpPr/>
          <p:nvPr/>
        </p:nvSpPr>
        <p:spPr>
          <a:xfrm>
            <a:off x="4581144" y="3950208"/>
            <a:ext cx="3017520" cy="630936"/>
          </a:xfrm>
          <a:prstGeom prst="rect">
            <a:avLst/>
          </a:prstGeom>
          <a:noFill/>
          <a:ln/>
        </p:spPr>
        <p:txBody>
          <a:bodyPr wrap="square" lIns="0" tIns="0" rIns="0" bIns="0" rtlCol="0" anchor="t">
            <a:spAutoFit/>
          </a:bodyPr>
          <a:lstStyle/>
          <a:p>
            <a:pPr indent="0" marL="0">
              <a:buNone/>
            </a:pPr>
            <a:r>
              <a:rPr lang="en-US" sz="2200" b="1" dirty="0">
                <a:solidFill>
                  <a:srgbClr val="1F2522"/>
                </a:solidFill>
                <a:latin typeface="Arial" pitchFamily="34" charset="0"/>
                <a:ea typeface="Arial" pitchFamily="34" charset="-122"/>
                <a:cs typeface="Arial" pitchFamily="34" charset="-120"/>
              </a:rPr>
              <a:t>Focus on your work</a:t>
            </a:r>
            <a:endParaRPr lang="en-US" sz="2200" dirty="0"/>
          </a:p>
        </p:txBody>
      </p:sp>
      <p:sp>
        <p:nvSpPr>
          <p:cNvPr id="23" name="Text 20"/>
          <p:cNvSpPr/>
          <p:nvPr/>
        </p:nvSpPr>
        <p:spPr>
          <a:xfrm>
            <a:off x="4581144" y="4709160"/>
            <a:ext cx="3035808" cy="585216"/>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Review actions and assigned</a:t>
            </a:r>
            <a:endParaRPr lang="en-US" sz="1500" dirty="0"/>
          </a:p>
          <a:p>
            <a:pPr indent="0" marL="0">
              <a:buNone/>
            </a:pPr>
            <a:r>
              <a:rPr lang="en-US" sz="1500" dirty="0">
                <a:solidFill>
                  <a:srgbClr val="68716C"/>
                </a:solidFill>
                <a:latin typeface="Arial" pitchFamily="34" charset="0"/>
                <a:ea typeface="Arial" pitchFamily="34" charset="-122"/>
                <a:cs typeface="Arial" pitchFamily="34" charset="-120"/>
              </a:rPr>
              <a:t>messages in one place.</a:t>
            </a:r>
            <a:endParaRPr lang="en-US" sz="1500" dirty="0"/>
          </a:p>
        </p:txBody>
      </p:sp>
      <p:sp>
        <p:nvSpPr>
          <p:cNvPr id="24" name="Shape 21"/>
          <p:cNvSpPr/>
          <p:nvPr/>
        </p:nvSpPr>
        <p:spPr>
          <a:xfrm>
            <a:off x="8101584" y="2350008"/>
            <a:ext cx="3547872" cy="3108960"/>
          </a:xfrm>
          <a:prstGeom prst="roundRect">
            <a:avLst>
              <a:gd name="adj" fmla="val 3529"/>
            </a:avLst>
          </a:prstGeom>
          <a:solidFill>
            <a:srgbClr val="FFFFFF"/>
          </a:solidFill>
          <a:ln w="12700">
            <a:solidFill>
              <a:srgbClr val="FFFFFF"/>
            </a:solidFill>
            <a:prstDash val="solid"/>
          </a:ln>
        </p:spPr>
      </p:sp>
      <p:sp>
        <p:nvSpPr>
          <p:cNvPr id="25" name="Shape 22"/>
          <p:cNvSpPr/>
          <p:nvPr/>
        </p:nvSpPr>
        <p:spPr>
          <a:xfrm>
            <a:off x="8357616" y="2606040"/>
            <a:ext cx="640080" cy="640080"/>
          </a:xfrm>
          <a:prstGeom prst="ellipse">
            <a:avLst/>
          </a:prstGeom>
          <a:solidFill>
            <a:srgbClr val="EAF2EE"/>
          </a:solidFill>
          <a:ln w="12700">
            <a:solidFill>
              <a:srgbClr val="EAF2EE"/>
            </a:solidFill>
            <a:prstDash val="solid"/>
          </a:ln>
        </p:spPr>
      </p:sp>
      <p:sp>
        <p:nvSpPr>
          <p:cNvPr id="26" name="Shape 23"/>
          <p:cNvSpPr/>
          <p:nvPr/>
        </p:nvSpPr>
        <p:spPr>
          <a:xfrm>
            <a:off x="8517636" y="2766060"/>
            <a:ext cx="320040" cy="320040"/>
          </a:xfrm>
          <a:prstGeom prst="ellipse">
            <a:avLst/>
          </a:prstGeom>
          <a:solidFill>
            <a:srgbClr val="EAF2EE"/>
          </a:solidFill>
          <a:ln w="12700">
            <a:solidFill>
              <a:srgbClr val="004831"/>
            </a:solidFill>
            <a:prstDash val="solid"/>
          </a:ln>
        </p:spPr>
      </p:sp>
      <p:sp>
        <p:nvSpPr>
          <p:cNvPr id="27" name="Shape 24"/>
          <p:cNvSpPr/>
          <p:nvPr/>
        </p:nvSpPr>
        <p:spPr>
          <a:xfrm>
            <a:off x="8677656" y="2830068"/>
            <a:ext cx="0" cy="102413"/>
          </a:xfrm>
          <a:prstGeom prst="line">
            <a:avLst/>
          </a:prstGeom>
          <a:noFill/>
          <a:ln w="21590">
            <a:solidFill>
              <a:srgbClr val="004831"/>
            </a:solidFill>
            <a:prstDash val="solid"/>
            <a:headEnd type="none"/>
            <a:tailEnd type="none"/>
          </a:ln>
        </p:spPr>
      </p:sp>
      <p:sp>
        <p:nvSpPr>
          <p:cNvPr id="28" name="Shape 25"/>
          <p:cNvSpPr/>
          <p:nvPr/>
        </p:nvSpPr>
        <p:spPr>
          <a:xfrm>
            <a:off x="8677656" y="2932481"/>
            <a:ext cx="83210" cy="51206"/>
          </a:xfrm>
          <a:prstGeom prst="line">
            <a:avLst/>
          </a:prstGeom>
          <a:noFill/>
          <a:ln w="21590">
            <a:solidFill>
              <a:srgbClr val="004831"/>
            </a:solidFill>
            <a:prstDash val="solid"/>
            <a:headEnd type="none"/>
            <a:tailEnd type="none"/>
          </a:ln>
        </p:spPr>
      </p:sp>
      <p:sp>
        <p:nvSpPr>
          <p:cNvPr id="29" name="Text 26"/>
          <p:cNvSpPr/>
          <p:nvPr/>
        </p:nvSpPr>
        <p:spPr>
          <a:xfrm>
            <a:off x="8357616" y="3502152"/>
            <a:ext cx="3017520" cy="320040"/>
          </a:xfrm>
          <a:prstGeom prst="rect">
            <a:avLst/>
          </a:prstGeom>
          <a:noFill/>
          <a:ln/>
        </p:spPr>
        <p:txBody>
          <a:bodyPr wrap="square" lIns="0" tIns="0" rIns="0" bIns="0" rtlCol="0" anchor="t">
            <a:spAutoFit/>
          </a:bodyPr>
          <a:lstStyle/>
          <a:p>
            <a:pPr indent="0" marL="0">
              <a:buNone/>
            </a:pPr>
            <a:r>
              <a:rPr lang="en-US" sz="1300" b="1" dirty="0">
                <a:solidFill>
                  <a:srgbClr val="004831"/>
                </a:solidFill>
                <a:latin typeface="Arial" pitchFamily="34" charset="0"/>
                <a:ea typeface="Arial" pitchFamily="34" charset="-122"/>
                <a:cs typeface="Arial" pitchFamily="34" charset="-120"/>
              </a:rPr>
              <a:t>For control teams</a:t>
            </a:r>
            <a:endParaRPr lang="en-US" sz="1300" dirty="0"/>
          </a:p>
        </p:txBody>
      </p:sp>
      <p:sp>
        <p:nvSpPr>
          <p:cNvPr id="30" name="Text 27"/>
          <p:cNvSpPr/>
          <p:nvPr/>
        </p:nvSpPr>
        <p:spPr>
          <a:xfrm>
            <a:off x="8357616" y="3950208"/>
            <a:ext cx="3017520" cy="630936"/>
          </a:xfrm>
          <a:prstGeom prst="rect">
            <a:avLst/>
          </a:prstGeom>
          <a:noFill/>
          <a:ln/>
        </p:spPr>
        <p:txBody>
          <a:bodyPr wrap="square" lIns="0" tIns="0" rIns="0" bIns="0" rtlCol="0" anchor="t">
            <a:spAutoFit/>
          </a:bodyPr>
          <a:lstStyle/>
          <a:p>
            <a:pPr indent="0" marL="0">
              <a:buNone/>
            </a:pPr>
            <a:r>
              <a:rPr lang="en-US" sz="2200" b="1" dirty="0">
                <a:solidFill>
                  <a:srgbClr val="1F2522"/>
                </a:solidFill>
                <a:latin typeface="Arial" pitchFamily="34" charset="0"/>
                <a:ea typeface="Arial" pitchFamily="34" charset="-122"/>
                <a:cs typeface="Arial" pitchFamily="34" charset="-120"/>
              </a:rPr>
              <a:t>Trace the decision</a:t>
            </a:r>
            <a:endParaRPr lang="en-US" sz="2200" dirty="0"/>
          </a:p>
        </p:txBody>
      </p:sp>
      <p:sp>
        <p:nvSpPr>
          <p:cNvPr id="31" name="Text 28"/>
          <p:cNvSpPr/>
          <p:nvPr/>
        </p:nvSpPr>
        <p:spPr>
          <a:xfrm>
            <a:off x="8357616" y="4709160"/>
            <a:ext cx="3035808" cy="585216"/>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History links actions to people,</a:t>
            </a:r>
            <a:endParaRPr lang="en-US" sz="1500" dirty="0"/>
          </a:p>
          <a:p>
            <a:pPr indent="0" marL="0">
              <a:buNone/>
            </a:pPr>
            <a:r>
              <a:rPr lang="en-US" sz="1500" dirty="0">
                <a:solidFill>
                  <a:srgbClr val="68716C"/>
                </a:solidFill>
                <a:latin typeface="Arial" pitchFamily="34" charset="0"/>
                <a:ea typeface="Arial" pitchFamily="34" charset="-122"/>
                <a:cs typeface="Arial" pitchFamily="34" charset="-120"/>
              </a:rPr>
              <a:t>times and workflow changes.</a:t>
            </a:r>
            <a:endParaRPr lang="en-US" sz="1500" dirty="0"/>
          </a:p>
        </p:txBody>
      </p:sp>
      <p:sp>
        <p:nvSpPr>
          <p:cNvPr id="32" name="Text 29"/>
          <p:cNvSpPr/>
          <p:nvPr/>
        </p:nvSpPr>
        <p:spPr>
          <a:xfrm>
            <a:off x="548640" y="5998464"/>
            <a:ext cx="11064240" cy="320040"/>
          </a:xfrm>
          <a:prstGeom prst="rect">
            <a:avLst/>
          </a:prstGeom>
          <a:noFill/>
          <a:ln/>
        </p:spPr>
        <p:txBody>
          <a:bodyPr wrap="square" lIns="0" tIns="0" rIns="0" bIns="0" rtlCol="0" anchor="t">
            <a:spAutoFit/>
          </a:bodyPr>
          <a:lstStyle/>
          <a:p>
            <a:pPr indent="0" marL="0">
              <a:buNone/>
            </a:pPr>
            <a:r>
              <a:rPr lang="en-US" sz="1100" dirty="0">
                <a:solidFill>
                  <a:srgbClr val="68716C"/>
                </a:solidFill>
                <a:latin typeface="Arial" pitchFamily="34" charset="0"/>
                <a:ea typeface="Arial" pitchFamily="34" charset="-122"/>
                <a:cs typeface="Arial" pitchFamily="34" charset="-120"/>
              </a:rPr>
              <a:t>Expected operating benefits; their scale will be measured during the pilot.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6"/>
        </a:solidFill>
      </p:bgPr>
    </p:bg>
    <p:spTree>
      <p:nvGrpSpPr>
        <p:cNvPr id="1" name=""/>
        <p:cNvGrpSpPr/>
        <p:nvPr/>
      </p:nvGrpSpPr>
      <p:grpSpPr>
        <a:xfrm>
          <a:off x="0" y="0"/>
          <a:ext cx="0" cy="0"/>
          <a:chOff x="0" y="0"/>
          <a:chExt cx="0" cy="0"/>
        </a:xfrm>
      </p:grpSpPr>
      <p:sp>
        <p:nvSpPr>
          <p:cNvPr id="2" name="Text 0"/>
          <p:cNvSpPr/>
          <p:nvPr/>
        </p:nvSpPr>
        <p:spPr>
          <a:xfrm>
            <a:off x="548640" y="429768"/>
            <a:ext cx="10058400" cy="210312"/>
          </a:xfrm>
          <a:prstGeom prst="rect">
            <a:avLst/>
          </a:prstGeom>
          <a:noFill/>
          <a:ln/>
        </p:spPr>
        <p:txBody>
          <a:bodyPr wrap="square" lIns="0" tIns="0" rIns="0" bIns="0" rtlCol="0" anchor="t">
            <a:spAutoFit/>
          </a:bodyPr>
          <a:lstStyle/>
          <a:p>
            <a:pPr indent="0" marL="0">
              <a:buNone/>
            </a:pPr>
            <a:r>
              <a:rPr lang="en-US" sz="1100" b="1" dirty="0">
                <a:solidFill>
                  <a:srgbClr val="004831"/>
                </a:solidFill>
                <a:latin typeface="Arial" pitchFamily="34" charset="0"/>
                <a:ea typeface="Arial" pitchFamily="34" charset="-122"/>
                <a:cs typeface="Arial" pitchFamily="34" charset="-120"/>
              </a:rPr>
              <a:t>The message journey</a:t>
            </a:r>
            <a:endParaRPr lang="en-US" sz="1100" dirty="0"/>
          </a:p>
        </p:txBody>
      </p:sp>
      <p:sp>
        <p:nvSpPr>
          <p:cNvPr id="3" name="Text 1"/>
          <p:cNvSpPr/>
          <p:nvPr/>
        </p:nvSpPr>
        <p:spPr>
          <a:xfrm>
            <a:off x="530352" y="868680"/>
            <a:ext cx="11064240" cy="621792"/>
          </a:xfrm>
          <a:prstGeom prst="rect">
            <a:avLst/>
          </a:prstGeom>
          <a:noFill/>
          <a:ln/>
        </p:spPr>
        <p:txBody>
          <a:bodyPr wrap="square" lIns="0" tIns="0" rIns="0" bIns="0" rtlCol="0" anchor="t">
            <a:spAutoFit/>
          </a:bodyPr>
          <a:lstStyle/>
          <a:p>
            <a:pPr indent="0" marL="0">
              <a:buNone/>
            </a:pPr>
            <a:r>
              <a:rPr lang="en-US" sz="3400" b="1" dirty="0">
                <a:solidFill>
                  <a:srgbClr val="1F2522"/>
                </a:solidFill>
                <a:latin typeface="Arial" pitchFamily="34" charset="0"/>
                <a:ea typeface="Arial" pitchFamily="34" charset="-122"/>
                <a:cs typeface="Arial" pitchFamily="34" charset="-120"/>
              </a:rPr>
              <a:t>Every message follows a visible path</a:t>
            </a:r>
            <a:endParaRPr lang="en-US" sz="3400" dirty="0"/>
          </a:p>
        </p:txBody>
      </p:sp>
      <p:sp>
        <p:nvSpPr>
          <p:cNvPr id="4" name="Text 2"/>
          <p:cNvSpPr/>
          <p:nvPr/>
        </p:nvSpPr>
        <p:spPr>
          <a:xfrm>
            <a:off x="548640" y="1572768"/>
            <a:ext cx="10927080" cy="502920"/>
          </a:xfrm>
          <a:prstGeom prst="rect">
            <a:avLst/>
          </a:prstGeom>
          <a:noFill/>
          <a:ln/>
        </p:spPr>
        <p:txBody>
          <a:bodyPr wrap="square" lIns="0" tIns="0" rIns="0" bIns="0" rtlCol="0" anchor="t">
            <a:spAutoFit/>
          </a:bodyPr>
          <a:lstStyle/>
          <a:p>
            <a:pPr indent="0" marL="0">
              <a:buNone/>
            </a:pPr>
            <a:r>
              <a:rPr lang="en-US" sz="1600" dirty="0">
                <a:solidFill>
                  <a:srgbClr val="68716C"/>
                </a:solidFill>
                <a:latin typeface="Arial" pitchFamily="34" charset="0"/>
                <a:ea typeface="Arial" pitchFamily="34" charset="-122"/>
                <a:cs typeface="Arial" pitchFamily="34" charset="-120"/>
              </a:rPr>
              <a:t>The workflow records progress from registration to the final review outcome.</a:t>
            </a:r>
            <a:endParaRPr lang="en-US" sz="1600" dirty="0"/>
          </a:p>
        </p:txBody>
      </p:sp>
      <p:sp>
        <p:nvSpPr>
          <p:cNvPr id="5" name="Text 3"/>
          <p:cNvSpPr/>
          <p:nvPr/>
        </p:nvSpPr>
        <p:spPr>
          <a:xfrm>
            <a:off x="530352" y="6455664"/>
            <a:ext cx="7315200" cy="164592"/>
          </a:xfrm>
          <a:prstGeom prst="rect">
            <a:avLst/>
          </a:prstGeom>
          <a:noFill/>
          <a:ln/>
        </p:spPr>
        <p:txBody>
          <a:bodyPr wrap="square" lIns="0" tIns="0" rIns="0" bIns="0" rtlCol="0" anchor="t">
            <a:spAutoFit/>
          </a:bodyPr>
          <a:lstStyle/>
          <a:p>
            <a:pPr indent="0" marL="0">
              <a:buNone/>
            </a:pPr>
            <a:r>
              <a:rPr lang="en-US" sz="900" dirty="0">
                <a:solidFill>
                  <a:srgbClr val="68716C"/>
                </a:solidFill>
                <a:latin typeface="Arial" pitchFamily="34" charset="0"/>
                <a:ea typeface="Arial" pitchFamily="34" charset="-122"/>
                <a:cs typeface="Arial" pitchFamily="34" charset="-120"/>
              </a:rPr>
              <a:t>ORP  /  Operations Reporting and Processing</a:t>
            </a:r>
            <a:endParaRPr lang="en-US" sz="900" dirty="0"/>
          </a:p>
        </p:txBody>
      </p:sp>
      <p:sp>
        <p:nvSpPr>
          <p:cNvPr id="6" name="Text 4"/>
          <p:cNvSpPr/>
          <p:nvPr/>
        </p:nvSpPr>
        <p:spPr>
          <a:xfrm>
            <a:off x="11064240" y="6419088"/>
            <a:ext cx="566928" cy="228600"/>
          </a:xfrm>
          <a:prstGeom prst="rect">
            <a:avLst/>
          </a:prstGeom>
          <a:noFill/>
          <a:ln/>
        </p:spPr>
        <p:txBody>
          <a:bodyPr wrap="square" lIns="0" tIns="0" rIns="0" bIns="0" rtlCol="0" anchor="t">
            <a:spAutoFit/>
          </a:bodyPr>
          <a:lstStyle/>
          <a:p>
            <a:pPr algn="r" indent="0" marL="0">
              <a:buNone/>
            </a:pPr>
            <a:r>
              <a:rPr lang="en-US" sz="1100" dirty="0">
                <a:solidFill>
                  <a:srgbClr val="68716C"/>
                </a:solidFill>
                <a:latin typeface="Arial" pitchFamily="34" charset="0"/>
                <a:ea typeface="Arial" pitchFamily="34" charset="-122"/>
                <a:cs typeface="Arial" pitchFamily="34" charset="-120"/>
              </a:rPr>
              <a:t>03</a:t>
            </a:r>
            <a:endParaRPr lang="en-US" sz="1100" dirty="0"/>
          </a:p>
        </p:txBody>
      </p:sp>
      <p:sp>
        <p:nvSpPr>
          <p:cNvPr id="8" name="Shape 5"/>
          <p:cNvSpPr/>
          <p:nvPr/>
        </p:nvSpPr>
        <p:spPr>
          <a:xfrm>
            <a:off x="548640" y="2606040"/>
            <a:ext cx="1920240" cy="1673352"/>
          </a:xfrm>
          <a:prstGeom prst="roundRect">
            <a:avLst>
              <a:gd name="adj" fmla="val 6557"/>
            </a:avLst>
          </a:prstGeom>
          <a:solidFill>
            <a:srgbClr val="FFFFFF"/>
          </a:solidFill>
          <a:ln w="12700">
            <a:solidFill>
              <a:srgbClr val="FFFFFF"/>
            </a:solidFill>
            <a:prstDash val="solid"/>
          </a:ln>
        </p:spPr>
      </p:sp>
      <p:sp>
        <p:nvSpPr>
          <p:cNvPr id="9" name="Shape 6"/>
          <p:cNvSpPr/>
          <p:nvPr/>
        </p:nvSpPr>
        <p:spPr>
          <a:xfrm>
            <a:off x="731520" y="2816352"/>
            <a:ext cx="438912" cy="438912"/>
          </a:xfrm>
          <a:prstGeom prst="ellipse">
            <a:avLst/>
          </a:prstGeom>
          <a:solidFill>
            <a:srgbClr val="EAF2EE"/>
          </a:solidFill>
          <a:ln w="12700">
            <a:solidFill>
              <a:srgbClr val="EAF2EE"/>
            </a:solidFill>
            <a:prstDash val="solid"/>
          </a:ln>
        </p:spPr>
      </p:sp>
      <p:sp>
        <p:nvSpPr>
          <p:cNvPr id="10" name="Text 7"/>
          <p:cNvSpPr/>
          <p:nvPr/>
        </p:nvSpPr>
        <p:spPr>
          <a:xfrm>
            <a:off x="731520" y="2916936"/>
            <a:ext cx="438912" cy="274320"/>
          </a:xfrm>
          <a:prstGeom prst="rect">
            <a:avLst/>
          </a:prstGeom>
          <a:noFill/>
          <a:ln/>
        </p:spPr>
        <p:txBody>
          <a:bodyPr wrap="square" lIns="0" tIns="0" rIns="0" bIns="0" rtlCol="0" anchor="t">
            <a:spAutoFit/>
          </a:bodyPr>
          <a:lstStyle/>
          <a:p>
            <a:pPr algn="ctr" indent="0" marL="0">
              <a:buNone/>
            </a:pPr>
            <a:r>
              <a:rPr lang="en-US" sz="1700" b="1" dirty="0">
                <a:solidFill>
                  <a:srgbClr val="004831"/>
                </a:solidFill>
                <a:latin typeface="Arial" pitchFamily="34" charset="0"/>
                <a:ea typeface="Arial" pitchFamily="34" charset="-122"/>
                <a:cs typeface="Arial" pitchFamily="34" charset="-120"/>
              </a:rPr>
              <a:t>01</a:t>
            </a:r>
            <a:endParaRPr lang="en-US" sz="1700" dirty="0"/>
          </a:p>
        </p:txBody>
      </p:sp>
      <p:sp>
        <p:nvSpPr>
          <p:cNvPr id="11" name="Text 8"/>
          <p:cNvSpPr/>
          <p:nvPr/>
        </p:nvSpPr>
        <p:spPr>
          <a:xfrm>
            <a:off x="731520" y="3438144"/>
            <a:ext cx="1581912" cy="310896"/>
          </a:xfrm>
          <a:prstGeom prst="rect">
            <a:avLst/>
          </a:prstGeom>
          <a:noFill/>
          <a:ln/>
        </p:spPr>
        <p:txBody>
          <a:bodyPr wrap="square" lIns="0" tIns="0" rIns="0" bIns="0" rtlCol="0" anchor="t">
            <a:spAutoFit/>
          </a:bodyPr>
          <a:lstStyle/>
          <a:p>
            <a:pPr indent="0" marL="0">
              <a:buNone/>
            </a:pPr>
            <a:r>
              <a:rPr lang="en-US" sz="2100" b="1" dirty="0">
                <a:solidFill>
                  <a:srgbClr val="1F2522"/>
                </a:solidFill>
                <a:latin typeface="Arial" pitchFamily="34" charset="0"/>
                <a:ea typeface="Arial" pitchFamily="34" charset="-122"/>
                <a:cs typeface="Arial" pitchFamily="34" charset="-120"/>
              </a:rPr>
              <a:t>Receive</a:t>
            </a:r>
            <a:endParaRPr lang="en-US" sz="2100" dirty="0"/>
          </a:p>
        </p:txBody>
      </p:sp>
      <p:sp>
        <p:nvSpPr>
          <p:cNvPr id="12" name="Text 9"/>
          <p:cNvSpPr/>
          <p:nvPr/>
        </p:nvSpPr>
        <p:spPr>
          <a:xfrm>
            <a:off x="731520" y="3886200"/>
            <a:ext cx="1591056" cy="228600"/>
          </a:xfrm>
          <a:prstGeom prst="rect">
            <a:avLst/>
          </a:prstGeom>
          <a:noFill/>
          <a:ln/>
        </p:spPr>
        <p:txBody>
          <a:bodyPr wrap="square" lIns="0" tIns="0" rIns="0" bIns="0" rtlCol="0" anchor="t">
            <a:spAutoFit/>
          </a:bodyPr>
          <a:lstStyle/>
          <a:p>
            <a:pPr indent="0" marL="0">
              <a:buNone/>
            </a:pPr>
            <a:r>
              <a:rPr lang="en-US" sz="1200" dirty="0">
                <a:solidFill>
                  <a:srgbClr val="68716C"/>
                </a:solidFill>
                <a:latin typeface="Arial" pitchFamily="34" charset="0"/>
                <a:ea typeface="Arial" pitchFamily="34" charset="-122"/>
                <a:cs typeface="Arial" pitchFamily="34" charset="-120"/>
              </a:rPr>
              <a:t>Source message</a:t>
            </a:r>
            <a:endParaRPr lang="en-US" sz="1200" dirty="0"/>
          </a:p>
        </p:txBody>
      </p:sp>
      <p:sp>
        <p:nvSpPr>
          <p:cNvPr id="13" name="Shape 10"/>
          <p:cNvSpPr/>
          <p:nvPr/>
        </p:nvSpPr>
        <p:spPr>
          <a:xfrm>
            <a:off x="2523744" y="3438144"/>
            <a:ext cx="265176" cy="0"/>
          </a:xfrm>
          <a:prstGeom prst="line">
            <a:avLst/>
          </a:prstGeom>
          <a:noFill/>
          <a:ln w="21590">
            <a:solidFill>
              <a:srgbClr val="004831"/>
            </a:solidFill>
            <a:prstDash val="solid"/>
            <a:headEnd type="none"/>
            <a:tailEnd type="triangle"/>
          </a:ln>
        </p:spPr>
      </p:sp>
      <p:sp>
        <p:nvSpPr>
          <p:cNvPr id="14" name="Shape 11"/>
          <p:cNvSpPr/>
          <p:nvPr/>
        </p:nvSpPr>
        <p:spPr>
          <a:xfrm>
            <a:off x="2852928" y="2606040"/>
            <a:ext cx="1920240" cy="1673352"/>
          </a:xfrm>
          <a:prstGeom prst="roundRect">
            <a:avLst>
              <a:gd name="adj" fmla="val 6557"/>
            </a:avLst>
          </a:prstGeom>
          <a:solidFill>
            <a:srgbClr val="FFFFFF"/>
          </a:solidFill>
          <a:ln w="12700">
            <a:solidFill>
              <a:srgbClr val="FFFFFF"/>
            </a:solidFill>
            <a:prstDash val="solid"/>
          </a:ln>
        </p:spPr>
      </p:sp>
      <p:sp>
        <p:nvSpPr>
          <p:cNvPr id="15" name="Shape 12"/>
          <p:cNvSpPr/>
          <p:nvPr/>
        </p:nvSpPr>
        <p:spPr>
          <a:xfrm>
            <a:off x="3035808" y="2816352"/>
            <a:ext cx="438912" cy="438912"/>
          </a:xfrm>
          <a:prstGeom prst="ellipse">
            <a:avLst/>
          </a:prstGeom>
          <a:solidFill>
            <a:srgbClr val="EAF2EE"/>
          </a:solidFill>
          <a:ln w="12700">
            <a:solidFill>
              <a:srgbClr val="EAF2EE"/>
            </a:solidFill>
            <a:prstDash val="solid"/>
          </a:ln>
        </p:spPr>
      </p:sp>
      <p:sp>
        <p:nvSpPr>
          <p:cNvPr id="16" name="Text 13"/>
          <p:cNvSpPr/>
          <p:nvPr/>
        </p:nvSpPr>
        <p:spPr>
          <a:xfrm>
            <a:off x="3035808" y="2916936"/>
            <a:ext cx="438912" cy="274320"/>
          </a:xfrm>
          <a:prstGeom prst="rect">
            <a:avLst/>
          </a:prstGeom>
          <a:noFill/>
          <a:ln/>
        </p:spPr>
        <p:txBody>
          <a:bodyPr wrap="square" lIns="0" tIns="0" rIns="0" bIns="0" rtlCol="0" anchor="t">
            <a:spAutoFit/>
          </a:bodyPr>
          <a:lstStyle/>
          <a:p>
            <a:pPr algn="ctr" indent="0" marL="0">
              <a:buNone/>
            </a:pPr>
            <a:r>
              <a:rPr lang="en-US" sz="1700" b="1" dirty="0">
                <a:solidFill>
                  <a:srgbClr val="004831"/>
                </a:solidFill>
                <a:latin typeface="Arial" pitchFamily="34" charset="0"/>
                <a:ea typeface="Arial" pitchFamily="34" charset="-122"/>
                <a:cs typeface="Arial" pitchFamily="34" charset="-120"/>
              </a:rPr>
              <a:t>02</a:t>
            </a:r>
            <a:endParaRPr lang="en-US" sz="1700" dirty="0"/>
          </a:p>
        </p:txBody>
      </p:sp>
      <p:sp>
        <p:nvSpPr>
          <p:cNvPr id="17" name="Text 14"/>
          <p:cNvSpPr/>
          <p:nvPr/>
        </p:nvSpPr>
        <p:spPr>
          <a:xfrm>
            <a:off x="3035808" y="3438144"/>
            <a:ext cx="1581912" cy="310896"/>
          </a:xfrm>
          <a:prstGeom prst="rect">
            <a:avLst/>
          </a:prstGeom>
          <a:noFill/>
          <a:ln/>
        </p:spPr>
        <p:txBody>
          <a:bodyPr wrap="square" lIns="0" tIns="0" rIns="0" bIns="0" rtlCol="0" anchor="t">
            <a:spAutoFit/>
          </a:bodyPr>
          <a:lstStyle/>
          <a:p>
            <a:pPr indent="0" marL="0">
              <a:buNone/>
            </a:pPr>
            <a:r>
              <a:rPr lang="en-US" sz="2100" b="1" dirty="0">
                <a:solidFill>
                  <a:srgbClr val="1F2522"/>
                </a:solidFill>
                <a:latin typeface="Arial" pitchFamily="34" charset="0"/>
                <a:ea typeface="Arial" pitchFamily="34" charset="-122"/>
                <a:cs typeface="Arial" pitchFamily="34" charset="-120"/>
              </a:rPr>
              <a:t>Register</a:t>
            </a:r>
            <a:endParaRPr lang="en-US" sz="2100" dirty="0"/>
          </a:p>
        </p:txBody>
      </p:sp>
      <p:sp>
        <p:nvSpPr>
          <p:cNvPr id="18" name="Text 15"/>
          <p:cNvSpPr/>
          <p:nvPr/>
        </p:nvSpPr>
        <p:spPr>
          <a:xfrm>
            <a:off x="3035808" y="3886200"/>
            <a:ext cx="1591056" cy="228600"/>
          </a:xfrm>
          <a:prstGeom prst="rect">
            <a:avLst/>
          </a:prstGeom>
          <a:noFill/>
          <a:ln/>
        </p:spPr>
        <p:txBody>
          <a:bodyPr wrap="square" lIns="0" tIns="0" rIns="0" bIns="0" rtlCol="0" anchor="t">
            <a:spAutoFit/>
          </a:bodyPr>
          <a:lstStyle/>
          <a:p>
            <a:pPr indent="0" marL="0">
              <a:buNone/>
            </a:pPr>
            <a:r>
              <a:rPr lang="en-US" sz="1200" dirty="0">
                <a:solidFill>
                  <a:srgbClr val="68716C"/>
                </a:solidFill>
                <a:latin typeface="Arial" pitchFamily="34" charset="0"/>
                <a:ea typeface="Arial" pitchFamily="34" charset="-122"/>
                <a:cs typeface="Arial" pitchFamily="34" charset="-120"/>
              </a:rPr>
              <a:t>Apply workflow</a:t>
            </a:r>
            <a:endParaRPr lang="en-US" sz="1200" dirty="0"/>
          </a:p>
        </p:txBody>
      </p:sp>
      <p:sp>
        <p:nvSpPr>
          <p:cNvPr id="19" name="Shape 16"/>
          <p:cNvSpPr/>
          <p:nvPr/>
        </p:nvSpPr>
        <p:spPr>
          <a:xfrm>
            <a:off x="4828032" y="3438144"/>
            <a:ext cx="265176" cy="0"/>
          </a:xfrm>
          <a:prstGeom prst="line">
            <a:avLst/>
          </a:prstGeom>
          <a:noFill/>
          <a:ln w="21590">
            <a:solidFill>
              <a:srgbClr val="004831"/>
            </a:solidFill>
            <a:prstDash val="solid"/>
            <a:headEnd type="none"/>
            <a:tailEnd type="triangle"/>
          </a:ln>
        </p:spPr>
      </p:sp>
      <p:sp>
        <p:nvSpPr>
          <p:cNvPr id="20" name="Shape 17"/>
          <p:cNvSpPr/>
          <p:nvPr/>
        </p:nvSpPr>
        <p:spPr>
          <a:xfrm>
            <a:off x="5157216" y="2606040"/>
            <a:ext cx="1920240" cy="1673352"/>
          </a:xfrm>
          <a:prstGeom prst="roundRect">
            <a:avLst>
              <a:gd name="adj" fmla="val 6557"/>
            </a:avLst>
          </a:prstGeom>
          <a:solidFill>
            <a:srgbClr val="FFFFFF"/>
          </a:solidFill>
          <a:ln w="12700">
            <a:solidFill>
              <a:srgbClr val="FFFFFF"/>
            </a:solidFill>
            <a:prstDash val="solid"/>
          </a:ln>
        </p:spPr>
      </p:sp>
      <p:sp>
        <p:nvSpPr>
          <p:cNvPr id="21" name="Shape 18"/>
          <p:cNvSpPr/>
          <p:nvPr/>
        </p:nvSpPr>
        <p:spPr>
          <a:xfrm>
            <a:off x="5340096" y="2816352"/>
            <a:ext cx="438912" cy="438912"/>
          </a:xfrm>
          <a:prstGeom prst="ellipse">
            <a:avLst/>
          </a:prstGeom>
          <a:solidFill>
            <a:srgbClr val="EAF2EE"/>
          </a:solidFill>
          <a:ln w="12700">
            <a:solidFill>
              <a:srgbClr val="EAF2EE"/>
            </a:solidFill>
            <a:prstDash val="solid"/>
          </a:ln>
        </p:spPr>
      </p:sp>
      <p:sp>
        <p:nvSpPr>
          <p:cNvPr id="22" name="Text 19"/>
          <p:cNvSpPr/>
          <p:nvPr/>
        </p:nvSpPr>
        <p:spPr>
          <a:xfrm>
            <a:off x="5340096" y="2916936"/>
            <a:ext cx="438912" cy="274320"/>
          </a:xfrm>
          <a:prstGeom prst="rect">
            <a:avLst/>
          </a:prstGeom>
          <a:noFill/>
          <a:ln/>
        </p:spPr>
        <p:txBody>
          <a:bodyPr wrap="square" lIns="0" tIns="0" rIns="0" bIns="0" rtlCol="0" anchor="t">
            <a:spAutoFit/>
          </a:bodyPr>
          <a:lstStyle/>
          <a:p>
            <a:pPr algn="ctr" indent="0" marL="0">
              <a:buNone/>
            </a:pPr>
            <a:r>
              <a:rPr lang="en-US" sz="1700" b="1" dirty="0">
                <a:solidFill>
                  <a:srgbClr val="004831"/>
                </a:solidFill>
                <a:latin typeface="Arial" pitchFamily="34" charset="0"/>
                <a:ea typeface="Arial" pitchFamily="34" charset="-122"/>
                <a:cs typeface="Arial" pitchFamily="34" charset="-120"/>
              </a:rPr>
              <a:t>03</a:t>
            </a:r>
            <a:endParaRPr lang="en-US" sz="1700" dirty="0"/>
          </a:p>
        </p:txBody>
      </p:sp>
      <p:sp>
        <p:nvSpPr>
          <p:cNvPr id="23" name="Text 20"/>
          <p:cNvSpPr/>
          <p:nvPr/>
        </p:nvSpPr>
        <p:spPr>
          <a:xfrm>
            <a:off x="5340096" y="3438144"/>
            <a:ext cx="1581912" cy="310896"/>
          </a:xfrm>
          <a:prstGeom prst="rect">
            <a:avLst/>
          </a:prstGeom>
          <a:noFill/>
          <a:ln/>
        </p:spPr>
        <p:txBody>
          <a:bodyPr wrap="square" lIns="0" tIns="0" rIns="0" bIns="0" rtlCol="0" anchor="t">
            <a:spAutoFit/>
          </a:bodyPr>
          <a:lstStyle/>
          <a:p>
            <a:pPr indent="0" marL="0">
              <a:buNone/>
            </a:pPr>
            <a:r>
              <a:rPr lang="en-US" sz="2100" b="1" dirty="0">
                <a:solidFill>
                  <a:srgbClr val="1F2522"/>
                </a:solidFill>
                <a:latin typeface="Arial" pitchFamily="34" charset="0"/>
                <a:ea typeface="Arial" pitchFamily="34" charset="-122"/>
                <a:cs typeface="Arial" pitchFamily="34" charset="-120"/>
              </a:rPr>
              <a:t>Assign</a:t>
            </a:r>
            <a:endParaRPr lang="en-US" sz="2100" dirty="0"/>
          </a:p>
        </p:txBody>
      </p:sp>
      <p:sp>
        <p:nvSpPr>
          <p:cNvPr id="24" name="Text 21"/>
          <p:cNvSpPr/>
          <p:nvPr/>
        </p:nvSpPr>
        <p:spPr>
          <a:xfrm>
            <a:off x="5340096" y="3886200"/>
            <a:ext cx="1591056" cy="228600"/>
          </a:xfrm>
          <a:prstGeom prst="rect">
            <a:avLst/>
          </a:prstGeom>
          <a:noFill/>
          <a:ln/>
        </p:spPr>
        <p:txBody>
          <a:bodyPr wrap="square" lIns="0" tIns="0" rIns="0" bIns="0" rtlCol="0" anchor="t">
            <a:spAutoFit/>
          </a:bodyPr>
          <a:lstStyle/>
          <a:p>
            <a:pPr indent="0" marL="0">
              <a:buNone/>
            </a:pPr>
            <a:r>
              <a:rPr lang="en-US" sz="1200" dirty="0">
                <a:solidFill>
                  <a:srgbClr val="68716C"/>
                </a:solidFill>
                <a:latin typeface="Arial" pitchFamily="34" charset="0"/>
                <a:ea typeface="Arial" pitchFamily="34" charset="-122"/>
                <a:cs typeface="Arial" pitchFamily="34" charset="-120"/>
              </a:rPr>
              <a:t>Choose reviewer</a:t>
            </a:r>
            <a:endParaRPr lang="en-US" sz="1200" dirty="0"/>
          </a:p>
        </p:txBody>
      </p:sp>
      <p:sp>
        <p:nvSpPr>
          <p:cNvPr id="25" name="Shape 22"/>
          <p:cNvSpPr/>
          <p:nvPr/>
        </p:nvSpPr>
        <p:spPr>
          <a:xfrm>
            <a:off x="7132320" y="3438144"/>
            <a:ext cx="265176" cy="0"/>
          </a:xfrm>
          <a:prstGeom prst="line">
            <a:avLst/>
          </a:prstGeom>
          <a:noFill/>
          <a:ln w="21590">
            <a:solidFill>
              <a:srgbClr val="004831"/>
            </a:solidFill>
            <a:prstDash val="solid"/>
            <a:headEnd type="none"/>
            <a:tailEnd type="triangle"/>
          </a:ln>
        </p:spPr>
      </p:sp>
      <p:sp>
        <p:nvSpPr>
          <p:cNvPr id="26" name="Shape 23"/>
          <p:cNvSpPr/>
          <p:nvPr/>
        </p:nvSpPr>
        <p:spPr>
          <a:xfrm>
            <a:off x="7461504" y="2606040"/>
            <a:ext cx="1920240" cy="1673352"/>
          </a:xfrm>
          <a:prstGeom prst="roundRect">
            <a:avLst>
              <a:gd name="adj" fmla="val 6557"/>
            </a:avLst>
          </a:prstGeom>
          <a:solidFill>
            <a:srgbClr val="FFFFFF"/>
          </a:solidFill>
          <a:ln w="12700">
            <a:solidFill>
              <a:srgbClr val="FFFFFF"/>
            </a:solidFill>
            <a:prstDash val="solid"/>
          </a:ln>
        </p:spPr>
      </p:sp>
      <p:sp>
        <p:nvSpPr>
          <p:cNvPr id="27" name="Shape 24"/>
          <p:cNvSpPr/>
          <p:nvPr/>
        </p:nvSpPr>
        <p:spPr>
          <a:xfrm>
            <a:off x="7644384" y="2816352"/>
            <a:ext cx="438912" cy="438912"/>
          </a:xfrm>
          <a:prstGeom prst="ellipse">
            <a:avLst/>
          </a:prstGeom>
          <a:solidFill>
            <a:srgbClr val="EAF2EE"/>
          </a:solidFill>
          <a:ln w="12700">
            <a:solidFill>
              <a:srgbClr val="EAF2EE"/>
            </a:solidFill>
            <a:prstDash val="solid"/>
          </a:ln>
        </p:spPr>
      </p:sp>
      <p:sp>
        <p:nvSpPr>
          <p:cNvPr id="28" name="Text 25"/>
          <p:cNvSpPr/>
          <p:nvPr/>
        </p:nvSpPr>
        <p:spPr>
          <a:xfrm>
            <a:off x="7644384" y="2916936"/>
            <a:ext cx="438912" cy="274320"/>
          </a:xfrm>
          <a:prstGeom prst="rect">
            <a:avLst/>
          </a:prstGeom>
          <a:noFill/>
          <a:ln/>
        </p:spPr>
        <p:txBody>
          <a:bodyPr wrap="square" lIns="0" tIns="0" rIns="0" bIns="0" rtlCol="0" anchor="t">
            <a:spAutoFit/>
          </a:bodyPr>
          <a:lstStyle/>
          <a:p>
            <a:pPr algn="ctr" indent="0" marL="0">
              <a:buNone/>
            </a:pPr>
            <a:r>
              <a:rPr lang="en-US" sz="1700" b="1" dirty="0">
                <a:solidFill>
                  <a:srgbClr val="004831"/>
                </a:solidFill>
                <a:latin typeface="Arial" pitchFamily="34" charset="0"/>
                <a:ea typeface="Arial" pitchFamily="34" charset="-122"/>
                <a:cs typeface="Arial" pitchFamily="34" charset="-120"/>
              </a:rPr>
              <a:t>04</a:t>
            </a:r>
            <a:endParaRPr lang="en-US" sz="1700" dirty="0"/>
          </a:p>
        </p:txBody>
      </p:sp>
      <p:sp>
        <p:nvSpPr>
          <p:cNvPr id="29" name="Text 26"/>
          <p:cNvSpPr/>
          <p:nvPr/>
        </p:nvSpPr>
        <p:spPr>
          <a:xfrm>
            <a:off x="7644384" y="3438144"/>
            <a:ext cx="1581912" cy="310896"/>
          </a:xfrm>
          <a:prstGeom prst="rect">
            <a:avLst/>
          </a:prstGeom>
          <a:noFill/>
          <a:ln/>
        </p:spPr>
        <p:txBody>
          <a:bodyPr wrap="square" lIns="0" tIns="0" rIns="0" bIns="0" rtlCol="0" anchor="t">
            <a:spAutoFit/>
          </a:bodyPr>
          <a:lstStyle/>
          <a:p>
            <a:pPr indent="0" marL="0">
              <a:buNone/>
            </a:pPr>
            <a:r>
              <a:rPr lang="en-US" sz="2100" b="1" dirty="0">
                <a:solidFill>
                  <a:srgbClr val="1F2522"/>
                </a:solidFill>
                <a:latin typeface="Arial" pitchFamily="34" charset="0"/>
                <a:ea typeface="Arial" pitchFamily="34" charset="-122"/>
                <a:cs typeface="Arial" pitchFamily="34" charset="-120"/>
              </a:rPr>
              <a:t>Review</a:t>
            </a:r>
            <a:endParaRPr lang="en-US" sz="2100" dirty="0"/>
          </a:p>
        </p:txBody>
      </p:sp>
      <p:sp>
        <p:nvSpPr>
          <p:cNvPr id="30" name="Text 27"/>
          <p:cNvSpPr/>
          <p:nvPr/>
        </p:nvSpPr>
        <p:spPr>
          <a:xfrm>
            <a:off x="7644384" y="3886200"/>
            <a:ext cx="1591056" cy="228600"/>
          </a:xfrm>
          <a:prstGeom prst="rect">
            <a:avLst/>
          </a:prstGeom>
          <a:noFill/>
          <a:ln/>
        </p:spPr>
        <p:txBody>
          <a:bodyPr wrap="square" lIns="0" tIns="0" rIns="0" bIns="0" rtlCol="0" anchor="t">
            <a:spAutoFit/>
          </a:bodyPr>
          <a:lstStyle/>
          <a:p>
            <a:pPr indent="0" marL="0">
              <a:buNone/>
            </a:pPr>
            <a:r>
              <a:rPr lang="en-US" sz="1200" dirty="0">
                <a:solidFill>
                  <a:srgbClr val="68716C"/>
                </a:solidFill>
                <a:latin typeface="Arial" pitchFamily="34" charset="0"/>
                <a:ea typeface="Arial" pitchFamily="34" charset="-122"/>
                <a:cs typeface="Arial" pitchFamily="34" charset="-120"/>
              </a:rPr>
              <a:t>Record decision</a:t>
            </a:r>
            <a:endParaRPr lang="en-US" sz="1200" dirty="0"/>
          </a:p>
        </p:txBody>
      </p:sp>
      <p:sp>
        <p:nvSpPr>
          <p:cNvPr id="31" name="Shape 28"/>
          <p:cNvSpPr/>
          <p:nvPr/>
        </p:nvSpPr>
        <p:spPr>
          <a:xfrm>
            <a:off x="9436608" y="3438144"/>
            <a:ext cx="265176" cy="0"/>
          </a:xfrm>
          <a:prstGeom prst="line">
            <a:avLst/>
          </a:prstGeom>
          <a:noFill/>
          <a:ln w="21590">
            <a:solidFill>
              <a:srgbClr val="004831"/>
            </a:solidFill>
            <a:prstDash val="solid"/>
            <a:headEnd type="none"/>
            <a:tailEnd type="triangle"/>
          </a:ln>
        </p:spPr>
      </p:sp>
      <p:sp>
        <p:nvSpPr>
          <p:cNvPr id="32" name="Shape 29"/>
          <p:cNvSpPr/>
          <p:nvPr/>
        </p:nvSpPr>
        <p:spPr>
          <a:xfrm>
            <a:off x="9765792" y="2606040"/>
            <a:ext cx="1920240" cy="1673352"/>
          </a:xfrm>
          <a:prstGeom prst="roundRect">
            <a:avLst>
              <a:gd name="adj" fmla="val 6557"/>
            </a:avLst>
          </a:prstGeom>
          <a:solidFill>
            <a:srgbClr val="004831"/>
          </a:solidFill>
          <a:ln w="12700">
            <a:solidFill>
              <a:srgbClr val="004831"/>
            </a:solidFill>
            <a:prstDash val="solid"/>
          </a:ln>
        </p:spPr>
      </p:sp>
      <p:sp>
        <p:nvSpPr>
          <p:cNvPr id="33" name="Shape 30"/>
          <p:cNvSpPr/>
          <p:nvPr/>
        </p:nvSpPr>
        <p:spPr>
          <a:xfrm>
            <a:off x="9948672" y="2816352"/>
            <a:ext cx="438912" cy="438912"/>
          </a:xfrm>
          <a:prstGeom prst="ellipse">
            <a:avLst/>
          </a:prstGeom>
          <a:solidFill>
            <a:srgbClr val="C4D600"/>
          </a:solidFill>
          <a:ln w="12700">
            <a:solidFill>
              <a:srgbClr val="C4D600"/>
            </a:solidFill>
            <a:prstDash val="solid"/>
          </a:ln>
        </p:spPr>
      </p:sp>
      <p:sp>
        <p:nvSpPr>
          <p:cNvPr id="34" name="Text 31"/>
          <p:cNvSpPr/>
          <p:nvPr/>
        </p:nvSpPr>
        <p:spPr>
          <a:xfrm>
            <a:off x="9948672" y="2916936"/>
            <a:ext cx="438912" cy="274320"/>
          </a:xfrm>
          <a:prstGeom prst="rect">
            <a:avLst/>
          </a:prstGeom>
          <a:noFill/>
          <a:ln/>
        </p:spPr>
        <p:txBody>
          <a:bodyPr wrap="square" lIns="0" tIns="0" rIns="0" bIns="0" rtlCol="0" anchor="t">
            <a:spAutoFit/>
          </a:bodyPr>
          <a:lstStyle/>
          <a:p>
            <a:pPr algn="ctr" indent="0" marL="0">
              <a:buNone/>
            </a:pPr>
            <a:r>
              <a:rPr lang="en-US" sz="1700" b="1" dirty="0">
                <a:solidFill>
                  <a:srgbClr val="003322"/>
                </a:solidFill>
                <a:latin typeface="Arial" pitchFamily="34" charset="0"/>
                <a:ea typeface="Arial" pitchFamily="34" charset="-122"/>
                <a:cs typeface="Arial" pitchFamily="34" charset="-120"/>
              </a:rPr>
              <a:t>05</a:t>
            </a:r>
            <a:endParaRPr lang="en-US" sz="1700" dirty="0"/>
          </a:p>
        </p:txBody>
      </p:sp>
      <p:sp>
        <p:nvSpPr>
          <p:cNvPr id="35" name="Text 32"/>
          <p:cNvSpPr/>
          <p:nvPr/>
        </p:nvSpPr>
        <p:spPr>
          <a:xfrm>
            <a:off x="9948672" y="3438144"/>
            <a:ext cx="1581912" cy="310896"/>
          </a:xfrm>
          <a:prstGeom prst="rect">
            <a:avLst/>
          </a:prstGeom>
          <a:noFill/>
          <a:ln/>
        </p:spPr>
        <p:txBody>
          <a:bodyPr wrap="square" lIns="0" tIns="0" rIns="0" bIns="0" rtlCol="0" anchor="t">
            <a:spAutoFit/>
          </a:bodyPr>
          <a:lstStyle/>
          <a:p>
            <a:pPr indent="0" marL="0">
              <a:buNone/>
            </a:pPr>
            <a:r>
              <a:rPr lang="en-US" sz="2100" b="1" dirty="0">
                <a:solidFill>
                  <a:srgbClr val="FFFFFF"/>
                </a:solidFill>
                <a:latin typeface="Arial" pitchFamily="34" charset="0"/>
                <a:ea typeface="Arial" pitchFamily="34" charset="-122"/>
                <a:cs typeface="Arial" pitchFamily="34" charset="-120"/>
              </a:rPr>
              <a:t>Complete</a:t>
            </a:r>
            <a:endParaRPr lang="en-US" sz="2100" dirty="0"/>
          </a:p>
        </p:txBody>
      </p:sp>
      <p:sp>
        <p:nvSpPr>
          <p:cNvPr id="36" name="Text 33"/>
          <p:cNvSpPr/>
          <p:nvPr/>
        </p:nvSpPr>
        <p:spPr>
          <a:xfrm>
            <a:off x="9948672" y="3886200"/>
            <a:ext cx="1591056" cy="228600"/>
          </a:xfrm>
          <a:prstGeom prst="rect">
            <a:avLst/>
          </a:prstGeom>
          <a:noFill/>
          <a:ln/>
        </p:spPr>
        <p:txBody>
          <a:bodyPr wrap="square" lIns="0" tIns="0" rIns="0" bIns="0" rtlCol="0" anchor="t">
            <a:spAutoFit/>
          </a:bodyPr>
          <a:lstStyle/>
          <a:p>
            <a:pPr indent="0" marL="0">
              <a:buNone/>
            </a:pPr>
            <a:r>
              <a:rPr lang="en-US" sz="1200" dirty="0">
                <a:solidFill>
                  <a:srgbClr val="D5E4E1"/>
                </a:solidFill>
                <a:latin typeface="Arial" pitchFamily="34" charset="0"/>
                <a:ea typeface="Arial" pitchFamily="34" charset="-122"/>
                <a:cs typeface="Arial" pitchFamily="34" charset="-120"/>
              </a:rPr>
              <a:t>All levels approved</a:t>
            </a:r>
            <a:endParaRPr lang="en-US" sz="1200" dirty="0"/>
          </a:p>
        </p:txBody>
      </p:sp>
      <p:sp>
        <p:nvSpPr>
          <p:cNvPr id="37" name="Shape 34"/>
          <p:cNvSpPr/>
          <p:nvPr/>
        </p:nvSpPr>
        <p:spPr>
          <a:xfrm>
            <a:off x="7616952" y="4379976"/>
            <a:ext cx="0" cy="548640"/>
          </a:xfrm>
          <a:prstGeom prst="line">
            <a:avLst/>
          </a:prstGeom>
          <a:noFill/>
          <a:ln w="20320">
            <a:solidFill>
              <a:srgbClr val="317589"/>
            </a:solidFill>
            <a:prstDash val="solid"/>
            <a:headEnd type="none"/>
            <a:tailEnd type="none"/>
          </a:ln>
        </p:spPr>
      </p:sp>
      <p:sp>
        <p:nvSpPr>
          <p:cNvPr id="38" name="Shape 35"/>
          <p:cNvSpPr/>
          <p:nvPr/>
        </p:nvSpPr>
        <p:spPr>
          <a:xfrm>
            <a:off x="7616952" y="4928616"/>
            <a:ext cx="-2340864" cy="0"/>
          </a:xfrm>
          <a:prstGeom prst="line">
            <a:avLst/>
          </a:prstGeom>
          <a:noFill/>
          <a:ln w="20320">
            <a:solidFill>
              <a:srgbClr val="317589"/>
            </a:solidFill>
            <a:prstDash val="solid"/>
            <a:headEnd type="none"/>
            <a:tailEnd type="triangle"/>
          </a:ln>
        </p:spPr>
      </p:sp>
      <p:sp>
        <p:nvSpPr>
          <p:cNvPr id="39" name="Text 36"/>
          <p:cNvSpPr/>
          <p:nvPr/>
        </p:nvSpPr>
        <p:spPr>
          <a:xfrm>
            <a:off x="4096512" y="5175504"/>
            <a:ext cx="4572000" cy="320040"/>
          </a:xfrm>
          <a:prstGeom prst="rect">
            <a:avLst/>
          </a:prstGeom>
          <a:noFill/>
          <a:ln/>
        </p:spPr>
        <p:txBody>
          <a:bodyPr wrap="square" lIns="0" tIns="0" rIns="0" bIns="0" rtlCol="0" anchor="t">
            <a:spAutoFit/>
          </a:bodyPr>
          <a:lstStyle/>
          <a:p>
            <a:pPr indent="0" marL="0">
              <a:buNone/>
            </a:pPr>
            <a:r>
              <a:rPr lang="en-US" sz="1500" b="1" dirty="0">
                <a:solidFill>
                  <a:srgbClr val="317589"/>
                </a:solidFill>
                <a:latin typeface="Arial" pitchFamily="34" charset="0"/>
                <a:ea typeface="Arial" pitchFamily="34" charset="-122"/>
                <a:cs typeface="Arial" pitchFamily="34" charset="-120"/>
              </a:rPr>
              <a:t>Another level → new manual assignment</a:t>
            </a:r>
            <a:endParaRPr lang="en-US" sz="1500" dirty="0"/>
          </a:p>
        </p:txBody>
      </p:sp>
      <p:sp>
        <p:nvSpPr>
          <p:cNvPr id="40" name="Shape 37"/>
          <p:cNvSpPr/>
          <p:nvPr/>
        </p:nvSpPr>
        <p:spPr>
          <a:xfrm>
            <a:off x="548640" y="4864608"/>
            <a:ext cx="2798064" cy="320040"/>
          </a:xfrm>
          <a:prstGeom prst="roundRect">
            <a:avLst>
              <a:gd name="adj" fmla="val 34286"/>
            </a:avLst>
          </a:prstGeom>
          <a:solidFill>
            <a:srgbClr val="FBEDEE"/>
          </a:solidFill>
          <a:ln w="12700">
            <a:solidFill>
              <a:srgbClr val="FBEDEE"/>
            </a:solidFill>
            <a:prstDash val="solid"/>
          </a:ln>
        </p:spPr>
      </p:sp>
      <p:sp>
        <p:nvSpPr>
          <p:cNvPr id="41" name="Text 38"/>
          <p:cNvSpPr/>
          <p:nvPr/>
        </p:nvSpPr>
        <p:spPr>
          <a:xfrm>
            <a:off x="667512" y="4930445"/>
            <a:ext cx="2560320" cy="182880"/>
          </a:xfrm>
          <a:prstGeom prst="rect">
            <a:avLst/>
          </a:prstGeom>
          <a:noFill/>
          <a:ln/>
        </p:spPr>
        <p:txBody>
          <a:bodyPr wrap="square" lIns="0" tIns="0" rIns="0" bIns="0" rtlCol="0" anchor="t">
            <a:spAutoFit/>
          </a:bodyPr>
          <a:lstStyle/>
          <a:p>
            <a:pPr indent="0" marL="0">
              <a:buNone/>
            </a:pPr>
            <a:r>
              <a:rPr lang="en-US" sz="1050" b="1" dirty="0">
                <a:solidFill>
                  <a:srgbClr val="C3272B"/>
                </a:solidFill>
                <a:latin typeface="Arial" pitchFamily="34" charset="0"/>
                <a:ea typeface="Arial" pitchFamily="34" charset="-122"/>
                <a:cs typeface="Arial" pitchFamily="34" charset="-120"/>
              </a:rPr>
              <a:t>Rejection stops the workflow</a:t>
            </a:r>
            <a:endParaRPr lang="en-US" sz="1050" dirty="0"/>
          </a:p>
        </p:txBody>
      </p:sp>
      <p:sp>
        <p:nvSpPr>
          <p:cNvPr id="42" name="Text 39"/>
          <p:cNvSpPr/>
          <p:nvPr/>
        </p:nvSpPr>
        <p:spPr>
          <a:xfrm>
            <a:off x="548640" y="5998464"/>
            <a:ext cx="11064240" cy="320040"/>
          </a:xfrm>
          <a:prstGeom prst="rect">
            <a:avLst/>
          </a:prstGeom>
          <a:noFill/>
          <a:ln/>
        </p:spPr>
        <p:txBody>
          <a:bodyPr wrap="square" lIns="0" tIns="0" rIns="0" bIns="0" rtlCol="0" anchor="t">
            <a:spAutoFit/>
          </a:bodyPr>
          <a:lstStyle/>
          <a:p>
            <a:pPr indent="0" marL="0">
              <a:buNone/>
            </a:pPr>
            <a:r>
              <a:rPr lang="en-US" sz="1100" dirty="0">
                <a:solidFill>
                  <a:srgbClr val="68716C"/>
                </a:solidFill>
                <a:latin typeface="Arial" pitchFamily="34" charset="0"/>
                <a:ea typeface="Arial" pitchFamily="34" charset="-122"/>
                <a:cs typeface="Arial" pitchFamily="34" charset="-120"/>
              </a:rPr>
              <a:t>“Complete” refers to message review. The application does not demonstrate payment execution.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6"/>
        </a:solidFill>
      </p:bgPr>
    </p:bg>
    <p:spTree>
      <p:nvGrpSpPr>
        <p:cNvPr id="1" name=""/>
        <p:cNvGrpSpPr/>
        <p:nvPr/>
      </p:nvGrpSpPr>
      <p:grpSpPr>
        <a:xfrm>
          <a:off x="0" y="0"/>
          <a:ext cx="0" cy="0"/>
          <a:chOff x="0" y="0"/>
          <a:chExt cx="0" cy="0"/>
        </a:xfrm>
      </p:grpSpPr>
      <p:sp>
        <p:nvSpPr>
          <p:cNvPr id="2" name="Text 0"/>
          <p:cNvSpPr/>
          <p:nvPr/>
        </p:nvSpPr>
        <p:spPr>
          <a:xfrm>
            <a:off x="548640" y="429768"/>
            <a:ext cx="10058400" cy="210312"/>
          </a:xfrm>
          <a:prstGeom prst="rect">
            <a:avLst/>
          </a:prstGeom>
          <a:noFill/>
          <a:ln/>
        </p:spPr>
        <p:txBody>
          <a:bodyPr wrap="square" lIns="0" tIns="0" rIns="0" bIns="0" rtlCol="0" anchor="t">
            <a:spAutoFit/>
          </a:bodyPr>
          <a:lstStyle/>
          <a:p>
            <a:pPr indent="0" marL="0">
              <a:buNone/>
            </a:pPr>
            <a:r>
              <a:rPr lang="en-US" sz="1100" b="1" dirty="0">
                <a:solidFill>
                  <a:srgbClr val="004831"/>
                </a:solidFill>
                <a:latin typeface="Arial" pitchFamily="34" charset="0"/>
                <a:ea typeface="Arial" pitchFamily="34" charset="-122"/>
                <a:cs typeface="Arial" pitchFamily="34" charset="-120"/>
              </a:rPr>
              <a:t>The workspace</a:t>
            </a:r>
            <a:endParaRPr lang="en-US" sz="1100" dirty="0"/>
          </a:p>
        </p:txBody>
      </p:sp>
      <p:sp>
        <p:nvSpPr>
          <p:cNvPr id="3" name="Text 1"/>
          <p:cNvSpPr/>
          <p:nvPr/>
        </p:nvSpPr>
        <p:spPr>
          <a:xfrm>
            <a:off x="530352" y="868680"/>
            <a:ext cx="11064240" cy="621792"/>
          </a:xfrm>
          <a:prstGeom prst="rect">
            <a:avLst/>
          </a:prstGeom>
          <a:noFill/>
          <a:ln/>
        </p:spPr>
        <p:txBody>
          <a:bodyPr wrap="square" lIns="0" tIns="0" rIns="0" bIns="0" rtlCol="0" anchor="t">
            <a:spAutoFit/>
          </a:bodyPr>
          <a:lstStyle/>
          <a:p>
            <a:pPr indent="0" marL="0">
              <a:buNone/>
            </a:pPr>
            <a:r>
              <a:rPr lang="en-US" sz="3400" b="1" dirty="0">
                <a:solidFill>
                  <a:srgbClr val="1F2522"/>
                </a:solidFill>
                <a:latin typeface="Arial" pitchFamily="34" charset="0"/>
                <a:ea typeface="Arial" pitchFamily="34" charset="-122"/>
                <a:cs typeface="Arial" pitchFamily="34" charset="-120"/>
              </a:rPr>
              <a:t>A shared queue for the team</a:t>
            </a:r>
            <a:endParaRPr lang="en-US" sz="3400" dirty="0"/>
          </a:p>
        </p:txBody>
      </p:sp>
      <p:sp>
        <p:nvSpPr>
          <p:cNvPr id="4" name="Text 2"/>
          <p:cNvSpPr/>
          <p:nvPr/>
        </p:nvSpPr>
        <p:spPr>
          <a:xfrm>
            <a:off x="548640" y="1572768"/>
            <a:ext cx="10927080" cy="502920"/>
          </a:xfrm>
          <a:prstGeom prst="rect">
            <a:avLst/>
          </a:prstGeom>
          <a:noFill/>
          <a:ln/>
        </p:spPr>
        <p:txBody>
          <a:bodyPr wrap="square" lIns="0" tIns="0" rIns="0" bIns="0" rtlCol="0" anchor="t">
            <a:spAutoFit/>
          </a:bodyPr>
          <a:lstStyle/>
          <a:p>
            <a:pPr indent="0" marL="0">
              <a:buNone/>
            </a:pPr>
            <a:r>
              <a:rPr lang="en-US" sz="1600" dirty="0">
                <a:solidFill>
                  <a:srgbClr val="68716C"/>
                </a:solidFill>
                <a:latin typeface="Arial" pitchFamily="34" charset="0"/>
                <a:ea typeface="Arial" pitchFamily="34" charset="-122"/>
                <a:cs typeface="Arial" pitchFamily="34" charset="-120"/>
              </a:rPr>
              <a:t>Find a message, understand its stage and see who owns the next action.</a:t>
            </a:r>
            <a:endParaRPr lang="en-US" sz="1600" dirty="0"/>
          </a:p>
        </p:txBody>
      </p:sp>
      <p:sp>
        <p:nvSpPr>
          <p:cNvPr id="5" name="Text 3"/>
          <p:cNvSpPr/>
          <p:nvPr/>
        </p:nvSpPr>
        <p:spPr>
          <a:xfrm>
            <a:off x="530352" y="6455664"/>
            <a:ext cx="7315200" cy="164592"/>
          </a:xfrm>
          <a:prstGeom prst="rect">
            <a:avLst/>
          </a:prstGeom>
          <a:noFill/>
          <a:ln/>
        </p:spPr>
        <p:txBody>
          <a:bodyPr wrap="square" lIns="0" tIns="0" rIns="0" bIns="0" rtlCol="0" anchor="t">
            <a:spAutoFit/>
          </a:bodyPr>
          <a:lstStyle/>
          <a:p>
            <a:pPr indent="0" marL="0">
              <a:buNone/>
            </a:pPr>
            <a:r>
              <a:rPr lang="en-US" sz="900" dirty="0">
                <a:solidFill>
                  <a:srgbClr val="68716C"/>
                </a:solidFill>
                <a:latin typeface="Arial" pitchFamily="34" charset="0"/>
                <a:ea typeface="Arial" pitchFamily="34" charset="-122"/>
                <a:cs typeface="Arial" pitchFamily="34" charset="-120"/>
              </a:rPr>
              <a:t>ORP  /  Operations Reporting and Processing</a:t>
            </a:r>
            <a:endParaRPr lang="en-US" sz="900" dirty="0"/>
          </a:p>
        </p:txBody>
      </p:sp>
      <p:sp>
        <p:nvSpPr>
          <p:cNvPr id="6" name="Text 4"/>
          <p:cNvSpPr/>
          <p:nvPr/>
        </p:nvSpPr>
        <p:spPr>
          <a:xfrm>
            <a:off x="11064240" y="6419088"/>
            <a:ext cx="566928" cy="228600"/>
          </a:xfrm>
          <a:prstGeom prst="rect">
            <a:avLst/>
          </a:prstGeom>
          <a:noFill/>
          <a:ln/>
        </p:spPr>
        <p:txBody>
          <a:bodyPr wrap="square" lIns="0" tIns="0" rIns="0" bIns="0" rtlCol="0" anchor="t">
            <a:spAutoFit/>
          </a:bodyPr>
          <a:lstStyle/>
          <a:p>
            <a:pPr algn="r" indent="0" marL="0">
              <a:buNone/>
            </a:pPr>
            <a:r>
              <a:rPr lang="en-US" sz="1100" dirty="0">
                <a:solidFill>
                  <a:srgbClr val="68716C"/>
                </a:solidFill>
                <a:latin typeface="Arial" pitchFamily="34" charset="0"/>
                <a:ea typeface="Arial" pitchFamily="34" charset="-122"/>
                <a:cs typeface="Arial" pitchFamily="34" charset="-120"/>
              </a:rPr>
              <a:t>04</a:t>
            </a:r>
            <a:endParaRPr lang="en-US" sz="1100" dirty="0"/>
          </a:p>
        </p:txBody>
      </p:sp>
      <p:sp>
        <p:nvSpPr>
          <p:cNvPr id="8" name="Shape 5"/>
          <p:cNvSpPr/>
          <p:nvPr/>
        </p:nvSpPr>
        <p:spPr>
          <a:xfrm>
            <a:off x="548640" y="2286000"/>
            <a:ext cx="8293608" cy="3502152"/>
          </a:xfrm>
          <a:prstGeom prst="roundRect">
            <a:avLst>
              <a:gd name="adj" fmla="val 3133"/>
            </a:avLst>
          </a:prstGeom>
          <a:solidFill>
            <a:srgbClr val="FFFFFF"/>
          </a:solidFill>
          <a:ln w="12700">
            <a:solidFill>
              <a:srgbClr val="D8DDD9"/>
            </a:solidFill>
            <a:prstDash val="solid"/>
          </a:ln>
        </p:spPr>
      </p:sp>
      <p:pic>
        <p:nvPicPr>
          <p:cNvPr id="9" name="Image 0" descr="/home/alexandr/code/SwiftReview/backend/docs/business-presentation/assets/queue-detail.png">    </p:cNvPr>
          <p:cNvPicPr>
            <a:picLocks noChangeAspect="1"/>
          </p:cNvPicPr>
          <p:nvPr/>
        </p:nvPicPr>
        <p:blipFill>
          <a:blip r:embed="rId1"/>
          <a:stretch>
            <a:fillRect/>
          </a:stretch>
        </p:blipFill>
        <p:spPr>
          <a:xfrm>
            <a:off x="640080" y="2523410"/>
            <a:ext cx="8110728" cy="3027332"/>
          </a:xfrm>
          <a:prstGeom prst="rect">
            <a:avLst/>
          </a:prstGeom>
        </p:spPr>
      </p:pic>
      <p:sp>
        <p:nvSpPr>
          <p:cNvPr id="10" name="Shape 6"/>
          <p:cNvSpPr/>
          <p:nvPr/>
        </p:nvSpPr>
        <p:spPr>
          <a:xfrm>
            <a:off x="9116568" y="2350008"/>
            <a:ext cx="475488" cy="475488"/>
          </a:xfrm>
          <a:prstGeom prst="ellipse">
            <a:avLst/>
          </a:prstGeom>
          <a:solidFill>
            <a:srgbClr val="004831"/>
          </a:solidFill>
          <a:ln w="12700">
            <a:solidFill>
              <a:srgbClr val="004831"/>
            </a:solidFill>
            <a:prstDash val="solid"/>
          </a:ln>
        </p:spPr>
      </p:sp>
      <p:sp>
        <p:nvSpPr>
          <p:cNvPr id="11" name="Text 7"/>
          <p:cNvSpPr/>
          <p:nvPr/>
        </p:nvSpPr>
        <p:spPr>
          <a:xfrm>
            <a:off x="9116568" y="2450592"/>
            <a:ext cx="475488" cy="274320"/>
          </a:xfrm>
          <a:prstGeom prst="rect">
            <a:avLst/>
          </a:prstGeom>
          <a:noFill/>
          <a:ln/>
        </p:spPr>
        <p:txBody>
          <a:bodyPr wrap="square" lIns="0" tIns="0" rIns="0" bIns="0" rtlCol="0" anchor="t">
            <a:sp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2" name="Text 8"/>
          <p:cNvSpPr/>
          <p:nvPr/>
        </p:nvSpPr>
        <p:spPr>
          <a:xfrm>
            <a:off x="9784080" y="2359152"/>
            <a:ext cx="1801368" cy="576072"/>
          </a:xfrm>
          <a:prstGeom prst="rect">
            <a:avLst/>
          </a:prstGeom>
          <a:noFill/>
          <a:ln/>
        </p:spPr>
        <p:txBody>
          <a:bodyPr wrap="square" lIns="0" tIns="0" rIns="0" bIns="0" rtlCol="0" anchor="t">
            <a:spAutoFit/>
          </a:bodyPr>
          <a:lstStyle/>
          <a:p>
            <a:pPr indent="0" marL="0">
              <a:buNone/>
            </a:pPr>
            <a:r>
              <a:rPr lang="en-US" sz="1800" b="1" dirty="0">
                <a:solidFill>
                  <a:srgbClr val="004831"/>
                </a:solidFill>
                <a:latin typeface="Arial" pitchFamily="34" charset="0"/>
                <a:ea typeface="Arial" pitchFamily="34" charset="-122"/>
                <a:cs typeface="Arial" pitchFamily="34" charset="-120"/>
              </a:rPr>
              <a:t>Find the message</a:t>
            </a:r>
            <a:endParaRPr lang="en-US" sz="1800" dirty="0"/>
          </a:p>
        </p:txBody>
      </p:sp>
      <p:sp>
        <p:nvSpPr>
          <p:cNvPr id="13" name="Text 9"/>
          <p:cNvSpPr/>
          <p:nvPr/>
        </p:nvSpPr>
        <p:spPr>
          <a:xfrm>
            <a:off x="9784080" y="2971800"/>
            <a:ext cx="1801368" cy="594360"/>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Filter by the fields</a:t>
            </a:r>
            <a:endParaRPr lang="en-US" sz="1500" dirty="0"/>
          </a:p>
          <a:p>
            <a:pPr indent="0" marL="0">
              <a:buNone/>
            </a:pPr>
            <a:r>
              <a:rPr lang="en-US" sz="1500" dirty="0">
                <a:solidFill>
                  <a:srgbClr val="68716C"/>
                </a:solidFill>
                <a:latin typeface="Arial" pitchFamily="34" charset="0"/>
                <a:ea typeface="Arial" pitchFamily="34" charset="-122"/>
                <a:cs typeface="Arial" pitchFamily="34" charset="-120"/>
              </a:rPr>
              <a:t>that matter to the task.</a:t>
            </a:r>
            <a:endParaRPr lang="en-US" sz="1500" dirty="0"/>
          </a:p>
        </p:txBody>
      </p:sp>
      <p:sp>
        <p:nvSpPr>
          <p:cNvPr id="14" name="Shape 10"/>
          <p:cNvSpPr/>
          <p:nvPr/>
        </p:nvSpPr>
        <p:spPr>
          <a:xfrm>
            <a:off x="9116568" y="3931920"/>
            <a:ext cx="475488" cy="475488"/>
          </a:xfrm>
          <a:prstGeom prst="ellipse">
            <a:avLst/>
          </a:prstGeom>
          <a:solidFill>
            <a:srgbClr val="004831"/>
          </a:solidFill>
          <a:ln w="12700">
            <a:solidFill>
              <a:srgbClr val="004831"/>
            </a:solidFill>
            <a:prstDash val="solid"/>
          </a:ln>
        </p:spPr>
      </p:sp>
      <p:sp>
        <p:nvSpPr>
          <p:cNvPr id="15" name="Text 11"/>
          <p:cNvSpPr/>
          <p:nvPr/>
        </p:nvSpPr>
        <p:spPr>
          <a:xfrm>
            <a:off x="9116568" y="4032504"/>
            <a:ext cx="475488" cy="274320"/>
          </a:xfrm>
          <a:prstGeom prst="rect">
            <a:avLst/>
          </a:prstGeom>
          <a:noFill/>
          <a:ln/>
        </p:spPr>
        <p:txBody>
          <a:bodyPr wrap="square" lIns="0" tIns="0" rIns="0" bIns="0" rtlCol="0" anchor="t">
            <a:sp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6" name="Text 12"/>
          <p:cNvSpPr/>
          <p:nvPr/>
        </p:nvSpPr>
        <p:spPr>
          <a:xfrm>
            <a:off x="9784080" y="3941064"/>
            <a:ext cx="1801368" cy="576072"/>
          </a:xfrm>
          <a:prstGeom prst="rect">
            <a:avLst/>
          </a:prstGeom>
          <a:noFill/>
          <a:ln/>
        </p:spPr>
        <p:txBody>
          <a:bodyPr wrap="square" lIns="0" tIns="0" rIns="0" bIns="0" rtlCol="0" anchor="t">
            <a:spAutoFit/>
          </a:bodyPr>
          <a:lstStyle/>
          <a:p>
            <a:pPr indent="0" marL="0">
              <a:buNone/>
            </a:pPr>
            <a:r>
              <a:rPr lang="en-US" sz="1800" b="1" dirty="0">
                <a:solidFill>
                  <a:srgbClr val="004831"/>
                </a:solidFill>
                <a:latin typeface="Arial" pitchFamily="34" charset="0"/>
                <a:ea typeface="Arial" pitchFamily="34" charset="-122"/>
                <a:cs typeface="Arial" pitchFamily="34" charset="-120"/>
              </a:rPr>
              <a:t>Read the stage</a:t>
            </a:r>
            <a:endParaRPr lang="en-US" sz="1800" dirty="0"/>
          </a:p>
        </p:txBody>
      </p:sp>
      <p:sp>
        <p:nvSpPr>
          <p:cNvPr id="17" name="Text 13"/>
          <p:cNvSpPr/>
          <p:nvPr/>
        </p:nvSpPr>
        <p:spPr>
          <a:xfrm>
            <a:off x="9784080" y="4553712"/>
            <a:ext cx="1801368" cy="594360"/>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See progress and</a:t>
            </a:r>
            <a:endParaRPr lang="en-US" sz="1500" dirty="0"/>
          </a:p>
          <a:p>
            <a:pPr indent="0" marL="0">
              <a:buNone/>
            </a:pPr>
            <a:r>
              <a:rPr lang="en-US" sz="1500" dirty="0">
                <a:solidFill>
                  <a:srgbClr val="68716C"/>
                </a:solidFill>
                <a:latin typeface="Arial" pitchFamily="34" charset="0"/>
                <a:ea typeface="Arial" pitchFamily="34" charset="-122"/>
                <a:cs typeface="Arial" pitchFamily="34" charset="-120"/>
              </a:rPr>
              <a:t>current ownership.</a:t>
            </a:r>
            <a:endParaRPr lang="en-US" sz="1500" dirty="0"/>
          </a:p>
        </p:txBody>
      </p:sp>
      <p:sp>
        <p:nvSpPr>
          <p:cNvPr id="18" name="Text 14"/>
          <p:cNvSpPr/>
          <p:nvPr/>
        </p:nvSpPr>
        <p:spPr>
          <a:xfrm>
            <a:off x="548640" y="5998464"/>
            <a:ext cx="11064240" cy="320040"/>
          </a:xfrm>
          <a:prstGeom prst="rect">
            <a:avLst/>
          </a:prstGeom>
          <a:noFill/>
          <a:ln/>
        </p:spPr>
        <p:txBody>
          <a:bodyPr wrap="square" lIns="0" tIns="0" rIns="0" bIns="0" rtlCol="0" anchor="t">
            <a:spAutoFit/>
          </a:bodyPr>
          <a:lstStyle/>
          <a:p>
            <a:pPr indent="0" marL="0">
              <a:buNone/>
            </a:pPr>
            <a:r>
              <a:rPr lang="en-US" sz="1100" dirty="0">
                <a:solidFill>
                  <a:srgbClr val="68716C"/>
                </a:solidFill>
                <a:latin typeface="Arial" pitchFamily="34" charset="0"/>
                <a:ea typeface="Arial" pitchFamily="34" charset="-122"/>
                <a:cs typeface="Arial" pitchFamily="34" charset="-120"/>
              </a:rPr>
              <a:t>Actual interface • Synthetic demonstration data • Access varies by user.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6"/>
        </a:solidFill>
      </p:bgPr>
    </p:bg>
    <p:spTree>
      <p:nvGrpSpPr>
        <p:cNvPr id="1" name=""/>
        <p:cNvGrpSpPr/>
        <p:nvPr/>
      </p:nvGrpSpPr>
      <p:grpSpPr>
        <a:xfrm>
          <a:off x="0" y="0"/>
          <a:ext cx="0" cy="0"/>
          <a:chOff x="0" y="0"/>
          <a:chExt cx="0" cy="0"/>
        </a:xfrm>
      </p:grpSpPr>
      <p:sp>
        <p:nvSpPr>
          <p:cNvPr id="2" name="Text 0"/>
          <p:cNvSpPr/>
          <p:nvPr/>
        </p:nvSpPr>
        <p:spPr>
          <a:xfrm>
            <a:off x="548640" y="429768"/>
            <a:ext cx="10058400" cy="210312"/>
          </a:xfrm>
          <a:prstGeom prst="rect">
            <a:avLst/>
          </a:prstGeom>
          <a:noFill/>
          <a:ln/>
        </p:spPr>
        <p:txBody>
          <a:bodyPr wrap="square" lIns="0" tIns="0" rIns="0" bIns="0" rtlCol="0" anchor="t">
            <a:spAutoFit/>
          </a:bodyPr>
          <a:lstStyle/>
          <a:p>
            <a:pPr indent="0" marL="0">
              <a:buNone/>
            </a:pPr>
            <a:r>
              <a:rPr lang="en-US" sz="1100" b="1" dirty="0">
                <a:solidFill>
                  <a:srgbClr val="004831"/>
                </a:solidFill>
                <a:latin typeface="Arial" pitchFamily="34" charset="0"/>
                <a:ea typeface="Arial" pitchFamily="34" charset="-122"/>
                <a:cs typeface="Arial" pitchFamily="34" charset="-120"/>
              </a:rPr>
              <a:t>Assignment and access</a:t>
            </a:r>
            <a:endParaRPr lang="en-US" sz="1100" dirty="0"/>
          </a:p>
        </p:txBody>
      </p:sp>
      <p:sp>
        <p:nvSpPr>
          <p:cNvPr id="3" name="Text 1"/>
          <p:cNvSpPr/>
          <p:nvPr/>
        </p:nvSpPr>
        <p:spPr>
          <a:xfrm>
            <a:off x="530352" y="868680"/>
            <a:ext cx="11064240" cy="621792"/>
          </a:xfrm>
          <a:prstGeom prst="rect">
            <a:avLst/>
          </a:prstGeom>
          <a:noFill/>
          <a:ln/>
        </p:spPr>
        <p:txBody>
          <a:bodyPr wrap="square" lIns="0" tIns="0" rIns="0" bIns="0" rtlCol="0" anchor="t">
            <a:spAutoFit/>
          </a:bodyPr>
          <a:lstStyle/>
          <a:p>
            <a:pPr indent="0" marL="0">
              <a:buNone/>
            </a:pPr>
            <a:r>
              <a:rPr lang="en-US" sz="3400" b="1" dirty="0">
                <a:solidFill>
                  <a:srgbClr val="1F2522"/>
                </a:solidFill>
                <a:latin typeface="Arial" pitchFamily="34" charset="0"/>
                <a:ea typeface="Arial" pitchFamily="34" charset="-122"/>
                <a:cs typeface="Arial" pitchFamily="34" charset="-120"/>
              </a:rPr>
              <a:t>Ownership is explicit at each review stage</a:t>
            </a:r>
            <a:endParaRPr lang="en-US" sz="3400" dirty="0"/>
          </a:p>
        </p:txBody>
      </p:sp>
      <p:sp>
        <p:nvSpPr>
          <p:cNvPr id="4" name="Text 2"/>
          <p:cNvSpPr/>
          <p:nvPr/>
        </p:nvSpPr>
        <p:spPr>
          <a:xfrm>
            <a:off x="548640" y="1572768"/>
            <a:ext cx="10927080" cy="502920"/>
          </a:xfrm>
          <a:prstGeom prst="rect">
            <a:avLst/>
          </a:prstGeom>
          <a:noFill/>
          <a:ln/>
        </p:spPr>
        <p:txBody>
          <a:bodyPr wrap="square" lIns="0" tIns="0" rIns="0" bIns="0" rtlCol="0" anchor="t">
            <a:spAutoFit/>
          </a:bodyPr>
          <a:lstStyle/>
          <a:p>
            <a:pPr indent="0" marL="0">
              <a:buNone/>
            </a:pPr>
            <a:r>
              <a:rPr lang="en-US" sz="1600" dirty="0">
                <a:solidFill>
                  <a:srgbClr val="68716C"/>
                </a:solidFill>
                <a:latin typeface="Arial" pitchFamily="34" charset="0"/>
                <a:ea typeface="Arial" pitchFamily="34" charset="-122"/>
                <a:cs typeface="Arial" pitchFamily="34" charset="-120"/>
              </a:rPr>
              <a:t>An authorised assigner chooses from eligible reviewers; the system checks the rules.</a:t>
            </a:r>
            <a:endParaRPr lang="en-US" sz="1600" dirty="0"/>
          </a:p>
        </p:txBody>
      </p:sp>
      <p:sp>
        <p:nvSpPr>
          <p:cNvPr id="5" name="Text 3"/>
          <p:cNvSpPr/>
          <p:nvPr/>
        </p:nvSpPr>
        <p:spPr>
          <a:xfrm>
            <a:off x="530352" y="6455664"/>
            <a:ext cx="7315200" cy="164592"/>
          </a:xfrm>
          <a:prstGeom prst="rect">
            <a:avLst/>
          </a:prstGeom>
          <a:noFill/>
          <a:ln/>
        </p:spPr>
        <p:txBody>
          <a:bodyPr wrap="square" lIns="0" tIns="0" rIns="0" bIns="0" rtlCol="0" anchor="t">
            <a:spAutoFit/>
          </a:bodyPr>
          <a:lstStyle/>
          <a:p>
            <a:pPr indent="0" marL="0">
              <a:buNone/>
            </a:pPr>
            <a:r>
              <a:rPr lang="en-US" sz="900" dirty="0">
                <a:solidFill>
                  <a:srgbClr val="68716C"/>
                </a:solidFill>
                <a:latin typeface="Arial" pitchFamily="34" charset="0"/>
                <a:ea typeface="Arial" pitchFamily="34" charset="-122"/>
                <a:cs typeface="Arial" pitchFamily="34" charset="-120"/>
              </a:rPr>
              <a:t>ORP  /  Operations Reporting and Processing</a:t>
            </a:r>
            <a:endParaRPr lang="en-US" sz="900" dirty="0"/>
          </a:p>
        </p:txBody>
      </p:sp>
      <p:sp>
        <p:nvSpPr>
          <p:cNvPr id="6" name="Text 4"/>
          <p:cNvSpPr/>
          <p:nvPr/>
        </p:nvSpPr>
        <p:spPr>
          <a:xfrm>
            <a:off x="11064240" y="6419088"/>
            <a:ext cx="566928" cy="228600"/>
          </a:xfrm>
          <a:prstGeom prst="rect">
            <a:avLst/>
          </a:prstGeom>
          <a:noFill/>
          <a:ln/>
        </p:spPr>
        <p:txBody>
          <a:bodyPr wrap="square" lIns="0" tIns="0" rIns="0" bIns="0" rtlCol="0" anchor="t">
            <a:spAutoFit/>
          </a:bodyPr>
          <a:lstStyle/>
          <a:p>
            <a:pPr algn="r" indent="0" marL="0">
              <a:buNone/>
            </a:pPr>
            <a:r>
              <a:rPr lang="en-US" sz="1100" dirty="0">
                <a:solidFill>
                  <a:srgbClr val="68716C"/>
                </a:solidFill>
                <a:latin typeface="Arial" pitchFamily="34" charset="0"/>
                <a:ea typeface="Arial" pitchFamily="34" charset="-122"/>
                <a:cs typeface="Arial" pitchFamily="34" charset="-120"/>
              </a:rPr>
              <a:t>05</a:t>
            </a:r>
            <a:endParaRPr lang="en-US" sz="1100" dirty="0"/>
          </a:p>
        </p:txBody>
      </p:sp>
      <p:sp>
        <p:nvSpPr>
          <p:cNvPr id="8" name="Shape 5"/>
          <p:cNvSpPr/>
          <p:nvPr/>
        </p:nvSpPr>
        <p:spPr>
          <a:xfrm>
            <a:off x="603504" y="2331720"/>
            <a:ext cx="594360" cy="594360"/>
          </a:xfrm>
          <a:prstGeom prst="ellipse">
            <a:avLst/>
          </a:prstGeom>
          <a:solidFill>
            <a:srgbClr val="EAF2EE"/>
          </a:solidFill>
          <a:ln w="12700">
            <a:solidFill>
              <a:srgbClr val="EAF2EE"/>
            </a:solidFill>
            <a:prstDash val="solid"/>
          </a:ln>
        </p:spPr>
      </p:sp>
      <p:sp>
        <p:nvSpPr>
          <p:cNvPr id="9" name="Shape 6"/>
          <p:cNvSpPr/>
          <p:nvPr/>
        </p:nvSpPr>
        <p:spPr>
          <a:xfrm>
            <a:off x="823417" y="2468423"/>
            <a:ext cx="154534" cy="154534"/>
          </a:xfrm>
          <a:prstGeom prst="ellipse">
            <a:avLst/>
          </a:prstGeom>
          <a:solidFill>
            <a:srgbClr val="004831"/>
          </a:solidFill>
          <a:ln w="12700">
            <a:solidFill>
              <a:srgbClr val="004831"/>
            </a:solidFill>
            <a:prstDash val="solid"/>
          </a:ln>
        </p:spPr>
      </p:sp>
      <p:sp>
        <p:nvSpPr>
          <p:cNvPr id="10" name="Shape 7"/>
          <p:cNvSpPr/>
          <p:nvPr/>
        </p:nvSpPr>
        <p:spPr>
          <a:xfrm>
            <a:off x="758038" y="2658618"/>
            <a:ext cx="285293" cy="142646"/>
          </a:xfrm>
          <a:prstGeom prst="roundRect">
            <a:avLst/>
          </a:prstGeom>
          <a:solidFill>
            <a:srgbClr val="004831"/>
          </a:solidFill>
          <a:ln w="12700">
            <a:solidFill>
              <a:srgbClr val="004831"/>
            </a:solidFill>
            <a:prstDash val="solid"/>
          </a:ln>
        </p:spPr>
      </p:sp>
      <p:sp>
        <p:nvSpPr>
          <p:cNvPr id="11" name="Text 8"/>
          <p:cNvSpPr/>
          <p:nvPr/>
        </p:nvSpPr>
        <p:spPr>
          <a:xfrm>
            <a:off x="1444752" y="2350008"/>
            <a:ext cx="4846320" cy="320040"/>
          </a:xfrm>
          <a:prstGeom prst="rect">
            <a:avLst/>
          </a:prstGeom>
          <a:noFill/>
          <a:ln/>
        </p:spPr>
        <p:txBody>
          <a:bodyPr wrap="square" lIns="0" tIns="0" rIns="0" bIns="0" rtlCol="0" anchor="t">
            <a:spAutoFit/>
          </a:bodyPr>
          <a:lstStyle/>
          <a:p>
            <a:pPr indent="0" marL="0">
              <a:buNone/>
            </a:pPr>
            <a:r>
              <a:rPr lang="en-US" sz="2000" b="1" dirty="0">
                <a:solidFill>
                  <a:srgbClr val="004831"/>
                </a:solidFill>
                <a:latin typeface="Arial" pitchFamily="34" charset="0"/>
                <a:ea typeface="Arial" pitchFamily="34" charset="-122"/>
                <a:cs typeface="Arial" pitchFamily="34" charset="-120"/>
              </a:rPr>
              <a:t>Organisational access</a:t>
            </a:r>
            <a:endParaRPr lang="en-US" sz="2000" dirty="0"/>
          </a:p>
        </p:txBody>
      </p:sp>
      <p:sp>
        <p:nvSpPr>
          <p:cNvPr id="12" name="Text 9"/>
          <p:cNvSpPr/>
          <p:nvPr/>
        </p:nvSpPr>
        <p:spPr>
          <a:xfrm>
            <a:off x="1444752" y="2807208"/>
            <a:ext cx="4846320" cy="365760"/>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Relevant branch and department</a:t>
            </a:r>
            <a:endParaRPr lang="en-US" sz="1500" dirty="0"/>
          </a:p>
        </p:txBody>
      </p:sp>
      <p:sp>
        <p:nvSpPr>
          <p:cNvPr id="13" name="Shape 10"/>
          <p:cNvSpPr/>
          <p:nvPr/>
        </p:nvSpPr>
        <p:spPr>
          <a:xfrm>
            <a:off x="603504" y="3410712"/>
            <a:ext cx="594360" cy="594360"/>
          </a:xfrm>
          <a:prstGeom prst="ellipse">
            <a:avLst/>
          </a:prstGeom>
          <a:solidFill>
            <a:srgbClr val="EAF2EE"/>
          </a:solidFill>
          <a:ln w="12700">
            <a:solidFill>
              <a:srgbClr val="EAF2EE"/>
            </a:solidFill>
            <a:prstDash val="solid"/>
          </a:ln>
        </p:spPr>
      </p:sp>
      <p:sp>
        <p:nvSpPr>
          <p:cNvPr id="14" name="Shape 11"/>
          <p:cNvSpPr/>
          <p:nvPr/>
        </p:nvSpPr>
        <p:spPr>
          <a:xfrm>
            <a:off x="734263" y="3529584"/>
            <a:ext cx="332842" cy="362560"/>
          </a:xfrm>
          <a:prstGeom prst="hexagon">
            <a:avLst/>
          </a:prstGeom>
          <a:solidFill>
            <a:srgbClr val="EAF2EE"/>
          </a:solidFill>
          <a:ln w="12700">
            <a:solidFill>
              <a:srgbClr val="004831"/>
            </a:solidFill>
            <a:prstDash val="solid"/>
          </a:ln>
        </p:spPr>
      </p:sp>
      <p:sp>
        <p:nvSpPr>
          <p:cNvPr id="15" name="Shape 12"/>
          <p:cNvSpPr/>
          <p:nvPr/>
        </p:nvSpPr>
        <p:spPr>
          <a:xfrm>
            <a:off x="817474" y="3696005"/>
            <a:ext cx="65380" cy="65380"/>
          </a:xfrm>
          <a:prstGeom prst="line">
            <a:avLst/>
          </a:prstGeom>
          <a:noFill/>
          <a:ln w="21590">
            <a:solidFill>
              <a:srgbClr val="004831"/>
            </a:solidFill>
            <a:prstDash val="solid"/>
            <a:headEnd type="none"/>
            <a:tailEnd type="none"/>
          </a:ln>
        </p:spPr>
      </p:sp>
      <p:sp>
        <p:nvSpPr>
          <p:cNvPr id="16" name="Shape 13"/>
          <p:cNvSpPr/>
          <p:nvPr/>
        </p:nvSpPr>
        <p:spPr>
          <a:xfrm>
            <a:off x="882853" y="3761384"/>
            <a:ext cx="112928" cy="-118872"/>
          </a:xfrm>
          <a:prstGeom prst="line">
            <a:avLst/>
          </a:prstGeom>
          <a:noFill/>
          <a:ln w="21590">
            <a:solidFill>
              <a:srgbClr val="004831"/>
            </a:solidFill>
            <a:prstDash val="solid"/>
            <a:headEnd type="none"/>
            <a:tailEnd type="none"/>
          </a:ln>
        </p:spPr>
      </p:sp>
      <p:sp>
        <p:nvSpPr>
          <p:cNvPr id="17" name="Text 14"/>
          <p:cNvSpPr/>
          <p:nvPr/>
        </p:nvSpPr>
        <p:spPr>
          <a:xfrm>
            <a:off x="1444752" y="3429000"/>
            <a:ext cx="4846320" cy="320040"/>
          </a:xfrm>
          <a:prstGeom prst="rect">
            <a:avLst/>
          </a:prstGeom>
          <a:noFill/>
          <a:ln/>
        </p:spPr>
        <p:txBody>
          <a:bodyPr wrap="square" lIns="0" tIns="0" rIns="0" bIns="0" rtlCol="0" anchor="t">
            <a:spAutoFit/>
          </a:bodyPr>
          <a:lstStyle/>
          <a:p>
            <a:pPr indent="0" marL="0">
              <a:buNone/>
            </a:pPr>
            <a:r>
              <a:rPr lang="en-US" sz="2000" b="1" dirty="0">
                <a:solidFill>
                  <a:srgbClr val="004831"/>
                </a:solidFill>
                <a:latin typeface="Arial" pitchFamily="34" charset="0"/>
                <a:ea typeface="Arial" pitchFamily="34" charset="-122"/>
                <a:cs typeface="Arial" pitchFamily="34" charset="-120"/>
              </a:rPr>
              <a:t>Review permission</a:t>
            </a:r>
            <a:endParaRPr lang="en-US" sz="2000" dirty="0"/>
          </a:p>
        </p:txBody>
      </p:sp>
      <p:sp>
        <p:nvSpPr>
          <p:cNvPr id="18" name="Text 15"/>
          <p:cNvSpPr/>
          <p:nvPr/>
        </p:nvSpPr>
        <p:spPr>
          <a:xfrm>
            <a:off x="1444752" y="3886200"/>
            <a:ext cx="4846320" cy="365760"/>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Authorised for the required level</a:t>
            </a:r>
            <a:endParaRPr lang="en-US" sz="1500" dirty="0"/>
          </a:p>
        </p:txBody>
      </p:sp>
      <p:sp>
        <p:nvSpPr>
          <p:cNvPr id="19" name="Shape 16"/>
          <p:cNvSpPr/>
          <p:nvPr/>
        </p:nvSpPr>
        <p:spPr>
          <a:xfrm>
            <a:off x="603504" y="4489704"/>
            <a:ext cx="594360" cy="594360"/>
          </a:xfrm>
          <a:prstGeom prst="ellipse">
            <a:avLst/>
          </a:prstGeom>
          <a:solidFill>
            <a:srgbClr val="EAF2EE"/>
          </a:solidFill>
          <a:ln w="12700">
            <a:solidFill>
              <a:srgbClr val="EAF2EE"/>
            </a:solidFill>
            <a:prstDash val="solid"/>
          </a:ln>
        </p:spPr>
      </p:sp>
      <p:sp>
        <p:nvSpPr>
          <p:cNvPr id="20" name="Shape 17"/>
          <p:cNvSpPr/>
          <p:nvPr/>
        </p:nvSpPr>
        <p:spPr>
          <a:xfrm>
            <a:off x="763981" y="4792828"/>
            <a:ext cx="95098" cy="89154"/>
          </a:xfrm>
          <a:prstGeom prst="line">
            <a:avLst/>
          </a:prstGeom>
          <a:noFill/>
          <a:ln w="27940">
            <a:solidFill>
              <a:srgbClr val="004831"/>
            </a:solidFill>
            <a:prstDash val="solid"/>
            <a:headEnd type="none"/>
            <a:tailEnd type="none"/>
          </a:ln>
        </p:spPr>
      </p:sp>
      <p:sp>
        <p:nvSpPr>
          <p:cNvPr id="21" name="Shape 18"/>
          <p:cNvSpPr/>
          <p:nvPr/>
        </p:nvSpPr>
        <p:spPr>
          <a:xfrm>
            <a:off x="859079" y="4881982"/>
            <a:ext cx="184252" cy="-196139"/>
          </a:xfrm>
          <a:prstGeom prst="line">
            <a:avLst/>
          </a:prstGeom>
          <a:noFill/>
          <a:ln w="27940">
            <a:solidFill>
              <a:srgbClr val="004831"/>
            </a:solidFill>
            <a:prstDash val="solid"/>
            <a:headEnd type="none"/>
            <a:tailEnd type="none"/>
          </a:ln>
        </p:spPr>
      </p:sp>
      <p:sp>
        <p:nvSpPr>
          <p:cNvPr id="22" name="Text 19"/>
          <p:cNvSpPr/>
          <p:nvPr/>
        </p:nvSpPr>
        <p:spPr>
          <a:xfrm>
            <a:off x="1444752" y="4507992"/>
            <a:ext cx="4846320" cy="320040"/>
          </a:xfrm>
          <a:prstGeom prst="rect">
            <a:avLst/>
          </a:prstGeom>
          <a:noFill/>
          <a:ln/>
        </p:spPr>
        <p:txBody>
          <a:bodyPr wrap="square" lIns="0" tIns="0" rIns="0" bIns="0" rtlCol="0" anchor="t">
            <a:spAutoFit/>
          </a:bodyPr>
          <a:lstStyle/>
          <a:p>
            <a:pPr indent="0" marL="0">
              <a:buNone/>
            </a:pPr>
            <a:r>
              <a:rPr lang="en-US" sz="2000" b="1" dirty="0">
                <a:solidFill>
                  <a:srgbClr val="004831"/>
                </a:solidFill>
                <a:latin typeface="Arial" pitchFamily="34" charset="0"/>
                <a:ea typeface="Arial" pitchFamily="34" charset="-122"/>
                <a:cs typeface="Arial" pitchFamily="34" charset="-120"/>
              </a:rPr>
              <a:t>Independent reviewer</a:t>
            </a:r>
            <a:endParaRPr lang="en-US" sz="2000" dirty="0"/>
          </a:p>
        </p:txBody>
      </p:sp>
      <p:sp>
        <p:nvSpPr>
          <p:cNvPr id="23" name="Text 20"/>
          <p:cNvSpPr/>
          <p:nvPr/>
        </p:nvSpPr>
        <p:spPr>
          <a:xfrm>
            <a:off x="1444752" y="4965192"/>
            <a:ext cx="4846320" cy="365760"/>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No earlier approval on this message</a:t>
            </a:r>
            <a:endParaRPr lang="en-US" sz="1500" dirty="0"/>
          </a:p>
        </p:txBody>
      </p:sp>
      <p:sp>
        <p:nvSpPr>
          <p:cNvPr id="24" name="Shape 21"/>
          <p:cNvSpPr/>
          <p:nvPr/>
        </p:nvSpPr>
        <p:spPr>
          <a:xfrm>
            <a:off x="6656832" y="2331720"/>
            <a:ext cx="4983480" cy="3346704"/>
          </a:xfrm>
          <a:prstGeom prst="roundRect">
            <a:avLst>
              <a:gd name="adj" fmla="val 3279"/>
            </a:avLst>
          </a:prstGeom>
          <a:solidFill>
            <a:srgbClr val="FFFFFF"/>
          </a:solidFill>
          <a:ln w="12700">
            <a:solidFill>
              <a:srgbClr val="D8DDD9"/>
            </a:solidFill>
            <a:prstDash val="solid"/>
          </a:ln>
        </p:spPr>
      </p:sp>
      <p:pic>
        <p:nvPicPr>
          <p:cNvPr id="25" name="Image 0" descr="/home/alexandr/code/SwiftReview/backend/docs/business-presentation/assets/assignment-dialog.png">    </p:cNvPr>
          <p:cNvPicPr>
            <a:picLocks noChangeAspect="1"/>
          </p:cNvPicPr>
          <p:nvPr/>
        </p:nvPicPr>
        <p:blipFill>
          <a:blip r:embed="rId1"/>
          <a:stretch>
            <a:fillRect/>
          </a:stretch>
        </p:blipFill>
        <p:spPr>
          <a:xfrm>
            <a:off x="6839712" y="3050579"/>
            <a:ext cx="4608576" cy="1890698"/>
          </a:xfrm>
          <a:prstGeom prst="rect">
            <a:avLst/>
          </a:prstGeom>
        </p:spPr>
      </p:pic>
      <p:sp>
        <p:nvSpPr>
          <p:cNvPr id="26" name="Text 22"/>
          <p:cNvSpPr/>
          <p:nvPr/>
        </p:nvSpPr>
        <p:spPr>
          <a:xfrm>
            <a:off x="548640" y="5998464"/>
            <a:ext cx="11064240" cy="320040"/>
          </a:xfrm>
          <a:prstGeom prst="rect">
            <a:avLst/>
          </a:prstGeom>
          <a:noFill/>
          <a:ln/>
        </p:spPr>
        <p:txBody>
          <a:bodyPr wrap="square" lIns="0" tIns="0" rIns="0" bIns="0" rtlCol="0" anchor="t">
            <a:spAutoFit/>
          </a:bodyPr>
          <a:lstStyle/>
          <a:p>
            <a:pPr indent="0" marL="0">
              <a:buNone/>
            </a:pPr>
            <a:r>
              <a:rPr lang="en-US" sz="1100" dirty="0">
                <a:solidFill>
                  <a:srgbClr val="68716C"/>
                </a:solidFill>
                <a:latin typeface="Arial" pitchFamily="34" charset="0"/>
                <a:ea typeface="Arial" pitchFamily="34" charset="-122"/>
                <a:cs typeface="Arial" pitchFamily="34" charset="-120"/>
              </a:rPr>
              <a:t>Manual assignment • No self-assignment • Reassignment is available before review starts.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6"/>
        </a:solidFill>
      </p:bgPr>
    </p:bg>
    <p:spTree>
      <p:nvGrpSpPr>
        <p:cNvPr id="1" name=""/>
        <p:cNvGrpSpPr/>
        <p:nvPr/>
      </p:nvGrpSpPr>
      <p:grpSpPr>
        <a:xfrm>
          <a:off x="0" y="0"/>
          <a:ext cx="0" cy="0"/>
          <a:chOff x="0" y="0"/>
          <a:chExt cx="0" cy="0"/>
        </a:xfrm>
      </p:grpSpPr>
      <p:sp>
        <p:nvSpPr>
          <p:cNvPr id="2" name="Text 0"/>
          <p:cNvSpPr/>
          <p:nvPr/>
        </p:nvSpPr>
        <p:spPr>
          <a:xfrm>
            <a:off x="548640" y="429768"/>
            <a:ext cx="10058400" cy="210312"/>
          </a:xfrm>
          <a:prstGeom prst="rect">
            <a:avLst/>
          </a:prstGeom>
          <a:noFill/>
          <a:ln/>
        </p:spPr>
        <p:txBody>
          <a:bodyPr wrap="square" lIns="0" tIns="0" rIns="0" bIns="0" rtlCol="0" anchor="t">
            <a:spAutoFit/>
          </a:bodyPr>
          <a:lstStyle/>
          <a:p>
            <a:pPr indent="0" marL="0">
              <a:buNone/>
            </a:pPr>
            <a:r>
              <a:rPr lang="en-US" sz="1100" b="1" dirty="0">
                <a:solidFill>
                  <a:srgbClr val="004831"/>
                </a:solidFill>
                <a:latin typeface="Arial" pitchFamily="34" charset="0"/>
                <a:ea typeface="Arial" pitchFamily="34" charset="-122"/>
                <a:cs typeface="Arial" pitchFamily="34" charset="-120"/>
              </a:rPr>
              <a:t>Review controls</a:t>
            </a:r>
            <a:endParaRPr lang="en-US" sz="1100" dirty="0"/>
          </a:p>
        </p:txBody>
      </p:sp>
      <p:sp>
        <p:nvSpPr>
          <p:cNvPr id="3" name="Text 1"/>
          <p:cNvSpPr/>
          <p:nvPr/>
        </p:nvSpPr>
        <p:spPr>
          <a:xfrm>
            <a:off x="530352" y="868680"/>
            <a:ext cx="11064240" cy="621792"/>
          </a:xfrm>
          <a:prstGeom prst="rect">
            <a:avLst/>
          </a:prstGeom>
          <a:noFill/>
          <a:ln/>
        </p:spPr>
        <p:txBody>
          <a:bodyPr wrap="square" lIns="0" tIns="0" rIns="0" bIns="0" rtlCol="0" anchor="t">
            <a:spAutoFit/>
          </a:bodyPr>
          <a:lstStyle/>
          <a:p>
            <a:pPr indent="0" marL="0">
              <a:buNone/>
            </a:pPr>
            <a:r>
              <a:rPr lang="en-US" sz="3400" b="1" dirty="0">
                <a:solidFill>
                  <a:srgbClr val="1F2522"/>
                </a:solidFill>
                <a:latin typeface="Arial" pitchFamily="34" charset="0"/>
                <a:ea typeface="Arial" pitchFamily="34" charset="-122"/>
                <a:cs typeface="Arial" pitchFamily="34" charset="-120"/>
              </a:rPr>
              <a:t>Match review depth to the process</a:t>
            </a:r>
            <a:endParaRPr lang="en-US" sz="3400" dirty="0"/>
          </a:p>
        </p:txBody>
      </p:sp>
      <p:sp>
        <p:nvSpPr>
          <p:cNvPr id="4" name="Text 2"/>
          <p:cNvSpPr/>
          <p:nvPr/>
        </p:nvSpPr>
        <p:spPr>
          <a:xfrm>
            <a:off x="548640" y="1572768"/>
            <a:ext cx="10927080" cy="502920"/>
          </a:xfrm>
          <a:prstGeom prst="rect">
            <a:avLst/>
          </a:prstGeom>
          <a:noFill/>
          <a:ln/>
        </p:spPr>
        <p:txBody>
          <a:bodyPr wrap="square" lIns="0" tIns="0" rIns="0" bIns="0" rtlCol="0" anchor="t">
            <a:spAutoFit/>
          </a:bodyPr>
          <a:lstStyle/>
          <a:p>
            <a:pPr indent="0" marL="0">
              <a:buNone/>
            </a:pPr>
            <a:r>
              <a:rPr lang="en-US" sz="1600" dirty="0">
                <a:solidFill>
                  <a:srgbClr val="68716C"/>
                </a:solidFill>
                <a:latin typeface="Arial" pitchFamily="34" charset="0"/>
                <a:ea typeface="Arial" pitchFamily="34" charset="-122"/>
                <a:cs typeface="Arial" pitchFamily="34" charset="-120"/>
              </a:rPr>
              <a:t>Configured workflows support one, two or three required review levels.</a:t>
            </a:r>
            <a:endParaRPr lang="en-US" sz="1600" dirty="0"/>
          </a:p>
        </p:txBody>
      </p:sp>
      <p:sp>
        <p:nvSpPr>
          <p:cNvPr id="5" name="Text 3"/>
          <p:cNvSpPr/>
          <p:nvPr/>
        </p:nvSpPr>
        <p:spPr>
          <a:xfrm>
            <a:off x="530352" y="6455664"/>
            <a:ext cx="7315200" cy="164592"/>
          </a:xfrm>
          <a:prstGeom prst="rect">
            <a:avLst/>
          </a:prstGeom>
          <a:noFill/>
          <a:ln/>
        </p:spPr>
        <p:txBody>
          <a:bodyPr wrap="square" lIns="0" tIns="0" rIns="0" bIns="0" rtlCol="0" anchor="t">
            <a:spAutoFit/>
          </a:bodyPr>
          <a:lstStyle/>
          <a:p>
            <a:pPr indent="0" marL="0">
              <a:buNone/>
            </a:pPr>
            <a:r>
              <a:rPr lang="en-US" sz="900" dirty="0">
                <a:solidFill>
                  <a:srgbClr val="68716C"/>
                </a:solidFill>
                <a:latin typeface="Arial" pitchFamily="34" charset="0"/>
                <a:ea typeface="Arial" pitchFamily="34" charset="-122"/>
                <a:cs typeface="Arial" pitchFamily="34" charset="-120"/>
              </a:rPr>
              <a:t>ORP  /  Operations Reporting and Processing</a:t>
            </a:r>
            <a:endParaRPr lang="en-US" sz="900" dirty="0"/>
          </a:p>
        </p:txBody>
      </p:sp>
      <p:sp>
        <p:nvSpPr>
          <p:cNvPr id="6" name="Text 4"/>
          <p:cNvSpPr/>
          <p:nvPr/>
        </p:nvSpPr>
        <p:spPr>
          <a:xfrm>
            <a:off x="11064240" y="6419088"/>
            <a:ext cx="566928" cy="228600"/>
          </a:xfrm>
          <a:prstGeom prst="rect">
            <a:avLst/>
          </a:prstGeom>
          <a:noFill/>
          <a:ln/>
        </p:spPr>
        <p:txBody>
          <a:bodyPr wrap="square" lIns="0" tIns="0" rIns="0" bIns="0" rtlCol="0" anchor="t">
            <a:spAutoFit/>
          </a:bodyPr>
          <a:lstStyle/>
          <a:p>
            <a:pPr algn="r" indent="0" marL="0">
              <a:buNone/>
            </a:pPr>
            <a:r>
              <a:rPr lang="en-US" sz="1100" dirty="0">
                <a:solidFill>
                  <a:srgbClr val="68716C"/>
                </a:solidFill>
                <a:latin typeface="Arial" pitchFamily="34" charset="0"/>
                <a:ea typeface="Arial" pitchFamily="34" charset="-122"/>
                <a:cs typeface="Arial" pitchFamily="34" charset="-120"/>
              </a:rPr>
              <a:t>06</a:t>
            </a:r>
            <a:endParaRPr lang="en-US" sz="1100" dirty="0"/>
          </a:p>
        </p:txBody>
      </p:sp>
      <p:sp>
        <p:nvSpPr>
          <p:cNvPr id="8" name="Text 5"/>
          <p:cNvSpPr/>
          <p:nvPr/>
        </p:nvSpPr>
        <p:spPr>
          <a:xfrm>
            <a:off x="612648" y="2578608"/>
            <a:ext cx="2011680" cy="365760"/>
          </a:xfrm>
          <a:prstGeom prst="rect">
            <a:avLst/>
          </a:prstGeom>
          <a:noFill/>
          <a:ln/>
        </p:spPr>
        <p:txBody>
          <a:bodyPr wrap="square" lIns="0" tIns="0" rIns="0" bIns="0" rtlCol="0" anchor="t">
            <a:spAutoFit/>
          </a:bodyPr>
          <a:lstStyle/>
          <a:p>
            <a:pPr indent="0" marL="0">
              <a:buNone/>
            </a:pPr>
            <a:r>
              <a:rPr lang="en-US" sz="2000" b="1" dirty="0">
                <a:solidFill>
                  <a:srgbClr val="1F2522"/>
                </a:solidFill>
                <a:latin typeface="Arial" pitchFamily="34" charset="0"/>
                <a:ea typeface="Arial" pitchFamily="34" charset="-122"/>
                <a:cs typeface="Arial" pitchFamily="34" charset="-120"/>
              </a:rPr>
              <a:t>One level</a:t>
            </a:r>
            <a:endParaRPr lang="en-US" sz="2000" dirty="0"/>
          </a:p>
        </p:txBody>
      </p:sp>
      <p:sp>
        <p:nvSpPr>
          <p:cNvPr id="9" name="Shape 6"/>
          <p:cNvSpPr/>
          <p:nvPr/>
        </p:nvSpPr>
        <p:spPr>
          <a:xfrm>
            <a:off x="2935224" y="2468880"/>
            <a:ext cx="1508760" cy="667512"/>
          </a:xfrm>
          <a:prstGeom prst="roundRect">
            <a:avLst>
              <a:gd name="adj" fmla="val 16438"/>
            </a:avLst>
          </a:prstGeom>
          <a:solidFill>
            <a:srgbClr val="FFFFFF"/>
          </a:solidFill>
          <a:ln w="12700">
            <a:solidFill>
              <a:srgbClr val="D8DDD9"/>
            </a:solidFill>
            <a:prstDash val="solid"/>
          </a:ln>
        </p:spPr>
      </p:sp>
      <p:sp>
        <p:nvSpPr>
          <p:cNvPr id="10" name="Text 7"/>
          <p:cNvSpPr/>
          <p:nvPr/>
        </p:nvSpPr>
        <p:spPr>
          <a:xfrm>
            <a:off x="3099816" y="2651760"/>
            <a:ext cx="1188720" cy="256032"/>
          </a:xfrm>
          <a:prstGeom prst="rect">
            <a:avLst/>
          </a:prstGeom>
          <a:noFill/>
          <a:ln/>
        </p:spPr>
        <p:txBody>
          <a:bodyPr wrap="square" lIns="0" tIns="0" rIns="0" bIns="0" rtlCol="0" anchor="t">
            <a:spAutoFit/>
          </a:bodyPr>
          <a:lstStyle/>
          <a:p>
            <a:pPr indent="0" marL="0">
              <a:buNone/>
            </a:pPr>
            <a:r>
              <a:rPr lang="en-US" sz="1600" b="1" dirty="0">
                <a:solidFill>
                  <a:srgbClr val="004831"/>
                </a:solidFill>
                <a:latin typeface="Arial" pitchFamily="34" charset="0"/>
                <a:ea typeface="Arial" pitchFamily="34" charset="-122"/>
                <a:cs typeface="Arial" pitchFamily="34" charset="-120"/>
              </a:rPr>
              <a:t>Review 1</a:t>
            </a:r>
            <a:endParaRPr lang="en-US" sz="1600" dirty="0"/>
          </a:p>
        </p:txBody>
      </p:sp>
      <p:sp>
        <p:nvSpPr>
          <p:cNvPr id="11" name="Shape 8"/>
          <p:cNvSpPr/>
          <p:nvPr/>
        </p:nvSpPr>
        <p:spPr>
          <a:xfrm>
            <a:off x="4489704" y="2798064"/>
            <a:ext cx="237744" cy="0"/>
          </a:xfrm>
          <a:prstGeom prst="line">
            <a:avLst/>
          </a:prstGeom>
          <a:noFill/>
          <a:ln w="20320">
            <a:solidFill>
              <a:srgbClr val="004831"/>
            </a:solidFill>
            <a:prstDash val="solid"/>
            <a:headEnd type="none"/>
            <a:tailEnd type="triangle"/>
          </a:ln>
        </p:spPr>
      </p:sp>
      <p:sp>
        <p:nvSpPr>
          <p:cNvPr id="12" name="Shape 9"/>
          <p:cNvSpPr/>
          <p:nvPr/>
        </p:nvSpPr>
        <p:spPr>
          <a:xfrm>
            <a:off x="4809744" y="2487168"/>
            <a:ext cx="612648" cy="612648"/>
          </a:xfrm>
          <a:prstGeom prst="ellipse">
            <a:avLst/>
          </a:prstGeom>
          <a:solidFill>
            <a:srgbClr val="C4D600"/>
          </a:solidFill>
          <a:ln w="12700">
            <a:solidFill>
              <a:srgbClr val="C4D600"/>
            </a:solidFill>
            <a:prstDash val="solid"/>
          </a:ln>
        </p:spPr>
      </p:sp>
      <p:sp>
        <p:nvSpPr>
          <p:cNvPr id="13" name="Shape 10"/>
          <p:cNvSpPr/>
          <p:nvPr/>
        </p:nvSpPr>
        <p:spPr>
          <a:xfrm>
            <a:off x="4975159" y="2799618"/>
            <a:ext cx="98024" cy="91897"/>
          </a:xfrm>
          <a:prstGeom prst="line">
            <a:avLst/>
          </a:prstGeom>
          <a:noFill/>
          <a:ln w="27940">
            <a:solidFill>
              <a:srgbClr val="003322"/>
            </a:solidFill>
            <a:prstDash val="solid"/>
            <a:headEnd type="none"/>
            <a:tailEnd type="none"/>
          </a:ln>
        </p:spPr>
      </p:sp>
      <p:sp>
        <p:nvSpPr>
          <p:cNvPr id="14" name="Shape 11"/>
          <p:cNvSpPr/>
          <p:nvPr/>
        </p:nvSpPr>
        <p:spPr>
          <a:xfrm>
            <a:off x="5073183" y="2891516"/>
            <a:ext cx="189921" cy="-202174"/>
          </a:xfrm>
          <a:prstGeom prst="line">
            <a:avLst/>
          </a:prstGeom>
          <a:noFill/>
          <a:ln w="27940">
            <a:solidFill>
              <a:srgbClr val="003322"/>
            </a:solidFill>
            <a:prstDash val="solid"/>
            <a:headEnd type="none"/>
            <a:tailEnd type="none"/>
          </a:ln>
        </p:spPr>
      </p:sp>
      <p:sp>
        <p:nvSpPr>
          <p:cNvPr id="15" name="Text 12"/>
          <p:cNvSpPr/>
          <p:nvPr/>
        </p:nvSpPr>
        <p:spPr>
          <a:xfrm>
            <a:off x="612648" y="3566160"/>
            <a:ext cx="2011680" cy="365760"/>
          </a:xfrm>
          <a:prstGeom prst="rect">
            <a:avLst/>
          </a:prstGeom>
          <a:noFill/>
          <a:ln/>
        </p:spPr>
        <p:txBody>
          <a:bodyPr wrap="square" lIns="0" tIns="0" rIns="0" bIns="0" rtlCol="0" anchor="t">
            <a:spAutoFit/>
          </a:bodyPr>
          <a:lstStyle/>
          <a:p>
            <a:pPr indent="0" marL="0">
              <a:buNone/>
            </a:pPr>
            <a:r>
              <a:rPr lang="en-US" sz="2000" b="1" dirty="0">
                <a:solidFill>
                  <a:srgbClr val="1F2522"/>
                </a:solidFill>
                <a:latin typeface="Arial" pitchFamily="34" charset="0"/>
                <a:ea typeface="Arial" pitchFamily="34" charset="-122"/>
                <a:cs typeface="Arial" pitchFamily="34" charset="-120"/>
              </a:rPr>
              <a:t>Two levels</a:t>
            </a:r>
            <a:endParaRPr lang="en-US" sz="2000" dirty="0"/>
          </a:p>
        </p:txBody>
      </p:sp>
      <p:sp>
        <p:nvSpPr>
          <p:cNvPr id="16" name="Shape 13"/>
          <p:cNvSpPr/>
          <p:nvPr/>
        </p:nvSpPr>
        <p:spPr>
          <a:xfrm>
            <a:off x="2935224" y="3456432"/>
            <a:ext cx="1508760" cy="667512"/>
          </a:xfrm>
          <a:prstGeom prst="roundRect">
            <a:avLst>
              <a:gd name="adj" fmla="val 16438"/>
            </a:avLst>
          </a:prstGeom>
          <a:solidFill>
            <a:srgbClr val="FFFFFF"/>
          </a:solidFill>
          <a:ln w="12700">
            <a:solidFill>
              <a:srgbClr val="D8DDD9"/>
            </a:solidFill>
            <a:prstDash val="solid"/>
          </a:ln>
        </p:spPr>
      </p:sp>
      <p:sp>
        <p:nvSpPr>
          <p:cNvPr id="17" name="Text 14"/>
          <p:cNvSpPr/>
          <p:nvPr/>
        </p:nvSpPr>
        <p:spPr>
          <a:xfrm>
            <a:off x="3099816" y="3639312"/>
            <a:ext cx="1188720" cy="256032"/>
          </a:xfrm>
          <a:prstGeom prst="rect">
            <a:avLst/>
          </a:prstGeom>
          <a:noFill/>
          <a:ln/>
        </p:spPr>
        <p:txBody>
          <a:bodyPr wrap="square" lIns="0" tIns="0" rIns="0" bIns="0" rtlCol="0" anchor="t">
            <a:spAutoFit/>
          </a:bodyPr>
          <a:lstStyle/>
          <a:p>
            <a:pPr indent="0" marL="0">
              <a:buNone/>
            </a:pPr>
            <a:r>
              <a:rPr lang="en-US" sz="1600" b="1" dirty="0">
                <a:solidFill>
                  <a:srgbClr val="004831"/>
                </a:solidFill>
                <a:latin typeface="Arial" pitchFamily="34" charset="0"/>
                <a:ea typeface="Arial" pitchFamily="34" charset="-122"/>
                <a:cs typeface="Arial" pitchFamily="34" charset="-120"/>
              </a:rPr>
              <a:t>Review 1</a:t>
            </a:r>
            <a:endParaRPr lang="en-US" sz="1600" dirty="0"/>
          </a:p>
        </p:txBody>
      </p:sp>
      <p:sp>
        <p:nvSpPr>
          <p:cNvPr id="18" name="Shape 15"/>
          <p:cNvSpPr/>
          <p:nvPr/>
        </p:nvSpPr>
        <p:spPr>
          <a:xfrm>
            <a:off x="4489704" y="3785616"/>
            <a:ext cx="237744" cy="0"/>
          </a:xfrm>
          <a:prstGeom prst="line">
            <a:avLst/>
          </a:prstGeom>
          <a:noFill/>
          <a:ln w="20320">
            <a:solidFill>
              <a:srgbClr val="004831"/>
            </a:solidFill>
            <a:prstDash val="solid"/>
            <a:headEnd type="none"/>
            <a:tailEnd type="triangle"/>
          </a:ln>
        </p:spPr>
      </p:sp>
      <p:sp>
        <p:nvSpPr>
          <p:cNvPr id="19" name="Shape 16"/>
          <p:cNvSpPr/>
          <p:nvPr/>
        </p:nvSpPr>
        <p:spPr>
          <a:xfrm>
            <a:off x="4809744" y="3456432"/>
            <a:ext cx="1508760" cy="667512"/>
          </a:xfrm>
          <a:prstGeom prst="roundRect">
            <a:avLst>
              <a:gd name="adj" fmla="val 16438"/>
            </a:avLst>
          </a:prstGeom>
          <a:solidFill>
            <a:srgbClr val="FFFFFF"/>
          </a:solidFill>
          <a:ln w="12700">
            <a:solidFill>
              <a:srgbClr val="D8DDD9"/>
            </a:solidFill>
            <a:prstDash val="solid"/>
          </a:ln>
        </p:spPr>
      </p:sp>
      <p:sp>
        <p:nvSpPr>
          <p:cNvPr id="20" name="Text 17"/>
          <p:cNvSpPr/>
          <p:nvPr/>
        </p:nvSpPr>
        <p:spPr>
          <a:xfrm>
            <a:off x="4974336" y="3639312"/>
            <a:ext cx="1188720" cy="256032"/>
          </a:xfrm>
          <a:prstGeom prst="rect">
            <a:avLst/>
          </a:prstGeom>
          <a:noFill/>
          <a:ln/>
        </p:spPr>
        <p:txBody>
          <a:bodyPr wrap="square" lIns="0" tIns="0" rIns="0" bIns="0" rtlCol="0" anchor="t">
            <a:spAutoFit/>
          </a:bodyPr>
          <a:lstStyle/>
          <a:p>
            <a:pPr indent="0" marL="0">
              <a:buNone/>
            </a:pPr>
            <a:r>
              <a:rPr lang="en-US" sz="1600" b="1" dirty="0">
                <a:solidFill>
                  <a:srgbClr val="004831"/>
                </a:solidFill>
                <a:latin typeface="Arial" pitchFamily="34" charset="0"/>
                <a:ea typeface="Arial" pitchFamily="34" charset="-122"/>
                <a:cs typeface="Arial" pitchFamily="34" charset="-120"/>
              </a:rPr>
              <a:t>Review 2</a:t>
            </a:r>
            <a:endParaRPr lang="en-US" sz="1600" dirty="0"/>
          </a:p>
        </p:txBody>
      </p:sp>
      <p:sp>
        <p:nvSpPr>
          <p:cNvPr id="21" name="Shape 18"/>
          <p:cNvSpPr/>
          <p:nvPr/>
        </p:nvSpPr>
        <p:spPr>
          <a:xfrm>
            <a:off x="6364224" y="3785616"/>
            <a:ext cx="237744" cy="0"/>
          </a:xfrm>
          <a:prstGeom prst="line">
            <a:avLst/>
          </a:prstGeom>
          <a:noFill/>
          <a:ln w="20320">
            <a:solidFill>
              <a:srgbClr val="004831"/>
            </a:solidFill>
            <a:prstDash val="solid"/>
            <a:headEnd type="none"/>
            <a:tailEnd type="triangle"/>
          </a:ln>
        </p:spPr>
      </p:sp>
      <p:sp>
        <p:nvSpPr>
          <p:cNvPr id="22" name="Shape 19"/>
          <p:cNvSpPr/>
          <p:nvPr/>
        </p:nvSpPr>
        <p:spPr>
          <a:xfrm>
            <a:off x="6684264" y="3474720"/>
            <a:ext cx="612648" cy="612648"/>
          </a:xfrm>
          <a:prstGeom prst="ellipse">
            <a:avLst/>
          </a:prstGeom>
          <a:solidFill>
            <a:srgbClr val="C4D600"/>
          </a:solidFill>
          <a:ln w="12700">
            <a:solidFill>
              <a:srgbClr val="C4D600"/>
            </a:solidFill>
            <a:prstDash val="solid"/>
          </a:ln>
        </p:spPr>
      </p:sp>
      <p:sp>
        <p:nvSpPr>
          <p:cNvPr id="23" name="Shape 20"/>
          <p:cNvSpPr/>
          <p:nvPr/>
        </p:nvSpPr>
        <p:spPr>
          <a:xfrm>
            <a:off x="6849679" y="3787170"/>
            <a:ext cx="98024" cy="91897"/>
          </a:xfrm>
          <a:prstGeom prst="line">
            <a:avLst/>
          </a:prstGeom>
          <a:noFill/>
          <a:ln w="27940">
            <a:solidFill>
              <a:srgbClr val="003322"/>
            </a:solidFill>
            <a:prstDash val="solid"/>
            <a:headEnd type="none"/>
            <a:tailEnd type="none"/>
          </a:ln>
        </p:spPr>
      </p:sp>
      <p:sp>
        <p:nvSpPr>
          <p:cNvPr id="24" name="Shape 21"/>
          <p:cNvSpPr/>
          <p:nvPr/>
        </p:nvSpPr>
        <p:spPr>
          <a:xfrm>
            <a:off x="6947703" y="3879068"/>
            <a:ext cx="189921" cy="-202174"/>
          </a:xfrm>
          <a:prstGeom prst="line">
            <a:avLst/>
          </a:prstGeom>
          <a:noFill/>
          <a:ln w="27940">
            <a:solidFill>
              <a:srgbClr val="003322"/>
            </a:solidFill>
            <a:prstDash val="solid"/>
            <a:headEnd type="none"/>
            <a:tailEnd type="none"/>
          </a:ln>
        </p:spPr>
      </p:sp>
      <p:sp>
        <p:nvSpPr>
          <p:cNvPr id="25" name="Text 22"/>
          <p:cNvSpPr/>
          <p:nvPr/>
        </p:nvSpPr>
        <p:spPr>
          <a:xfrm>
            <a:off x="612648" y="4553712"/>
            <a:ext cx="2011680" cy="365760"/>
          </a:xfrm>
          <a:prstGeom prst="rect">
            <a:avLst/>
          </a:prstGeom>
          <a:noFill/>
          <a:ln/>
        </p:spPr>
        <p:txBody>
          <a:bodyPr wrap="square" lIns="0" tIns="0" rIns="0" bIns="0" rtlCol="0" anchor="t">
            <a:spAutoFit/>
          </a:bodyPr>
          <a:lstStyle/>
          <a:p>
            <a:pPr indent="0" marL="0">
              <a:buNone/>
            </a:pPr>
            <a:r>
              <a:rPr lang="en-US" sz="2000" b="1" dirty="0">
                <a:solidFill>
                  <a:srgbClr val="1F2522"/>
                </a:solidFill>
                <a:latin typeface="Arial" pitchFamily="34" charset="0"/>
                <a:ea typeface="Arial" pitchFamily="34" charset="-122"/>
                <a:cs typeface="Arial" pitchFamily="34" charset="-120"/>
              </a:rPr>
              <a:t>Three levels</a:t>
            </a:r>
            <a:endParaRPr lang="en-US" sz="2000" dirty="0"/>
          </a:p>
        </p:txBody>
      </p:sp>
      <p:sp>
        <p:nvSpPr>
          <p:cNvPr id="26" name="Shape 23"/>
          <p:cNvSpPr/>
          <p:nvPr/>
        </p:nvSpPr>
        <p:spPr>
          <a:xfrm>
            <a:off x="2935224" y="4443984"/>
            <a:ext cx="1508760" cy="667512"/>
          </a:xfrm>
          <a:prstGeom prst="roundRect">
            <a:avLst>
              <a:gd name="adj" fmla="val 16438"/>
            </a:avLst>
          </a:prstGeom>
          <a:solidFill>
            <a:srgbClr val="FFFFFF"/>
          </a:solidFill>
          <a:ln w="12700">
            <a:solidFill>
              <a:srgbClr val="D8DDD9"/>
            </a:solidFill>
            <a:prstDash val="solid"/>
          </a:ln>
        </p:spPr>
      </p:sp>
      <p:sp>
        <p:nvSpPr>
          <p:cNvPr id="27" name="Text 24"/>
          <p:cNvSpPr/>
          <p:nvPr/>
        </p:nvSpPr>
        <p:spPr>
          <a:xfrm>
            <a:off x="3099816" y="4626864"/>
            <a:ext cx="1188720" cy="256032"/>
          </a:xfrm>
          <a:prstGeom prst="rect">
            <a:avLst/>
          </a:prstGeom>
          <a:noFill/>
          <a:ln/>
        </p:spPr>
        <p:txBody>
          <a:bodyPr wrap="square" lIns="0" tIns="0" rIns="0" bIns="0" rtlCol="0" anchor="t">
            <a:spAutoFit/>
          </a:bodyPr>
          <a:lstStyle/>
          <a:p>
            <a:pPr indent="0" marL="0">
              <a:buNone/>
            </a:pPr>
            <a:r>
              <a:rPr lang="en-US" sz="1600" b="1" dirty="0">
                <a:solidFill>
                  <a:srgbClr val="004831"/>
                </a:solidFill>
                <a:latin typeface="Arial" pitchFamily="34" charset="0"/>
                <a:ea typeface="Arial" pitchFamily="34" charset="-122"/>
                <a:cs typeface="Arial" pitchFamily="34" charset="-120"/>
              </a:rPr>
              <a:t>Review 1</a:t>
            </a:r>
            <a:endParaRPr lang="en-US" sz="1600" dirty="0"/>
          </a:p>
        </p:txBody>
      </p:sp>
      <p:sp>
        <p:nvSpPr>
          <p:cNvPr id="28" name="Shape 25"/>
          <p:cNvSpPr/>
          <p:nvPr/>
        </p:nvSpPr>
        <p:spPr>
          <a:xfrm>
            <a:off x="4489704" y="4773168"/>
            <a:ext cx="237744" cy="0"/>
          </a:xfrm>
          <a:prstGeom prst="line">
            <a:avLst/>
          </a:prstGeom>
          <a:noFill/>
          <a:ln w="20320">
            <a:solidFill>
              <a:srgbClr val="004831"/>
            </a:solidFill>
            <a:prstDash val="solid"/>
            <a:headEnd type="none"/>
            <a:tailEnd type="triangle"/>
          </a:ln>
        </p:spPr>
      </p:sp>
      <p:sp>
        <p:nvSpPr>
          <p:cNvPr id="29" name="Shape 26"/>
          <p:cNvSpPr/>
          <p:nvPr/>
        </p:nvSpPr>
        <p:spPr>
          <a:xfrm>
            <a:off x="4809744" y="4443984"/>
            <a:ext cx="1508760" cy="667512"/>
          </a:xfrm>
          <a:prstGeom prst="roundRect">
            <a:avLst>
              <a:gd name="adj" fmla="val 16438"/>
            </a:avLst>
          </a:prstGeom>
          <a:solidFill>
            <a:srgbClr val="FFFFFF"/>
          </a:solidFill>
          <a:ln w="12700">
            <a:solidFill>
              <a:srgbClr val="D8DDD9"/>
            </a:solidFill>
            <a:prstDash val="solid"/>
          </a:ln>
        </p:spPr>
      </p:sp>
      <p:sp>
        <p:nvSpPr>
          <p:cNvPr id="30" name="Text 27"/>
          <p:cNvSpPr/>
          <p:nvPr/>
        </p:nvSpPr>
        <p:spPr>
          <a:xfrm>
            <a:off x="4974336" y="4626864"/>
            <a:ext cx="1188720" cy="256032"/>
          </a:xfrm>
          <a:prstGeom prst="rect">
            <a:avLst/>
          </a:prstGeom>
          <a:noFill/>
          <a:ln/>
        </p:spPr>
        <p:txBody>
          <a:bodyPr wrap="square" lIns="0" tIns="0" rIns="0" bIns="0" rtlCol="0" anchor="t">
            <a:spAutoFit/>
          </a:bodyPr>
          <a:lstStyle/>
          <a:p>
            <a:pPr indent="0" marL="0">
              <a:buNone/>
            </a:pPr>
            <a:r>
              <a:rPr lang="en-US" sz="1600" b="1" dirty="0">
                <a:solidFill>
                  <a:srgbClr val="004831"/>
                </a:solidFill>
                <a:latin typeface="Arial" pitchFamily="34" charset="0"/>
                <a:ea typeface="Arial" pitchFamily="34" charset="-122"/>
                <a:cs typeface="Arial" pitchFamily="34" charset="-120"/>
              </a:rPr>
              <a:t>Review 2</a:t>
            </a:r>
            <a:endParaRPr lang="en-US" sz="1600" dirty="0"/>
          </a:p>
        </p:txBody>
      </p:sp>
      <p:sp>
        <p:nvSpPr>
          <p:cNvPr id="31" name="Shape 28"/>
          <p:cNvSpPr/>
          <p:nvPr/>
        </p:nvSpPr>
        <p:spPr>
          <a:xfrm>
            <a:off x="6364224" y="4773168"/>
            <a:ext cx="237744" cy="0"/>
          </a:xfrm>
          <a:prstGeom prst="line">
            <a:avLst/>
          </a:prstGeom>
          <a:noFill/>
          <a:ln w="20320">
            <a:solidFill>
              <a:srgbClr val="004831"/>
            </a:solidFill>
            <a:prstDash val="solid"/>
            <a:headEnd type="none"/>
            <a:tailEnd type="triangle"/>
          </a:ln>
        </p:spPr>
      </p:sp>
      <p:sp>
        <p:nvSpPr>
          <p:cNvPr id="32" name="Shape 29"/>
          <p:cNvSpPr/>
          <p:nvPr/>
        </p:nvSpPr>
        <p:spPr>
          <a:xfrm>
            <a:off x="6684264" y="4443984"/>
            <a:ext cx="1508760" cy="667512"/>
          </a:xfrm>
          <a:prstGeom prst="roundRect">
            <a:avLst>
              <a:gd name="adj" fmla="val 16438"/>
            </a:avLst>
          </a:prstGeom>
          <a:solidFill>
            <a:srgbClr val="FFFFFF"/>
          </a:solidFill>
          <a:ln w="12700">
            <a:solidFill>
              <a:srgbClr val="D8DDD9"/>
            </a:solidFill>
            <a:prstDash val="solid"/>
          </a:ln>
        </p:spPr>
      </p:sp>
      <p:sp>
        <p:nvSpPr>
          <p:cNvPr id="33" name="Text 30"/>
          <p:cNvSpPr/>
          <p:nvPr/>
        </p:nvSpPr>
        <p:spPr>
          <a:xfrm>
            <a:off x="6848856" y="4626864"/>
            <a:ext cx="1188720" cy="256032"/>
          </a:xfrm>
          <a:prstGeom prst="rect">
            <a:avLst/>
          </a:prstGeom>
          <a:noFill/>
          <a:ln/>
        </p:spPr>
        <p:txBody>
          <a:bodyPr wrap="square" lIns="0" tIns="0" rIns="0" bIns="0" rtlCol="0" anchor="t">
            <a:spAutoFit/>
          </a:bodyPr>
          <a:lstStyle/>
          <a:p>
            <a:pPr indent="0" marL="0">
              <a:buNone/>
            </a:pPr>
            <a:r>
              <a:rPr lang="en-US" sz="1600" b="1" dirty="0">
                <a:solidFill>
                  <a:srgbClr val="004831"/>
                </a:solidFill>
                <a:latin typeface="Arial" pitchFamily="34" charset="0"/>
                <a:ea typeface="Arial" pitchFamily="34" charset="-122"/>
                <a:cs typeface="Arial" pitchFamily="34" charset="-120"/>
              </a:rPr>
              <a:t>Review 3</a:t>
            </a:r>
            <a:endParaRPr lang="en-US" sz="1600" dirty="0"/>
          </a:p>
        </p:txBody>
      </p:sp>
      <p:sp>
        <p:nvSpPr>
          <p:cNvPr id="34" name="Shape 31"/>
          <p:cNvSpPr/>
          <p:nvPr/>
        </p:nvSpPr>
        <p:spPr>
          <a:xfrm>
            <a:off x="8238744" y="4773168"/>
            <a:ext cx="237744" cy="0"/>
          </a:xfrm>
          <a:prstGeom prst="line">
            <a:avLst/>
          </a:prstGeom>
          <a:noFill/>
          <a:ln w="20320">
            <a:solidFill>
              <a:srgbClr val="004831"/>
            </a:solidFill>
            <a:prstDash val="solid"/>
            <a:headEnd type="none"/>
            <a:tailEnd type="triangle"/>
          </a:ln>
        </p:spPr>
      </p:sp>
      <p:sp>
        <p:nvSpPr>
          <p:cNvPr id="35" name="Shape 32"/>
          <p:cNvSpPr/>
          <p:nvPr/>
        </p:nvSpPr>
        <p:spPr>
          <a:xfrm>
            <a:off x="8558784" y="4462272"/>
            <a:ext cx="612648" cy="612648"/>
          </a:xfrm>
          <a:prstGeom prst="ellipse">
            <a:avLst/>
          </a:prstGeom>
          <a:solidFill>
            <a:srgbClr val="C4D600"/>
          </a:solidFill>
          <a:ln w="12700">
            <a:solidFill>
              <a:srgbClr val="C4D600"/>
            </a:solidFill>
            <a:prstDash val="solid"/>
          </a:ln>
        </p:spPr>
      </p:sp>
      <p:sp>
        <p:nvSpPr>
          <p:cNvPr id="36" name="Shape 33"/>
          <p:cNvSpPr/>
          <p:nvPr/>
        </p:nvSpPr>
        <p:spPr>
          <a:xfrm>
            <a:off x="8724199" y="4774722"/>
            <a:ext cx="98024" cy="91897"/>
          </a:xfrm>
          <a:prstGeom prst="line">
            <a:avLst/>
          </a:prstGeom>
          <a:noFill/>
          <a:ln w="27940">
            <a:solidFill>
              <a:srgbClr val="003322"/>
            </a:solidFill>
            <a:prstDash val="solid"/>
            <a:headEnd type="none"/>
            <a:tailEnd type="none"/>
          </a:ln>
        </p:spPr>
      </p:sp>
      <p:sp>
        <p:nvSpPr>
          <p:cNvPr id="37" name="Shape 34"/>
          <p:cNvSpPr/>
          <p:nvPr/>
        </p:nvSpPr>
        <p:spPr>
          <a:xfrm>
            <a:off x="8822223" y="4866620"/>
            <a:ext cx="189921" cy="-202174"/>
          </a:xfrm>
          <a:prstGeom prst="line">
            <a:avLst/>
          </a:prstGeom>
          <a:noFill/>
          <a:ln w="27940">
            <a:solidFill>
              <a:srgbClr val="003322"/>
            </a:solidFill>
            <a:prstDash val="solid"/>
            <a:headEnd type="none"/>
            <a:tailEnd type="none"/>
          </a:ln>
        </p:spPr>
      </p:sp>
      <p:sp>
        <p:nvSpPr>
          <p:cNvPr id="38" name="Shape 35"/>
          <p:cNvSpPr/>
          <p:nvPr/>
        </p:nvSpPr>
        <p:spPr>
          <a:xfrm>
            <a:off x="9637776" y="2423160"/>
            <a:ext cx="2011680" cy="3017520"/>
          </a:xfrm>
          <a:prstGeom prst="roundRect">
            <a:avLst>
              <a:gd name="adj" fmla="val 5455"/>
            </a:avLst>
          </a:prstGeom>
          <a:solidFill>
            <a:srgbClr val="004831"/>
          </a:solidFill>
          <a:ln w="12700">
            <a:solidFill>
              <a:srgbClr val="004831"/>
            </a:solidFill>
            <a:prstDash val="solid"/>
          </a:ln>
        </p:spPr>
      </p:sp>
      <p:sp>
        <p:nvSpPr>
          <p:cNvPr id="39" name="Text 36"/>
          <p:cNvSpPr/>
          <p:nvPr/>
        </p:nvSpPr>
        <p:spPr>
          <a:xfrm>
            <a:off x="9875520" y="2843784"/>
            <a:ext cx="1527048" cy="896112"/>
          </a:xfrm>
          <a:prstGeom prst="rect">
            <a:avLst/>
          </a:prstGeom>
          <a:noFill/>
          <a:ln/>
        </p:spPr>
        <p:txBody>
          <a:bodyPr wrap="square" lIns="0" tIns="0" rIns="0" bIns="0" rtlCol="0" anchor="t">
            <a:spAutoFit/>
          </a:bodyPr>
          <a:lstStyle/>
          <a:p>
            <a:pPr indent="0" marL="0">
              <a:buNone/>
            </a:pPr>
            <a:r>
              <a:rPr lang="en-US" sz="2300" b="1" dirty="0">
                <a:solidFill>
                  <a:srgbClr val="FFFFFF"/>
                </a:solidFill>
                <a:latin typeface="Arial" pitchFamily="34" charset="0"/>
                <a:ea typeface="Arial" pitchFamily="34" charset="-122"/>
                <a:cs typeface="Arial" pitchFamily="34" charset="-120"/>
              </a:rPr>
              <a:t>Different</a:t>
            </a:r>
            <a:endParaRPr lang="en-US" sz="2300" dirty="0"/>
          </a:p>
          <a:p>
            <a:pPr indent="0" marL="0">
              <a:buNone/>
            </a:pPr>
            <a:r>
              <a:rPr lang="en-US" sz="2300" b="1" dirty="0">
                <a:solidFill>
                  <a:srgbClr val="FFFFFF"/>
                </a:solidFill>
                <a:latin typeface="Arial" pitchFamily="34" charset="0"/>
                <a:ea typeface="Arial" pitchFamily="34" charset="-122"/>
                <a:cs typeface="Arial" pitchFamily="34" charset="-120"/>
              </a:rPr>
              <a:t>reviewers</a:t>
            </a:r>
            <a:endParaRPr lang="en-US" sz="2300" dirty="0"/>
          </a:p>
        </p:txBody>
      </p:sp>
      <p:sp>
        <p:nvSpPr>
          <p:cNvPr id="40" name="Text 37"/>
          <p:cNvSpPr/>
          <p:nvPr/>
        </p:nvSpPr>
        <p:spPr>
          <a:xfrm>
            <a:off x="9875520" y="4078224"/>
            <a:ext cx="1499616" cy="1060704"/>
          </a:xfrm>
          <a:prstGeom prst="rect">
            <a:avLst/>
          </a:prstGeom>
          <a:noFill/>
          <a:ln/>
        </p:spPr>
        <p:txBody>
          <a:bodyPr wrap="square" lIns="0" tIns="0" rIns="0" bIns="0" rtlCol="0" anchor="t">
            <a:spAutoFit/>
          </a:bodyPr>
          <a:lstStyle/>
          <a:p>
            <a:pPr indent="0" marL="0">
              <a:buNone/>
            </a:pPr>
            <a:r>
              <a:rPr lang="en-US" sz="1600" dirty="0">
                <a:solidFill>
                  <a:srgbClr val="D5E4E1"/>
                </a:solidFill>
                <a:latin typeface="Arial" pitchFamily="34" charset="0"/>
                <a:ea typeface="Arial" pitchFamily="34" charset="-122"/>
                <a:cs typeface="Arial" pitchFamily="34" charset="-120"/>
              </a:rPr>
              <a:t>Each later</a:t>
            </a:r>
            <a:endParaRPr lang="en-US" sz="1600" dirty="0"/>
          </a:p>
          <a:p>
            <a:pPr indent="0" marL="0">
              <a:buNone/>
            </a:pPr>
            <a:r>
              <a:rPr lang="en-US" sz="1600" dirty="0">
                <a:solidFill>
                  <a:srgbClr val="D5E4E1"/>
                </a:solidFill>
                <a:latin typeface="Arial" pitchFamily="34" charset="0"/>
                <a:ea typeface="Arial" pitchFamily="34" charset="-122"/>
                <a:cs typeface="Arial" pitchFamily="34" charset="-120"/>
              </a:rPr>
              <a:t>level needs</a:t>
            </a:r>
            <a:endParaRPr lang="en-US" sz="1600" dirty="0"/>
          </a:p>
          <a:p>
            <a:pPr indent="0" marL="0">
              <a:buNone/>
            </a:pPr>
            <a:r>
              <a:rPr lang="en-US" sz="1600" dirty="0">
                <a:solidFill>
                  <a:srgbClr val="D5E4E1"/>
                </a:solidFill>
                <a:latin typeface="Arial" pitchFamily="34" charset="0"/>
                <a:ea typeface="Arial" pitchFamily="34" charset="-122"/>
                <a:cs typeface="Arial" pitchFamily="34" charset="-120"/>
              </a:rPr>
              <a:t>a different</a:t>
            </a:r>
            <a:endParaRPr lang="en-US" sz="1600" dirty="0"/>
          </a:p>
          <a:p>
            <a:pPr indent="0" marL="0">
              <a:buNone/>
            </a:pPr>
            <a:r>
              <a:rPr lang="en-US" sz="1600" dirty="0">
                <a:solidFill>
                  <a:srgbClr val="D5E4E1"/>
                </a:solidFill>
                <a:latin typeface="Arial" pitchFamily="34" charset="0"/>
                <a:ea typeface="Arial" pitchFamily="34" charset="-122"/>
                <a:cs typeface="Arial" pitchFamily="34" charset="-120"/>
              </a:rPr>
              <a:t>reviewer.</a:t>
            </a:r>
            <a:endParaRPr lang="en-US" sz="1600" dirty="0"/>
          </a:p>
        </p:txBody>
      </p:sp>
      <p:sp>
        <p:nvSpPr>
          <p:cNvPr id="41" name="Text 38"/>
          <p:cNvSpPr/>
          <p:nvPr/>
        </p:nvSpPr>
        <p:spPr>
          <a:xfrm>
            <a:off x="548640" y="5998464"/>
            <a:ext cx="11064240" cy="320040"/>
          </a:xfrm>
          <a:prstGeom prst="rect">
            <a:avLst/>
          </a:prstGeom>
          <a:noFill/>
          <a:ln/>
        </p:spPr>
        <p:txBody>
          <a:bodyPr wrap="square" lIns="0" tIns="0" rIns="0" bIns="0" rtlCol="0" anchor="t">
            <a:spAutoFit/>
          </a:bodyPr>
          <a:lstStyle/>
          <a:p>
            <a:pPr indent="0" marL="0">
              <a:buNone/>
            </a:pPr>
            <a:r>
              <a:rPr lang="en-US" sz="1100" dirty="0">
                <a:solidFill>
                  <a:srgbClr val="68716C"/>
                </a:solidFill>
                <a:latin typeface="Arial" pitchFamily="34" charset="0"/>
                <a:ea typeface="Arial" pitchFamily="34" charset="-122"/>
                <a:cs typeface="Arial" pitchFamily="34" charset="-120"/>
              </a:rPr>
              <a:t>The pilot must confirm the mapping between message types, departments and required review levels.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6"/>
        </a:solidFill>
      </p:bgPr>
    </p:bg>
    <p:spTree>
      <p:nvGrpSpPr>
        <p:cNvPr id="1" name=""/>
        <p:cNvGrpSpPr/>
        <p:nvPr/>
      </p:nvGrpSpPr>
      <p:grpSpPr>
        <a:xfrm>
          <a:off x="0" y="0"/>
          <a:ext cx="0" cy="0"/>
          <a:chOff x="0" y="0"/>
          <a:chExt cx="0" cy="0"/>
        </a:xfrm>
      </p:grpSpPr>
      <p:sp>
        <p:nvSpPr>
          <p:cNvPr id="2" name="Text 0"/>
          <p:cNvSpPr/>
          <p:nvPr/>
        </p:nvSpPr>
        <p:spPr>
          <a:xfrm>
            <a:off x="548640" y="429768"/>
            <a:ext cx="10058400" cy="210312"/>
          </a:xfrm>
          <a:prstGeom prst="rect">
            <a:avLst/>
          </a:prstGeom>
          <a:noFill/>
          <a:ln/>
        </p:spPr>
        <p:txBody>
          <a:bodyPr wrap="square" lIns="0" tIns="0" rIns="0" bIns="0" rtlCol="0" anchor="t">
            <a:spAutoFit/>
          </a:bodyPr>
          <a:lstStyle/>
          <a:p>
            <a:pPr indent="0" marL="0">
              <a:buNone/>
            </a:pPr>
            <a:r>
              <a:rPr lang="en-US" sz="1100" b="1" dirty="0">
                <a:solidFill>
                  <a:srgbClr val="004831"/>
                </a:solidFill>
                <a:latin typeface="Arial" pitchFamily="34" charset="0"/>
                <a:ea typeface="Arial" pitchFamily="34" charset="-122"/>
                <a:cs typeface="Arial" pitchFamily="34" charset="-120"/>
              </a:rPr>
              <a:t>The reviewer experience</a:t>
            </a:r>
            <a:endParaRPr lang="en-US" sz="1100" dirty="0"/>
          </a:p>
        </p:txBody>
      </p:sp>
      <p:sp>
        <p:nvSpPr>
          <p:cNvPr id="3" name="Text 1"/>
          <p:cNvSpPr/>
          <p:nvPr/>
        </p:nvSpPr>
        <p:spPr>
          <a:xfrm>
            <a:off x="530352" y="868680"/>
            <a:ext cx="11064240" cy="621792"/>
          </a:xfrm>
          <a:prstGeom prst="rect">
            <a:avLst/>
          </a:prstGeom>
          <a:noFill/>
          <a:ln/>
        </p:spPr>
        <p:txBody>
          <a:bodyPr wrap="square" lIns="0" tIns="0" rIns="0" bIns="0" rtlCol="0" anchor="t">
            <a:spAutoFit/>
          </a:bodyPr>
          <a:lstStyle/>
          <a:p>
            <a:pPr indent="0" marL="0">
              <a:buNone/>
            </a:pPr>
            <a:r>
              <a:rPr lang="en-US" sz="3400" b="1" dirty="0">
                <a:solidFill>
                  <a:srgbClr val="1F2522"/>
                </a:solidFill>
                <a:latin typeface="Arial" pitchFamily="34" charset="0"/>
                <a:ea typeface="Arial" pitchFamily="34" charset="-122"/>
                <a:cs typeface="Arial" pitchFamily="34" charset="-120"/>
              </a:rPr>
              <a:t>Review the message. Record the decision.</a:t>
            </a:r>
            <a:endParaRPr lang="en-US" sz="3400" dirty="0"/>
          </a:p>
        </p:txBody>
      </p:sp>
      <p:sp>
        <p:nvSpPr>
          <p:cNvPr id="4" name="Text 2"/>
          <p:cNvSpPr/>
          <p:nvPr/>
        </p:nvSpPr>
        <p:spPr>
          <a:xfrm>
            <a:off x="548640" y="1572768"/>
            <a:ext cx="10927080" cy="502920"/>
          </a:xfrm>
          <a:prstGeom prst="rect">
            <a:avLst/>
          </a:prstGeom>
          <a:noFill/>
          <a:ln/>
        </p:spPr>
        <p:txBody>
          <a:bodyPr wrap="square" lIns="0" tIns="0" rIns="0" bIns="0" rtlCol="0" anchor="t">
            <a:spAutoFit/>
          </a:bodyPr>
          <a:lstStyle/>
          <a:p>
            <a:pPr indent="0" marL="0">
              <a:buNone/>
            </a:pPr>
            <a:r>
              <a:rPr lang="en-US" sz="1600" dirty="0">
                <a:solidFill>
                  <a:srgbClr val="68716C"/>
                </a:solidFill>
                <a:latin typeface="Arial" pitchFamily="34" charset="0"/>
                <a:ea typeface="Arial" pitchFamily="34" charset="-122"/>
                <a:cs typeface="Arial" pitchFamily="34" charset="-120"/>
              </a:rPr>
              <a:t>The reviewer works from My work and sees the message content alongside decision actions.</a:t>
            </a:r>
            <a:endParaRPr lang="en-US" sz="1600" dirty="0"/>
          </a:p>
        </p:txBody>
      </p:sp>
      <p:sp>
        <p:nvSpPr>
          <p:cNvPr id="5" name="Text 3"/>
          <p:cNvSpPr/>
          <p:nvPr/>
        </p:nvSpPr>
        <p:spPr>
          <a:xfrm>
            <a:off x="530352" y="6455664"/>
            <a:ext cx="7315200" cy="164592"/>
          </a:xfrm>
          <a:prstGeom prst="rect">
            <a:avLst/>
          </a:prstGeom>
          <a:noFill/>
          <a:ln/>
        </p:spPr>
        <p:txBody>
          <a:bodyPr wrap="square" lIns="0" tIns="0" rIns="0" bIns="0" rtlCol="0" anchor="t">
            <a:spAutoFit/>
          </a:bodyPr>
          <a:lstStyle/>
          <a:p>
            <a:pPr indent="0" marL="0">
              <a:buNone/>
            </a:pPr>
            <a:r>
              <a:rPr lang="en-US" sz="900" dirty="0">
                <a:solidFill>
                  <a:srgbClr val="68716C"/>
                </a:solidFill>
                <a:latin typeface="Arial" pitchFamily="34" charset="0"/>
                <a:ea typeface="Arial" pitchFamily="34" charset="-122"/>
                <a:cs typeface="Arial" pitchFamily="34" charset="-120"/>
              </a:rPr>
              <a:t>ORP  /  Operations Reporting and Processing</a:t>
            </a:r>
            <a:endParaRPr lang="en-US" sz="900" dirty="0"/>
          </a:p>
        </p:txBody>
      </p:sp>
      <p:sp>
        <p:nvSpPr>
          <p:cNvPr id="6" name="Text 4"/>
          <p:cNvSpPr/>
          <p:nvPr/>
        </p:nvSpPr>
        <p:spPr>
          <a:xfrm>
            <a:off x="11064240" y="6419088"/>
            <a:ext cx="566928" cy="228600"/>
          </a:xfrm>
          <a:prstGeom prst="rect">
            <a:avLst/>
          </a:prstGeom>
          <a:noFill/>
          <a:ln/>
        </p:spPr>
        <p:txBody>
          <a:bodyPr wrap="square" lIns="0" tIns="0" rIns="0" bIns="0" rtlCol="0" anchor="t">
            <a:spAutoFit/>
          </a:bodyPr>
          <a:lstStyle/>
          <a:p>
            <a:pPr algn="r" indent="0" marL="0">
              <a:buNone/>
            </a:pPr>
            <a:r>
              <a:rPr lang="en-US" sz="1100" dirty="0">
                <a:solidFill>
                  <a:srgbClr val="68716C"/>
                </a:solidFill>
                <a:latin typeface="Arial" pitchFamily="34" charset="0"/>
                <a:ea typeface="Arial" pitchFamily="34" charset="-122"/>
                <a:cs typeface="Arial" pitchFamily="34" charset="-120"/>
              </a:rPr>
              <a:t>07</a:t>
            </a:r>
            <a:endParaRPr lang="en-US" sz="1100" dirty="0"/>
          </a:p>
        </p:txBody>
      </p:sp>
      <p:sp>
        <p:nvSpPr>
          <p:cNvPr id="8" name="Shape 5"/>
          <p:cNvSpPr/>
          <p:nvPr/>
        </p:nvSpPr>
        <p:spPr>
          <a:xfrm>
            <a:off x="548640" y="2295144"/>
            <a:ext cx="7223760" cy="3493008"/>
          </a:xfrm>
          <a:prstGeom prst="roundRect">
            <a:avLst>
              <a:gd name="adj" fmla="val 3141"/>
            </a:avLst>
          </a:prstGeom>
          <a:solidFill>
            <a:srgbClr val="FFFFFF"/>
          </a:solidFill>
          <a:ln w="12700">
            <a:solidFill>
              <a:srgbClr val="D8DDD9"/>
            </a:solidFill>
            <a:prstDash val="solid"/>
          </a:ln>
        </p:spPr>
      </p:sp>
      <p:pic>
        <p:nvPicPr>
          <p:cNvPr id="9" name="Image 0" descr="/home/alexandr/code/SwiftReview/backend/docs/business-presentation/assets/review-detail.png">    </p:cNvPr>
          <p:cNvPicPr>
            <a:picLocks noChangeAspect="1"/>
          </p:cNvPicPr>
          <p:nvPr/>
        </p:nvPicPr>
        <p:blipFill>
          <a:blip r:embed="rId1"/>
          <a:stretch>
            <a:fillRect/>
          </a:stretch>
        </p:blipFill>
        <p:spPr>
          <a:xfrm>
            <a:off x="722376" y="2557401"/>
            <a:ext cx="6876288" cy="2959351"/>
          </a:xfrm>
          <a:prstGeom prst="rect">
            <a:avLst/>
          </a:prstGeom>
        </p:spPr>
      </p:pic>
      <p:sp>
        <p:nvSpPr>
          <p:cNvPr id="10" name="Shape 6"/>
          <p:cNvSpPr/>
          <p:nvPr/>
        </p:nvSpPr>
        <p:spPr>
          <a:xfrm>
            <a:off x="8138160" y="2313432"/>
            <a:ext cx="475488" cy="475488"/>
          </a:xfrm>
          <a:prstGeom prst="ellipse">
            <a:avLst/>
          </a:prstGeom>
          <a:solidFill>
            <a:srgbClr val="004831"/>
          </a:solidFill>
          <a:ln w="12700">
            <a:solidFill>
              <a:srgbClr val="004831"/>
            </a:solidFill>
            <a:prstDash val="solid"/>
          </a:ln>
        </p:spPr>
      </p:sp>
      <p:sp>
        <p:nvSpPr>
          <p:cNvPr id="11" name="Text 7"/>
          <p:cNvSpPr/>
          <p:nvPr/>
        </p:nvSpPr>
        <p:spPr>
          <a:xfrm>
            <a:off x="8138160" y="2414016"/>
            <a:ext cx="475488" cy="274320"/>
          </a:xfrm>
          <a:prstGeom prst="rect">
            <a:avLst/>
          </a:prstGeom>
          <a:noFill/>
          <a:ln/>
        </p:spPr>
        <p:txBody>
          <a:bodyPr wrap="square" lIns="0" tIns="0" rIns="0" bIns="0" rtlCol="0" anchor="t">
            <a:sp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2" name="Text 8"/>
          <p:cNvSpPr/>
          <p:nvPr/>
        </p:nvSpPr>
        <p:spPr>
          <a:xfrm>
            <a:off x="8805672" y="2322576"/>
            <a:ext cx="2715768" cy="384048"/>
          </a:xfrm>
          <a:prstGeom prst="rect">
            <a:avLst/>
          </a:prstGeom>
          <a:noFill/>
          <a:ln/>
        </p:spPr>
        <p:txBody>
          <a:bodyPr wrap="square" lIns="0" tIns="0" rIns="0" bIns="0" rtlCol="0" anchor="t">
            <a:spAutoFit/>
          </a:bodyPr>
          <a:lstStyle/>
          <a:p>
            <a:pPr indent="0" marL="0">
              <a:buNone/>
            </a:pPr>
            <a:r>
              <a:rPr lang="en-US" sz="2000" b="1" dirty="0">
                <a:solidFill>
                  <a:srgbClr val="004831"/>
                </a:solidFill>
                <a:latin typeface="Arial" pitchFamily="34" charset="0"/>
                <a:ea typeface="Arial" pitchFamily="34" charset="-122"/>
                <a:cs typeface="Arial" pitchFamily="34" charset="-120"/>
              </a:rPr>
              <a:t>Open My work</a:t>
            </a:r>
            <a:endParaRPr lang="en-US" sz="2000" dirty="0"/>
          </a:p>
        </p:txBody>
      </p:sp>
      <p:sp>
        <p:nvSpPr>
          <p:cNvPr id="13" name="Text 9"/>
          <p:cNvSpPr/>
          <p:nvPr/>
        </p:nvSpPr>
        <p:spPr>
          <a:xfrm>
            <a:off x="8805672" y="2770632"/>
            <a:ext cx="2715768" cy="594360"/>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Find a message</a:t>
            </a:r>
            <a:endParaRPr lang="en-US" sz="1500" dirty="0"/>
          </a:p>
          <a:p>
            <a:pPr indent="0" marL="0">
              <a:buNone/>
            </a:pPr>
            <a:r>
              <a:rPr lang="en-US" sz="1500" dirty="0">
                <a:solidFill>
                  <a:srgbClr val="68716C"/>
                </a:solidFill>
                <a:latin typeface="Arial" pitchFamily="34" charset="0"/>
                <a:ea typeface="Arial" pitchFamily="34" charset="-122"/>
                <a:cs typeface="Arial" pitchFamily="34" charset="-120"/>
              </a:rPr>
              <a:t>assigned to you.</a:t>
            </a:r>
            <a:endParaRPr lang="en-US" sz="1500" dirty="0"/>
          </a:p>
        </p:txBody>
      </p:sp>
      <p:sp>
        <p:nvSpPr>
          <p:cNvPr id="14" name="Shape 10"/>
          <p:cNvSpPr/>
          <p:nvPr/>
        </p:nvSpPr>
        <p:spPr>
          <a:xfrm>
            <a:off x="8138160" y="3511296"/>
            <a:ext cx="475488" cy="475488"/>
          </a:xfrm>
          <a:prstGeom prst="ellipse">
            <a:avLst/>
          </a:prstGeom>
          <a:solidFill>
            <a:srgbClr val="004831"/>
          </a:solidFill>
          <a:ln w="12700">
            <a:solidFill>
              <a:srgbClr val="004831"/>
            </a:solidFill>
            <a:prstDash val="solid"/>
          </a:ln>
        </p:spPr>
      </p:sp>
      <p:sp>
        <p:nvSpPr>
          <p:cNvPr id="15" name="Text 11"/>
          <p:cNvSpPr/>
          <p:nvPr/>
        </p:nvSpPr>
        <p:spPr>
          <a:xfrm>
            <a:off x="8138160" y="3611880"/>
            <a:ext cx="475488" cy="274320"/>
          </a:xfrm>
          <a:prstGeom prst="rect">
            <a:avLst/>
          </a:prstGeom>
          <a:noFill/>
          <a:ln/>
        </p:spPr>
        <p:txBody>
          <a:bodyPr wrap="square" lIns="0" tIns="0" rIns="0" bIns="0" rtlCol="0" anchor="t">
            <a:sp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6" name="Text 12"/>
          <p:cNvSpPr/>
          <p:nvPr/>
        </p:nvSpPr>
        <p:spPr>
          <a:xfrm>
            <a:off x="8805672" y="3520440"/>
            <a:ext cx="2715768" cy="384048"/>
          </a:xfrm>
          <a:prstGeom prst="rect">
            <a:avLst/>
          </a:prstGeom>
          <a:noFill/>
          <a:ln/>
        </p:spPr>
        <p:txBody>
          <a:bodyPr wrap="square" lIns="0" tIns="0" rIns="0" bIns="0" rtlCol="0" anchor="t">
            <a:spAutoFit/>
          </a:bodyPr>
          <a:lstStyle/>
          <a:p>
            <a:pPr indent="0" marL="0">
              <a:buNone/>
            </a:pPr>
            <a:r>
              <a:rPr lang="en-US" sz="2000" b="1" dirty="0">
                <a:solidFill>
                  <a:srgbClr val="004831"/>
                </a:solidFill>
                <a:latin typeface="Arial" pitchFamily="34" charset="0"/>
                <a:ea typeface="Arial" pitchFamily="34" charset="-122"/>
                <a:cs typeface="Arial" pitchFamily="34" charset="-120"/>
              </a:rPr>
              <a:t>Inspect the content</a:t>
            </a:r>
            <a:endParaRPr lang="en-US" sz="2000" dirty="0"/>
          </a:p>
        </p:txBody>
      </p:sp>
      <p:sp>
        <p:nvSpPr>
          <p:cNvPr id="17" name="Text 13"/>
          <p:cNvSpPr/>
          <p:nvPr/>
        </p:nvSpPr>
        <p:spPr>
          <a:xfrm>
            <a:off x="8805672" y="3968496"/>
            <a:ext cx="2715768" cy="594360"/>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Read the message and</a:t>
            </a:r>
            <a:endParaRPr lang="en-US" sz="1500" dirty="0"/>
          </a:p>
          <a:p>
            <a:pPr indent="0" marL="0">
              <a:buNone/>
            </a:pPr>
            <a:r>
              <a:rPr lang="en-US" sz="1500" dirty="0">
                <a:solidFill>
                  <a:srgbClr val="68716C"/>
                </a:solidFill>
                <a:latin typeface="Arial" pitchFamily="34" charset="0"/>
                <a:ea typeface="Arial" pitchFamily="34" charset="-122"/>
                <a:cs typeface="Arial" pitchFamily="34" charset="-120"/>
              </a:rPr>
              <a:t>add a comment if needed.</a:t>
            </a:r>
            <a:endParaRPr lang="en-US" sz="1500" dirty="0"/>
          </a:p>
        </p:txBody>
      </p:sp>
      <p:sp>
        <p:nvSpPr>
          <p:cNvPr id="18" name="Shape 14"/>
          <p:cNvSpPr/>
          <p:nvPr/>
        </p:nvSpPr>
        <p:spPr>
          <a:xfrm>
            <a:off x="8138160" y="4709160"/>
            <a:ext cx="475488" cy="475488"/>
          </a:xfrm>
          <a:prstGeom prst="ellipse">
            <a:avLst/>
          </a:prstGeom>
          <a:solidFill>
            <a:srgbClr val="004831"/>
          </a:solidFill>
          <a:ln w="12700">
            <a:solidFill>
              <a:srgbClr val="004831"/>
            </a:solidFill>
            <a:prstDash val="solid"/>
          </a:ln>
        </p:spPr>
      </p:sp>
      <p:sp>
        <p:nvSpPr>
          <p:cNvPr id="19" name="Text 15"/>
          <p:cNvSpPr/>
          <p:nvPr/>
        </p:nvSpPr>
        <p:spPr>
          <a:xfrm>
            <a:off x="8138160" y="4809744"/>
            <a:ext cx="475488" cy="274320"/>
          </a:xfrm>
          <a:prstGeom prst="rect">
            <a:avLst/>
          </a:prstGeom>
          <a:noFill/>
          <a:ln/>
        </p:spPr>
        <p:txBody>
          <a:bodyPr wrap="square" lIns="0" tIns="0" rIns="0" bIns="0" rtlCol="0" anchor="t">
            <a:sp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0" name="Text 16"/>
          <p:cNvSpPr/>
          <p:nvPr/>
        </p:nvSpPr>
        <p:spPr>
          <a:xfrm>
            <a:off x="8805672" y="4718304"/>
            <a:ext cx="2715768" cy="384048"/>
          </a:xfrm>
          <a:prstGeom prst="rect">
            <a:avLst/>
          </a:prstGeom>
          <a:noFill/>
          <a:ln/>
        </p:spPr>
        <p:txBody>
          <a:bodyPr wrap="square" lIns="0" tIns="0" rIns="0" bIns="0" rtlCol="0" anchor="t">
            <a:spAutoFit/>
          </a:bodyPr>
          <a:lstStyle/>
          <a:p>
            <a:pPr indent="0" marL="0">
              <a:buNone/>
            </a:pPr>
            <a:r>
              <a:rPr lang="en-US" sz="2000" b="1" dirty="0">
                <a:solidFill>
                  <a:srgbClr val="004831"/>
                </a:solidFill>
                <a:latin typeface="Arial" pitchFamily="34" charset="0"/>
                <a:ea typeface="Arial" pitchFamily="34" charset="-122"/>
                <a:cs typeface="Arial" pitchFamily="34" charset="-120"/>
              </a:rPr>
              <a:t>Approve or reject</a:t>
            </a:r>
            <a:endParaRPr lang="en-US" sz="2000" dirty="0"/>
          </a:p>
        </p:txBody>
      </p:sp>
      <p:sp>
        <p:nvSpPr>
          <p:cNvPr id="21" name="Text 17"/>
          <p:cNvSpPr/>
          <p:nvPr/>
        </p:nvSpPr>
        <p:spPr>
          <a:xfrm>
            <a:off x="8805672" y="5166360"/>
            <a:ext cx="2715768" cy="594360"/>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Record the decision</a:t>
            </a:r>
            <a:endParaRPr lang="en-US" sz="1500" dirty="0"/>
          </a:p>
          <a:p>
            <a:pPr indent="0" marL="0">
              <a:buNone/>
            </a:pPr>
            <a:r>
              <a:rPr lang="en-US" sz="1500" dirty="0">
                <a:solidFill>
                  <a:srgbClr val="68716C"/>
                </a:solidFill>
                <a:latin typeface="Arial" pitchFamily="34" charset="0"/>
                <a:ea typeface="Arial" pitchFamily="34" charset="-122"/>
                <a:cs typeface="Arial" pitchFamily="34" charset="-120"/>
              </a:rPr>
              <a:t>for the current level.</a:t>
            </a:r>
            <a:endParaRPr lang="en-US" sz="1500" dirty="0"/>
          </a:p>
        </p:txBody>
      </p:sp>
      <p:sp>
        <p:nvSpPr>
          <p:cNvPr id="22" name="Text 18"/>
          <p:cNvSpPr/>
          <p:nvPr/>
        </p:nvSpPr>
        <p:spPr>
          <a:xfrm>
            <a:off x="548640" y="5998464"/>
            <a:ext cx="11064240" cy="320040"/>
          </a:xfrm>
          <a:prstGeom prst="rect">
            <a:avLst/>
          </a:prstGeom>
          <a:noFill/>
          <a:ln/>
        </p:spPr>
        <p:txBody>
          <a:bodyPr wrap="square" lIns="0" tIns="0" rIns="0" bIns="0" rtlCol="0" anchor="t">
            <a:spAutoFit/>
          </a:bodyPr>
          <a:lstStyle/>
          <a:p>
            <a:pPr indent="0" marL="0">
              <a:buNone/>
            </a:pPr>
            <a:r>
              <a:rPr lang="en-US" sz="1100" dirty="0">
                <a:solidFill>
                  <a:srgbClr val="68716C"/>
                </a:solidFill>
                <a:latin typeface="Arial" pitchFamily="34" charset="0"/>
                <a:ea typeface="Arial" pitchFamily="34" charset="-122"/>
                <a:cs typeface="Arial" pitchFamily="34" charset="-120"/>
              </a:rPr>
              <a:t>Actual interface • Synthetic data • Rejection is final in the current implementation.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6"/>
        </a:solidFill>
      </p:bgPr>
    </p:bg>
    <p:spTree>
      <p:nvGrpSpPr>
        <p:cNvPr id="1" name=""/>
        <p:cNvGrpSpPr/>
        <p:nvPr/>
      </p:nvGrpSpPr>
      <p:grpSpPr>
        <a:xfrm>
          <a:off x="0" y="0"/>
          <a:ext cx="0" cy="0"/>
          <a:chOff x="0" y="0"/>
          <a:chExt cx="0" cy="0"/>
        </a:xfrm>
      </p:grpSpPr>
      <p:sp>
        <p:nvSpPr>
          <p:cNvPr id="2" name="Text 0"/>
          <p:cNvSpPr/>
          <p:nvPr/>
        </p:nvSpPr>
        <p:spPr>
          <a:xfrm>
            <a:off x="548640" y="429768"/>
            <a:ext cx="10058400" cy="210312"/>
          </a:xfrm>
          <a:prstGeom prst="rect">
            <a:avLst/>
          </a:prstGeom>
          <a:noFill/>
          <a:ln/>
        </p:spPr>
        <p:txBody>
          <a:bodyPr wrap="square" lIns="0" tIns="0" rIns="0" bIns="0" rtlCol="0" anchor="t">
            <a:spAutoFit/>
          </a:bodyPr>
          <a:lstStyle/>
          <a:p>
            <a:pPr indent="0" marL="0">
              <a:buNone/>
            </a:pPr>
            <a:r>
              <a:rPr lang="en-US" sz="1100" b="1" dirty="0">
                <a:solidFill>
                  <a:srgbClr val="004831"/>
                </a:solidFill>
                <a:latin typeface="Arial" pitchFamily="34" charset="0"/>
                <a:ea typeface="Arial" pitchFamily="34" charset="-122"/>
                <a:cs typeface="Arial" pitchFamily="34" charset="-120"/>
              </a:rPr>
              <a:t>Audit and follow-up</a:t>
            </a:r>
            <a:endParaRPr lang="en-US" sz="1100" dirty="0"/>
          </a:p>
        </p:txBody>
      </p:sp>
      <p:sp>
        <p:nvSpPr>
          <p:cNvPr id="3" name="Text 1"/>
          <p:cNvSpPr/>
          <p:nvPr/>
        </p:nvSpPr>
        <p:spPr>
          <a:xfrm>
            <a:off x="530352" y="868680"/>
            <a:ext cx="11064240" cy="621792"/>
          </a:xfrm>
          <a:prstGeom prst="rect">
            <a:avLst/>
          </a:prstGeom>
          <a:noFill/>
          <a:ln/>
        </p:spPr>
        <p:txBody>
          <a:bodyPr wrap="square" lIns="0" tIns="0" rIns="0" bIns="0" rtlCol="0" anchor="t">
            <a:spAutoFit/>
          </a:bodyPr>
          <a:lstStyle/>
          <a:p>
            <a:pPr indent="0" marL="0">
              <a:buNone/>
            </a:pPr>
            <a:r>
              <a:rPr lang="en-US" sz="3400" b="1" dirty="0">
                <a:solidFill>
                  <a:srgbClr val="1F2522"/>
                </a:solidFill>
                <a:latin typeface="Arial" pitchFamily="34" charset="0"/>
                <a:ea typeface="Arial" pitchFamily="34" charset="-122"/>
                <a:cs typeface="Arial" pitchFamily="34" charset="-120"/>
              </a:rPr>
              <a:t>A decision comes with a traceable history</a:t>
            </a:r>
            <a:endParaRPr lang="en-US" sz="3400" dirty="0"/>
          </a:p>
        </p:txBody>
      </p:sp>
      <p:sp>
        <p:nvSpPr>
          <p:cNvPr id="4" name="Text 2"/>
          <p:cNvSpPr/>
          <p:nvPr/>
        </p:nvSpPr>
        <p:spPr>
          <a:xfrm>
            <a:off x="548640" y="1572768"/>
            <a:ext cx="10927080" cy="502920"/>
          </a:xfrm>
          <a:prstGeom prst="rect">
            <a:avLst/>
          </a:prstGeom>
          <a:noFill/>
          <a:ln/>
        </p:spPr>
        <p:txBody>
          <a:bodyPr wrap="square" lIns="0" tIns="0" rIns="0" bIns="0" rtlCol="0" anchor="t">
            <a:spAutoFit/>
          </a:bodyPr>
          <a:lstStyle/>
          <a:p>
            <a:pPr indent="0" marL="0">
              <a:buNone/>
            </a:pPr>
            <a:r>
              <a:rPr lang="en-US" sz="1600" dirty="0">
                <a:solidFill>
                  <a:srgbClr val="68716C"/>
                </a:solidFill>
                <a:latin typeface="Arial" pitchFamily="34" charset="0"/>
                <a:ea typeface="Arial" pitchFamily="34" charset="-122"/>
                <a:cs typeface="Arial" pitchFamily="34" charset="-120"/>
              </a:rPr>
              <a:t>Authorised users can see who acted, when they acted and how the workflow changed.</a:t>
            </a:r>
            <a:endParaRPr lang="en-US" sz="1600" dirty="0"/>
          </a:p>
        </p:txBody>
      </p:sp>
      <p:sp>
        <p:nvSpPr>
          <p:cNvPr id="5" name="Text 3"/>
          <p:cNvSpPr/>
          <p:nvPr/>
        </p:nvSpPr>
        <p:spPr>
          <a:xfrm>
            <a:off x="530352" y="6455664"/>
            <a:ext cx="7315200" cy="164592"/>
          </a:xfrm>
          <a:prstGeom prst="rect">
            <a:avLst/>
          </a:prstGeom>
          <a:noFill/>
          <a:ln/>
        </p:spPr>
        <p:txBody>
          <a:bodyPr wrap="square" lIns="0" tIns="0" rIns="0" bIns="0" rtlCol="0" anchor="t">
            <a:spAutoFit/>
          </a:bodyPr>
          <a:lstStyle/>
          <a:p>
            <a:pPr indent="0" marL="0">
              <a:buNone/>
            </a:pPr>
            <a:r>
              <a:rPr lang="en-US" sz="900" dirty="0">
                <a:solidFill>
                  <a:srgbClr val="68716C"/>
                </a:solidFill>
                <a:latin typeface="Arial" pitchFamily="34" charset="0"/>
                <a:ea typeface="Arial" pitchFamily="34" charset="-122"/>
                <a:cs typeface="Arial" pitchFamily="34" charset="-120"/>
              </a:rPr>
              <a:t>ORP  /  Operations Reporting and Processing</a:t>
            </a:r>
            <a:endParaRPr lang="en-US" sz="900" dirty="0"/>
          </a:p>
        </p:txBody>
      </p:sp>
      <p:sp>
        <p:nvSpPr>
          <p:cNvPr id="6" name="Text 4"/>
          <p:cNvSpPr/>
          <p:nvPr/>
        </p:nvSpPr>
        <p:spPr>
          <a:xfrm>
            <a:off x="11064240" y="6419088"/>
            <a:ext cx="566928" cy="228600"/>
          </a:xfrm>
          <a:prstGeom prst="rect">
            <a:avLst/>
          </a:prstGeom>
          <a:noFill/>
          <a:ln/>
        </p:spPr>
        <p:txBody>
          <a:bodyPr wrap="square" lIns="0" tIns="0" rIns="0" bIns="0" rtlCol="0" anchor="t">
            <a:spAutoFit/>
          </a:bodyPr>
          <a:lstStyle/>
          <a:p>
            <a:pPr algn="r" indent="0" marL="0">
              <a:buNone/>
            </a:pPr>
            <a:r>
              <a:rPr lang="en-US" sz="1100" dirty="0">
                <a:solidFill>
                  <a:srgbClr val="68716C"/>
                </a:solidFill>
                <a:latin typeface="Arial" pitchFamily="34" charset="0"/>
                <a:ea typeface="Arial" pitchFamily="34" charset="-122"/>
                <a:cs typeface="Arial" pitchFamily="34" charset="-120"/>
              </a:rPr>
              <a:t>08</a:t>
            </a:r>
            <a:endParaRPr lang="en-US" sz="1100" dirty="0"/>
          </a:p>
        </p:txBody>
      </p:sp>
      <p:sp>
        <p:nvSpPr>
          <p:cNvPr id="8" name="Shape 5"/>
          <p:cNvSpPr/>
          <p:nvPr/>
        </p:nvSpPr>
        <p:spPr>
          <a:xfrm>
            <a:off x="923544" y="2715768"/>
            <a:ext cx="0" cy="2642616"/>
          </a:xfrm>
          <a:prstGeom prst="line">
            <a:avLst/>
          </a:prstGeom>
          <a:noFill/>
          <a:ln w="30480">
            <a:solidFill>
              <a:srgbClr val="D8DDD9"/>
            </a:solidFill>
            <a:prstDash val="solid"/>
            <a:headEnd type="none"/>
            <a:tailEnd type="none"/>
          </a:ln>
        </p:spPr>
      </p:sp>
      <p:sp>
        <p:nvSpPr>
          <p:cNvPr id="9" name="Shape 6"/>
          <p:cNvSpPr/>
          <p:nvPr/>
        </p:nvSpPr>
        <p:spPr>
          <a:xfrm>
            <a:off x="694944" y="2414016"/>
            <a:ext cx="457200" cy="457200"/>
          </a:xfrm>
          <a:prstGeom prst="ellipse">
            <a:avLst/>
          </a:prstGeom>
          <a:solidFill>
            <a:srgbClr val="EAF2EE"/>
          </a:solidFill>
          <a:ln w="12700">
            <a:solidFill>
              <a:srgbClr val="EAF2EE"/>
            </a:solidFill>
            <a:prstDash val="solid"/>
          </a:ln>
        </p:spPr>
      </p:sp>
      <p:sp>
        <p:nvSpPr>
          <p:cNvPr id="10" name="Text 7"/>
          <p:cNvSpPr/>
          <p:nvPr/>
        </p:nvSpPr>
        <p:spPr>
          <a:xfrm>
            <a:off x="694944" y="2514600"/>
            <a:ext cx="457200" cy="274320"/>
          </a:xfrm>
          <a:prstGeom prst="rect">
            <a:avLst/>
          </a:prstGeom>
          <a:noFill/>
          <a:ln/>
        </p:spPr>
        <p:txBody>
          <a:bodyPr wrap="square" lIns="0" tIns="0" rIns="0" bIns="0" rtlCol="0" anchor="t">
            <a:spAutoFit/>
          </a:bodyPr>
          <a:lstStyle/>
          <a:p>
            <a:pPr algn="ctr" indent="0" marL="0">
              <a:buNone/>
            </a:pPr>
            <a:r>
              <a:rPr lang="en-US" sz="1700" b="1" dirty="0">
                <a:solidFill>
                  <a:srgbClr val="004831"/>
                </a:solidFill>
                <a:latin typeface="Arial" pitchFamily="34" charset="0"/>
                <a:ea typeface="Arial" pitchFamily="34" charset="-122"/>
                <a:cs typeface="Arial" pitchFamily="34" charset="-120"/>
              </a:rPr>
              <a:t>1</a:t>
            </a:r>
            <a:endParaRPr lang="en-US" sz="1700" dirty="0"/>
          </a:p>
        </p:txBody>
      </p:sp>
      <p:sp>
        <p:nvSpPr>
          <p:cNvPr id="11" name="Text 8"/>
          <p:cNvSpPr/>
          <p:nvPr/>
        </p:nvSpPr>
        <p:spPr>
          <a:xfrm>
            <a:off x="1417320" y="2423160"/>
            <a:ext cx="5212080" cy="320040"/>
          </a:xfrm>
          <a:prstGeom prst="rect">
            <a:avLst/>
          </a:prstGeom>
          <a:noFill/>
          <a:ln/>
        </p:spPr>
        <p:txBody>
          <a:bodyPr wrap="square" lIns="0" tIns="0" rIns="0" bIns="0" rtlCol="0" anchor="t">
            <a:spAutoFit/>
          </a:bodyPr>
          <a:lstStyle/>
          <a:p>
            <a:pPr indent="0" marL="0">
              <a:buNone/>
            </a:pPr>
            <a:r>
              <a:rPr lang="en-US" sz="2000" b="1" dirty="0">
                <a:solidFill>
                  <a:srgbClr val="1F2522"/>
                </a:solidFill>
                <a:latin typeface="Arial" pitchFamily="34" charset="0"/>
                <a:ea typeface="Arial" pitchFamily="34" charset="-122"/>
                <a:cs typeface="Arial" pitchFamily="34" charset="-120"/>
              </a:rPr>
              <a:t>Message registered</a:t>
            </a:r>
            <a:endParaRPr lang="en-US" sz="2000" dirty="0"/>
          </a:p>
        </p:txBody>
      </p:sp>
      <p:sp>
        <p:nvSpPr>
          <p:cNvPr id="12" name="Text 9"/>
          <p:cNvSpPr/>
          <p:nvPr/>
        </p:nvSpPr>
        <p:spPr>
          <a:xfrm>
            <a:off x="1417320" y="2825496"/>
            <a:ext cx="5212080" cy="292608"/>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The workflow begins.</a:t>
            </a:r>
            <a:endParaRPr lang="en-US" sz="1500" dirty="0"/>
          </a:p>
        </p:txBody>
      </p:sp>
      <p:sp>
        <p:nvSpPr>
          <p:cNvPr id="13" name="Shape 10"/>
          <p:cNvSpPr/>
          <p:nvPr/>
        </p:nvSpPr>
        <p:spPr>
          <a:xfrm>
            <a:off x="694944" y="3246120"/>
            <a:ext cx="457200" cy="457200"/>
          </a:xfrm>
          <a:prstGeom prst="ellipse">
            <a:avLst/>
          </a:prstGeom>
          <a:solidFill>
            <a:srgbClr val="EAF2EE"/>
          </a:solidFill>
          <a:ln w="12700">
            <a:solidFill>
              <a:srgbClr val="EAF2EE"/>
            </a:solidFill>
            <a:prstDash val="solid"/>
          </a:ln>
        </p:spPr>
      </p:sp>
      <p:sp>
        <p:nvSpPr>
          <p:cNvPr id="14" name="Text 11"/>
          <p:cNvSpPr/>
          <p:nvPr/>
        </p:nvSpPr>
        <p:spPr>
          <a:xfrm>
            <a:off x="694944" y="3346704"/>
            <a:ext cx="457200" cy="274320"/>
          </a:xfrm>
          <a:prstGeom prst="rect">
            <a:avLst/>
          </a:prstGeom>
          <a:noFill/>
          <a:ln/>
        </p:spPr>
        <p:txBody>
          <a:bodyPr wrap="square" lIns="0" tIns="0" rIns="0" bIns="0" rtlCol="0" anchor="t">
            <a:spAutoFit/>
          </a:bodyPr>
          <a:lstStyle/>
          <a:p>
            <a:pPr algn="ctr" indent="0" marL="0">
              <a:buNone/>
            </a:pPr>
            <a:r>
              <a:rPr lang="en-US" sz="1700" b="1" dirty="0">
                <a:solidFill>
                  <a:srgbClr val="004831"/>
                </a:solidFill>
                <a:latin typeface="Arial" pitchFamily="34" charset="0"/>
                <a:ea typeface="Arial" pitchFamily="34" charset="-122"/>
                <a:cs typeface="Arial" pitchFamily="34" charset="-120"/>
              </a:rPr>
              <a:t>2</a:t>
            </a:r>
            <a:endParaRPr lang="en-US" sz="1700" dirty="0"/>
          </a:p>
        </p:txBody>
      </p:sp>
      <p:sp>
        <p:nvSpPr>
          <p:cNvPr id="15" name="Text 12"/>
          <p:cNvSpPr/>
          <p:nvPr/>
        </p:nvSpPr>
        <p:spPr>
          <a:xfrm>
            <a:off x="1417320" y="3255264"/>
            <a:ext cx="5212080" cy="320040"/>
          </a:xfrm>
          <a:prstGeom prst="rect">
            <a:avLst/>
          </a:prstGeom>
          <a:noFill/>
          <a:ln/>
        </p:spPr>
        <p:txBody>
          <a:bodyPr wrap="square" lIns="0" tIns="0" rIns="0" bIns="0" rtlCol="0" anchor="t">
            <a:spAutoFit/>
          </a:bodyPr>
          <a:lstStyle/>
          <a:p>
            <a:pPr indent="0" marL="0">
              <a:buNone/>
            </a:pPr>
            <a:r>
              <a:rPr lang="en-US" sz="2000" b="1" dirty="0">
                <a:solidFill>
                  <a:srgbClr val="1F2522"/>
                </a:solidFill>
                <a:latin typeface="Arial" pitchFamily="34" charset="0"/>
                <a:ea typeface="Arial" pitchFamily="34" charset="-122"/>
                <a:cs typeface="Arial" pitchFamily="34" charset="-120"/>
              </a:rPr>
              <a:t>Reviewer assigned</a:t>
            </a:r>
            <a:endParaRPr lang="en-US" sz="2000" dirty="0"/>
          </a:p>
        </p:txBody>
      </p:sp>
      <p:sp>
        <p:nvSpPr>
          <p:cNvPr id="16" name="Text 13"/>
          <p:cNvSpPr/>
          <p:nvPr/>
        </p:nvSpPr>
        <p:spPr>
          <a:xfrm>
            <a:off x="1417320" y="3657600"/>
            <a:ext cx="5212080" cy="292608"/>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Responsibility is recorded.</a:t>
            </a:r>
            <a:endParaRPr lang="en-US" sz="1500" dirty="0"/>
          </a:p>
        </p:txBody>
      </p:sp>
      <p:sp>
        <p:nvSpPr>
          <p:cNvPr id="17" name="Shape 14"/>
          <p:cNvSpPr/>
          <p:nvPr/>
        </p:nvSpPr>
        <p:spPr>
          <a:xfrm>
            <a:off x="694944" y="4078224"/>
            <a:ext cx="457200" cy="457200"/>
          </a:xfrm>
          <a:prstGeom prst="ellipse">
            <a:avLst/>
          </a:prstGeom>
          <a:solidFill>
            <a:srgbClr val="EAF2EE"/>
          </a:solidFill>
          <a:ln w="12700">
            <a:solidFill>
              <a:srgbClr val="EAF2EE"/>
            </a:solidFill>
            <a:prstDash val="solid"/>
          </a:ln>
        </p:spPr>
      </p:sp>
      <p:sp>
        <p:nvSpPr>
          <p:cNvPr id="18" name="Text 15"/>
          <p:cNvSpPr/>
          <p:nvPr/>
        </p:nvSpPr>
        <p:spPr>
          <a:xfrm>
            <a:off x="694944" y="4178808"/>
            <a:ext cx="457200" cy="274320"/>
          </a:xfrm>
          <a:prstGeom prst="rect">
            <a:avLst/>
          </a:prstGeom>
          <a:noFill/>
          <a:ln/>
        </p:spPr>
        <p:txBody>
          <a:bodyPr wrap="square" lIns="0" tIns="0" rIns="0" bIns="0" rtlCol="0" anchor="t">
            <a:spAutoFit/>
          </a:bodyPr>
          <a:lstStyle/>
          <a:p>
            <a:pPr algn="ctr" indent="0" marL="0">
              <a:buNone/>
            </a:pPr>
            <a:r>
              <a:rPr lang="en-US" sz="1700" b="1" dirty="0">
                <a:solidFill>
                  <a:srgbClr val="004831"/>
                </a:solidFill>
                <a:latin typeface="Arial" pitchFamily="34" charset="0"/>
                <a:ea typeface="Arial" pitchFamily="34" charset="-122"/>
                <a:cs typeface="Arial" pitchFamily="34" charset="-120"/>
              </a:rPr>
              <a:t>3</a:t>
            </a:r>
            <a:endParaRPr lang="en-US" sz="1700" dirty="0"/>
          </a:p>
        </p:txBody>
      </p:sp>
      <p:sp>
        <p:nvSpPr>
          <p:cNvPr id="19" name="Text 16"/>
          <p:cNvSpPr/>
          <p:nvPr/>
        </p:nvSpPr>
        <p:spPr>
          <a:xfrm>
            <a:off x="1417320" y="4087368"/>
            <a:ext cx="5212080" cy="320040"/>
          </a:xfrm>
          <a:prstGeom prst="rect">
            <a:avLst/>
          </a:prstGeom>
          <a:noFill/>
          <a:ln/>
        </p:spPr>
        <p:txBody>
          <a:bodyPr wrap="square" lIns="0" tIns="0" rIns="0" bIns="0" rtlCol="0" anchor="t">
            <a:spAutoFit/>
          </a:bodyPr>
          <a:lstStyle/>
          <a:p>
            <a:pPr indent="0" marL="0">
              <a:buNone/>
            </a:pPr>
            <a:r>
              <a:rPr lang="en-US" sz="2000" b="1" dirty="0">
                <a:solidFill>
                  <a:srgbClr val="1F2522"/>
                </a:solidFill>
                <a:latin typeface="Arial" pitchFamily="34" charset="0"/>
                <a:ea typeface="Arial" pitchFamily="34" charset="-122"/>
                <a:cs typeface="Arial" pitchFamily="34" charset="-120"/>
              </a:rPr>
              <a:t>Review started</a:t>
            </a:r>
            <a:endParaRPr lang="en-US" sz="2000" dirty="0"/>
          </a:p>
        </p:txBody>
      </p:sp>
      <p:sp>
        <p:nvSpPr>
          <p:cNvPr id="20" name="Text 17"/>
          <p:cNvSpPr/>
          <p:nvPr/>
        </p:nvSpPr>
        <p:spPr>
          <a:xfrm>
            <a:off x="1417320" y="4489704"/>
            <a:ext cx="5212080" cy="292608"/>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The active reviewer is identified.</a:t>
            </a:r>
            <a:endParaRPr lang="en-US" sz="1500" dirty="0"/>
          </a:p>
        </p:txBody>
      </p:sp>
      <p:sp>
        <p:nvSpPr>
          <p:cNvPr id="21" name="Shape 18"/>
          <p:cNvSpPr/>
          <p:nvPr/>
        </p:nvSpPr>
        <p:spPr>
          <a:xfrm>
            <a:off x="694944" y="4910328"/>
            <a:ext cx="457200" cy="457200"/>
          </a:xfrm>
          <a:prstGeom prst="ellipse">
            <a:avLst/>
          </a:prstGeom>
          <a:solidFill>
            <a:srgbClr val="004831"/>
          </a:solidFill>
          <a:ln w="12700">
            <a:solidFill>
              <a:srgbClr val="004831"/>
            </a:solidFill>
            <a:prstDash val="solid"/>
          </a:ln>
        </p:spPr>
      </p:sp>
      <p:sp>
        <p:nvSpPr>
          <p:cNvPr id="22" name="Text 19"/>
          <p:cNvSpPr/>
          <p:nvPr/>
        </p:nvSpPr>
        <p:spPr>
          <a:xfrm>
            <a:off x="694944" y="5010912"/>
            <a:ext cx="457200" cy="274320"/>
          </a:xfrm>
          <a:prstGeom prst="rect">
            <a:avLst/>
          </a:prstGeom>
          <a:noFill/>
          <a:ln/>
        </p:spPr>
        <p:txBody>
          <a:bodyPr wrap="square" lIns="0" tIns="0" rIns="0" bIns="0" rtlCol="0" anchor="t">
            <a:sp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3" name="Text 20"/>
          <p:cNvSpPr/>
          <p:nvPr/>
        </p:nvSpPr>
        <p:spPr>
          <a:xfrm>
            <a:off x="1417320" y="4919472"/>
            <a:ext cx="5212080" cy="320040"/>
          </a:xfrm>
          <a:prstGeom prst="rect">
            <a:avLst/>
          </a:prstGeom>
          <a:noFill/>
          <a:ln/>
        </p:spPr>
        <p:txBody>
          <a:bodyPr wrap="square" lIns="0" tIns="0" rIns="0" bIns="0" rtlCol="0" anchor="t">
            <a:spAutoFit/>
          </a:bodyPr>
          <a:lstStyle/>
          <a:p>
            <a:pPr indent="0" marL="0">
              <a:buNone/>
            </a:pPr>
            <a:r>
              <a:rPr lang="en-US" sz="2000" b="1" dirty="0">
                <a:solidFill>
                  <a:srgbClr val="1F2522"/>
                </a:solidFill>
                <a:latin typeface="Arial" pitchFamily="34" charset="0"/>
                <a:ea typeface="Arial" pitchFamily="34" charset="-122"/>
                <a:cs typeface="Arial" pitchFamily="34" charset="-120"/>
              </a:rPr>
              <a:t>Decision recorded</a:t>
            </a:r>
            <a:endParaRPr lang="en-US" sz="2000" dirty="0"/>
          </a:p>
        </p:txBody>
      </p:sp>
      <p:sp>
        <p:nvSpPr>
          <p:cNvPr id="24" name="Text 21"/>
          <p:cNvSpPr/>
          <p:nvPr/>
        </p:nvSpPr>
        <p:spPr>
          <a:xfrm>
            <a:off x="1417320" y="5321808"/>
            <a:ext cx="5212080" cy="292608"/>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Outcome and context remain visible.</a:t>
            </a:r>
            <a:endParaRPr lang="en-US" sz="1500" dirty="0"/>
          </a:p>
        </p:txBody>
      </p:sp>
      <p:sp>
        <p:nvSpPr>
          <p:cNvPr id="25" name="Shape 22"/>
          <p:cNvSpPr/>
          <p:nvPr/>
        </p:nvSpPr>
        <p:spPr>
          <a:xfrm>
            <a:off x="7168896" y="2304288"/>
            <a:ext cx="4480560" cy="3575304"/>
          </a:xfrm>
          <a:prstGeom prst="roundRect">
            <a:avLst>
              <a:gd name="adj" fmla="val 3069"/>
            </a:avLst>
          </a:prstGeom>
          <a:solidFill>
            <a:srgbClr val="FFFFFF"/>
          </a:solidFill>
          <a:ln w="12700">
            <a:solidFill>
              <a:srgbClr val="D8DDD9"/>
            </a:solidFill>
            <a:prstDash val="solid"/>
          </a:ln>
        </p:spPr>
      </p:sp>
      <p:sp>
        <p:nvSpPr>
          <p:cNvPr id="26" name="Shape 23"/>
          <p:cNvSpPr/>
          <p:nvPr/>
        </p:nvSpPr>
        <p:spPr>
          <a:xfrm>
            <a:off x="7424928" y="2615184"/>
            <a:ext cx="2267712" cy="320040"/>
          </a:xfrm>
          <a:prstGeom prst="roundRect">
            <a:avLst>
              <a:gd name="adj" fmla="val 34286"/>
            </a:avLst>
          </a:prstGeom>
          <a:solidFill>
            <a:srgbClr val="EAF2EE"/>
          </a:solidFill>
          <a:ln w="12700">
            <a:solidFill>
              <a:srgbClr val="EAF2EE"/>
            </a:solidFill>
            <a:prstDash val="solid"/>
          </a:ln>
        </p:spPr>
      </p:sp>
      <p:sp>
        <p:nvSpPr>
          <p:cNvPr id="27" name="Text 24"/>
          <p:cNvSpPr/>
          <p:nvPr/>
        </p:nvSpPr>
        <p:spPr>
          <a:xfrm>
            <a:off x="7543800" y="2681021"/>
            <a:ext cx="2029968" cy="182880"/>
          </a:xfrm>
          <a:prstGeom prst="rect">
            <a:avLst/>
          </a:prstGeom>
          <a:noFill/>
          <a:ln/>
        </p:spPr>
        <p:txBody>
          <a:bodyPr wrap="square" lIns="0" tIns="0" rIns="0" bIns="0" rtlCol="0" anchor="t">
            <a:spAutoFit/>
          </a:bodyPr>
          <a:lstStyle/>
          <a:p>
            <a:pPr indent="0" marL="0">
              <a:buNone/>
            </a:pPr>
            <a:r>
              <a:rPr lang="en-US" sz="1050" b="1" dirty="0">
                <a:solidFill>
                  <a:srgbClr val="004831"/>
                </a:solidFill>
                <a:latin typeface="Arial" pitchFamily="34" charset="0"/>
                <a:ea typeface="Arial" pitchFamily="34" charset="-122"/>
                <a:cs typeface="Arial" pitchFamily="34" charset="-120"/>
              </a:rPr>
              <a:t>One recorded decision</a:t>
            </a:r>
            <a:endParaRPr lang="en-US" sz="1050" dirty="0"/>
          </a:p>
        </p:txBody>
      </p:sp>
      <p:pic>
        <p:nvPicPr>
          <p:cNvPr id="28" name="Image 0" descr="/home/alexandr/code/SwiftReview/backend/docs/business-presentation/assets/audit-decision.png">    </p:cNvPr>
          <p:cNvPicPr>
            <a:picLocks noChangeAspect="1"/>
          </p:cNvPicPr>
          <p:nvPr/>
        </p:nvPicPr>
        <p:blipFill>
          <a:blip r:embed="rId1"/>
          <a:stretch>
            <a:fillRect/>
          </a:stretch>
        </p:blipFill>
        <p:spPr>
          <a:xfrm>
            <a:off x="7333488" y="3462513"/>
            <a:ext cx="4142232" cy="1615470"/>
          </a:xfrm>
          <a:prstGeom prst="rect">
            <a:avLst/>
          </a:prstGeom>
        </p:spPr>
      </p:pic>
      <p:sp>
        <p:nvSpPr>
          <p:cNvPr id="29" name="Text 25"/>
          <p:cNvSpPr/>
          <p:nvPr/>
        </p:nvSpPr>
        <p:spPr>
          <a:xfrm>
            <a:off x="548640" y="5998464"/>
            <a:ext cx="11064240" cy="320040"/>
          </a:xfrm>
          <a:prstGeom prst="rect">
            <a:avLst/>
          </a:prstGeom>
          <a:noFill/>
          <a:ln/>
        </p:spPr>
        <p:txBody>
          <a:bodyPr wrap="square" lIns="0" tIns="0" rIns="0" bIns="0" rtlCol="0" anchor="t">
            <a:spAutoFit/>
          </a:bodyPr>
          <a:lstStyle/>
          <a:p>
            <a:pPr indent="0" marL="0">
              <a:buNone/>
            </a:pPr>
            <a:r>
              <a:rPr lang="en-US" sz="1100" dirty="0">
                <a:solidFill>
                  <a:srgbClr val="68716C"/>
                </a:solidFill>
                <a:latin typeface="Arial" pitchFamily="34" charset="0"/>
                <a:ea typeface="Arial" pitchFamily="34" charset="-122"/>
                <a:cs typeface="Arial" pitchFamily="34" charset="-120"/>
              </a:rPr>
              <a:t>Illustrative event sequence on the left; actual decision detail with synthetic data on the right.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6"/>
        </a:solidFill>
      </p:bgPr>
    </p:bg>
    <p:spTree>
      <p:nvGrpSpPr>
        <p:cNvPr id="1" name=""/>
        <p:cNvGrpSpPr/>
        <p:nvPr/>
      </p:nvGrpSpPr>
      <p:grpSpPr>
        <a:xfrm>
          <a:off x="0" y="0"/>
          <a:ext cx="0" cy="0"/>
          <a:chOff x="0" y="0"/>
          <a:chExt cx="0" cy="0"/>
        </a:xfrm>
      </p:grpSpPr>
      <p:sp>
        <p:nvSpPr>
          <p:cNvPr id="2" name="Text 0"/>
          <p:cNvSpPr/>
          <p:nvPr/>
        </p:nvSpPr>
        <p:spPr>
          <a:xfrm>
            <a:off x="548640" y="429768"/>
            <a:ext cx="10058400" cy="210312"/>
          </a:xfrm>
          <a:prstGeom prst="rect">
            <a:avLst/>
          </a:prstGeom>
          <a:noFill/>
          <a:ln/>
        </p:spPr>
        <p:txBody>
          <a:bodyPr wrap="square" lIns="0" tIns="0" rIns="0" bIns="0" rtlCol="0" anchor="t">
            <a:spAutoFit/>
          </a:bodyPr>
          <a:lstStyle/>
          <a:p>
            <a:pPr indent="0" marL="0">
              <a:buNone/>
            </a:pPr>
            <a:r>
              <a:rPr lang="en-US" sz="1100" b="1" dirty="0">
                <a:solidFill>
                  <a:srgbClr val="004831"/>
                </a:solidFill>
                <a:latin typeface="Arial" pitchFamily="34" charset="0"/>
                <a:ea typeface="Arial" pitchFamily="34" charset="-122"/>
                <a:cs typeface="Arial" pitchFamily="34" charset="-120"/>
              </a:rPr>
              <a:t>Architecture at a glance</a:t>
            </a:r>
            <a:endParaRPr lang="en-US" sz="1100" dirty="0"/>
          </a:p>
        </p:txBody>
      </p:sp>
      <p:sp>
        <p:nvSpPr>
          <p:cNvPr id="3" name="Text 1"/>
          <p:cNvSpPr/>
          <p:nvPr/>
        </p:nvSpPr>
        <p:spPr>
          <a:xfrm>
            <a:off x="530352" y="868680"/>
            <a:ext cx="11064240" cy="621792"/>
          </a:xfrm>
          <a:prstGeom prst="rect">
            <a:avLst/>
          </a:prstGeom>
          <a:noFill/>
          <a:ln/>
        </p:spPr>
        <p:txBody>
          <a:bodyPr wrap="square" lIns="0" tIns="0" rIns="0" bIns="0" rtlCol="0" anchor="t">
            <a:spAutoFit/>
          </a:bodyPr>
          <a:lstStyle/>
          <a:p>
            <a:pPr indent="0" marL="0">
              <a:buNone/>
            </a:pPr>
            <a:r>
              <a:rPr lang="en-US" sz="3400" b="1" dirty="0">
                <a:solidFill>
                  <a:srgbClr val="1F2522"/>
                </a:solidFill>
                <a:latin typeface="Arial" pitchFamily="34" charset="0"/>
                <a:ea typeface="Arial" pitchFamily="34" charset="-122"/>
                <a:cs typeface="Arial" pitchFamily="34" charset="-120"/>
              </a:rPr>
              <a:t>One workspace. A shared review record.</a:t>
            </a:r>
            <a:endParaRPr lang="en-US" sz="3400" dirty="0"/>
          </a:p>
        </p:txBody>
      </p:sp>
      <p:sp>
        <p:nvSpPr>
          <p:cNvPr id="4" name="Text 2"/>
          <p:cNvSpPr/>
          <p:nvPr/>
        </p:nvSpPr>
        <p:spPr>
          <a:xfrm>
            <a:off x="548640" y="1572768"/>
            <a:ext cx="10927080" cy="502920"/>
          </a:xfrm>
          <a:prstGeom prst="rect">
            <a:avLst/>
          </a:prstGeom>
          <a:noFill/>
          <a:ln/>
        </p:spPr>
        <p:txBody>
          <a:bodyPr wrap="square" lIns="0" tIns="0" rIns="0" bIns="0" rtlCol="0" anchor="t">
            <a:spAutoFit/>
          </a:bodyPr>
          <a:lstStyle/>
          <a:p>
            <a:pPr indent="0" marL="0">
              <a:buNone/>
            </a:pPr>
            <a:r>
              <a:rPr lang="en-US" sz="1600" dirty="0">
                <a:solidFill>
                  <a:srgbClr val="68716C"/>
                </a:solidFill>
                <a:latin typeface="Arial" pitchFamily="34" charset="0"/>
                <a:ea typeface="Arial" pitchFamily="34" charset="-122"/>
                <a:cs typeface="Arial" pitchFamily="34" charset="-120"/>
              </a:rPr>
              <a:t>Source integration, business rules and the user interface have clear responsibilities.</a:t>
            </a:r>
            <a:endParaRPr lang="en-US" sz="1600" dirty="0"/>
          </a:p>
        </p:txBody>
      </p:sp>
      <p:sp>
        <p:nvSpPr>
          <p:cNvPr id="5" name="Text 3"/>
          <p:cNvSpPr/>
          <p:nvPr/>
        </p:nvSpPr>
        <p:spPr>
          <a:xfrm>
            <a:off x="530352" y="6455664"/>
            <a:ext cx="7315200" cy="164592"/>
          </a:xfrm>
          <a:prstGeom prst="rect">
            <a:avLst/>
          </a:prstGeom>
          <a:noFill/>
          <a:ln/>
        </p:spPr>
        <p:txBody>
          <a:bodyPr wrap="square" lIns="0" tIns="0" rIns="0" bIns="0" rtlCol="0" anchor="t">
            <a:spAutoFit/>
          </a:bodyPr>
          <a:lstStyle/>
          <a:p>
            <a:pPr indent="0" marL="0">
              <a:buNone/>
            </a:pPr>
            <a:r>
              <a:rPr lang="en-US" sz="900" dirty="0">
                <a:solidFill>
                  <a:srgbClr val="68716C"/>
                </a:solidFill>
                <a:latin typeface="Arial" pitchFamily="34" charset="0"/>
                <a:ea typeface="Arial" pitchFamily="34" charset="-122"/>
                <a:cs typeface="Arial" pitchFamily="34" charset="-120"/>
              </a:rPr>
              <a:t>ORP  /  Operations Reporting and Processing</a:t>
            </a:r>
            <a:endParaRPr lang="en-US" sz="900" dirty="0"/>
          </a:p>
        </p:txBody>
      </p:sp>
      <p:sp>
        <p:nvSpPr>
          <p:cNvPr id="6" name="Text 4"/>
          <p:cNvSpPr/>
          <p:nvPr/>
        </p:nvSpPr>
        <p:spPr>
          <a:xfrm>
            <a:off x="11064240" y="6419088"/>
            <a:ext cx="566928" cy="228600"/>
          </a:xfrm>
          <a:prstGeom prst="rect">
            <a:avLst/>
          </a:prstGeom>
          <a:noFill/>
          <a:ln/>
        </p:spPr>
        <p:txBody>
          <a:bodyPr wrap="square" lIns="0" tIns="0" rIns="0" bIns="0" rtlCol="0" anchor="t">
            <a:spAutoFit/>
          </a:bodyPr>
          <a:lstStyle/>
          <a:p>
            <a:pPr algn="r" indent="0" marL="0">
              <a:buNone/>
            </a:pPr>
            <a:r>
              <a:rPr lang="en-US" sz="1100" dirty="0">
                <a:solidFill>
                  <a:srgbClr val="68716C"/>
                </a:solidFill>
                <a:latin typeface="Arial" pitchFamily="34" charset="0"/>
                <a:ea typeface="Arial" pitchFamily="34" charset="-122"/>
                <a:cs typeface="Arial" pitchFamily="34" charset="-120"/>
              </a:rPr>
              <a:t>09</a:t>
            </a:r>
            <a:endParaRPr lang="en-US" sz="1100" dirty="0"/>
          </a:p>
        </p:txBody>
      </p:sp>
      <p:sp>
        <p:nvSpPr>
          <p:cNvPr id="8" name="Shape 5"/>
          <p:cNvSpPr/>
          <p:nvPr/>
        </p:nvSpPr>
        <p:spPr>
          <a:xfrm>
            <a:off x="585216" y="2386584"/>
            <a:ext cx="1847088" cy="320040"/>
          </a:xfrm>
          <a:prstGeom prst="roundRect">
            <a:avLst>
              <a:gd name="adj" fmla="val 34286"/>
            </a:avLst>
          </a:prstGeom>
          <a:solidFill>
            <a:srgbClr val="EAF2EE"/>
          </a:solidFill>
          <a:ln w="12700">
            <a:solidFill>
              <a:srgbClr val="EAF2EE"/>
            </a:solidFill>
            <a:prstDash val="solid"/>
          </a:ln>
        </p:spPr>
      </p:sp>
      <p:sp>
        <p:nvSpPr>
          <p:cNvPr id="9" name="Text 6"/>
          <p:cNvSpPr/>
          <p:nvPr/>
        </p:nvSpPr>
        <p:spPr>
          <a:xfrm>
            <a:off x="704088" y="2452421"/>
            <a:ext cx="1609344" cy="182880"/>
          </a:xfrm>
          <a:prstGeom prst="rect">
            <a:avLst/>
          </a:prstGeom>
          <a:noFill/>
          <a:ln/>
        </p:spPr>
        <p:txBody>
          <a:bodyPr wrap="square" lIns="0" tIns="0" rIns="0" bIns="0" rtlCol="0" anchor="t">
            <a:spAutoFit/>
          </a:bodyPr>
          <a:lstStyle/>
          <a:p>
            <a:pPr indent="0" marL="0">
              <a:buNone/>
            </a:pPr>
            <a:r>
              <a:rPr lang="en-US" sz="1050" b="1" dirty="0">
                <a:solidFill>
                  <a:srgbClr val="004831"/>
                </a:solidFill>
                <a:latin typeface="Arial" pitchFamily="34" charset="0"/>
                <a:ea typeface="Arial" pitchFamily="34" charset="-122"/>
                <a:cs typeface="Arial" pitchFamily="34" charset="-120"/>
              </a:rPr>
              <a:t>Scheduled intake</a:t>
            </a:r>
            <a:endParaRPr lang="en-US" sz="1050" dirty="0"/>
          </a:p>
        </p:txBody>
      </p:sp>
      <p:sp>
        <p:nvSpPr>
          <p:cNvPr id="10" name="Shape 7"/>
          <p:cNvSpPr/>
          <p:nvPr/>
        </p:nvSpPr>
        <p:spPr>
          <a:xfrm>
            <a:off x="4846320" y="2386584"/>
            <a:ext cx="2176272" cy="320040"/>
          </a:xfrm>
          <a:prstGeom prst="roundRect">
            <a:avLst>
              <a:gd name="adj" fmla="val 34286"/>
            </a:avLst>
          </a:prstGeom>
          <a:solidFill>
            <a:srgbClr val="EAF2EE"/>
          </a:solidFill>
          <a:ln w="12700">
            <a:solidFill>
              <a:srgbClr val="EAF2EE"/>
            </a:solidFill>
            <a:prstDash val="solid"/>
          </a:ln>
        </p:spPr>
      </p:sp>
      <p:sp>
        <p:nvSpPr>
          <p:cNvPr id="11" name="Text 8"/>
          <p:cNvSpPr/>
          <p:nvPr/>
        </p:nvSpPr>
        <p:spPr>
          <a:xfrm>
            <a:off x="4965192" y="2452421"/>
            <a:ext cx="1938528" cy="182880"/>
          </a:xfrm>
          <a:prstGeom prst="rect">
            <a:avLst/>
          </a:prstGeom>
          <a:noFill/>
          <a:ln/>
        </p:spPr>
        <p:txBody>
          <a:bodyPr wrap="square" lIns="0" tIns="0" rIns="0" bIns="0" rtlCol="0" anchor="t">
            <a:spAutoFit/>
          </a:bodyPr>
          <a:lstStyle/>
          <a:p>
            <a:pPr indent="0" marL="0">
              <a:buNone/>
            </a:pPr>
            <a:r>
              <a:rPr lang="en-US" sz="1050" b="1" dirty="0">
                <a:solidFill>
                  <a:srgbClr val="004831"/>
                </a:solidFill>
                <a:latin typeface="Arial" pitchFamily="34" charset="0"/>
                <a:ea typeface="Arial" pitchFamily="34" charset="-122"/>
                <a:cs typeface="Arial" pitchFamily="34" charset="-120"/>
              </a:rPr>
              <a:t>Shared application data</a:t>
            </a:r>
            <a:endParaRPr lang="en-US" sz="1050" dirty="0"/>
          </a:p>
        </p:txBody>
      </p:sp>
      <p:sp>
        <p:nvSpPr>
          <p:cNvPr id="12" name="Shape 9"/>
          <p:cNvSpPr/>
          <p:nvPr/>
        </p:nvSpPr>
        <p:spPr>
          <a:xfrm>
            <a:off x="9244584" y="2386584"/>
            <a:ext cx="1993392" cy="320040"/>
          </a:xfrm>
          <a:prstGeom prst="roundRect">
            <a:avLst>
              <a:gd name="adj" fmla="val 34286"/>
            </a:avLst>
          </a:prstGeom>
          <a:solidFill>
            <a:srgbClr val="EAF2EE"/>
          </a:solidFill>
          <a:ln w="12700">
            <a:solidFill>
              <a:srgbClr val="EAF2EE"/>
            </a:solidFill>
            <a:prstDash val="solid"/>
          </a:ln>
        </p:spPr>
      </p:sp>
      <p:sp>
        <p:nvSpPr>
          <p:cNvPr id="13" name="Text 10"/>
          <p:cNvSpPr/>
          <p:nvPr/>
        </p:nvSpPr>
        <p:spPr>
          <a:xfrm>
            <a:off x="9363456" y="2452421"/>
            <a:ext cx="1755648" cy="182880"/>
          </a:xfrm>
          <a:prstGeom prst="rect">
            <a:avLst/>
          </a:prstGeom>
          <a:noFill/>
          <a:ln/>
        </p:spPr>
        <p:txBody>
          <a:bodyPr wrap="square" lIns="0" tIns="0" rIns="0" bIns="0" rtlCol="0" anchor="t">
            <a:spAutoFit/>
          </a:bodyPr>
          <a:lstStyle/>
          <a:p>
            <a:pPr indent="0" marL="0">
              <a:buNone/>
            </a:pPr>
            <a:r>
              <a:rPr lang="en-US" sz="1050" b="1" dirty="0">
                <a:solidFill>
                  <a:srgbClr val="004831"/>
                </a:solidFill>
                <a:latin typeface="Arial" pitchFamily="34" charset="0"/>
                <a:ea typeface="Arial" pitchFamily="34" charset="-122"/>
                <a:cs typeface="Arial" pitchFamily="34" charset="-120"/>
              </a:rPr>
              <a:t>Interactive review</a:t>
            </a:r>
            <a:endParaRPr lang="en-US" sz="1050" dirty="0"/>
          </a:p>
        </p:txBody>
      </p:sp>
      <p:sp>
        <p:nvSpPr>
          <p:cNvPr id="14" name="Shape 11"/>
          <p:cNvSpPr/>
          <p:nvPr/>
        </p:nvSpPr>
        <p:spPr>
          <a:xfrm>
            <a:off x="548640" y="3090672"/>
            <a:ext cx="1865376" cy="1618488"/>
          </a:xfrm>
          <a:prstGeom prst="roundRect">
            <a:avLst>
              <a:gd name="adj" fmla="val 6780"/>
            </a:avLst>
          </a:prstGeom>
          <a:solidFill>
            <a:srgbClr val="FFFFFF"/>
          </a:solidFill>
          <a:ln w="12700">
            <a:solidFill>
              <a:srgbClr val="FFFFFF"/>
            </a:solidFill>
            <a:prstDash val="solid"/>
          </a:ln>
        </p:spPr>
      </p:sp>
      <p:sp>
        <p:nvSpPr>
          <p:cNvPr id="15" name="Text 12"/>
          <p:cNvSpPr/>
          <p:nvPr/>
        </p:nvSpPr>
        <p:spPr>
          <a:xfrm>
            <a:off x="713232" y="3346704"/>
            <a:ext cx="1536192" cy="694944"/>
          </a:xfrm>
          <a:prstGeom prst="rect">
            <a:avLst/>
          </a:prstGeom>
          <a:noFill/>
          <a:ln/>
        </p:spPr>
        <p:txBody>
          <a:bodyPr wrap="square" lIns="0" tIns="0" rIns="0" bIns="0" rtlCol="0" anchor="t">
            <a:spAutoFit/>
          </a:bodyPr>
          <a:lstStyle/>
          <a:p>
            <a:pPr indent="0" marL="0">
              <a:buNone/>
            </a:pPr>
            <a:r>
              <a:rPr lang="en-US" sz="2000" b="1" dirty="0">
                <a:solidFill>
                  <a:srgbClr val="1F2522"/>
                </a:solidFill>
                <a:latin typeface="Arial" pitchFamily="34" charset="0"/>
                <a:ea typeface="Arial" pitchFamily="34" charset="-122"/>
                <a:cs typeface="Arial" pitchFamily="34" charset="-120"/>
              </a:rPr>
              <a:t>SWIFT</a:t>
            </a:r>
            <a:endParaRPr lang="en-US" sz="2000" dirty="0"/>
          </a:p>
          <a:p>
            <a:pPr indent="0" marL="0">
              <a:buNone/>
            </a:pPr>
            <a:r>
              <a:rPr lang="en-US" sz="2000" b="1" dirty="0">
                <a:solidFill>
                  <a:srgbClr val="1F2522"/>
                </a:solidFill>
                <a:latin typeface="Arial" pitchFamily="34" charset="0"/>
                <a:ea typeface="Arial" pitchFamily="34" charset="-122"/>
                <a:cs typeface="Arial" pitchFamily="34" charset="-120"/>
              </a:rPr>
              <a:t>source</a:t>
            </a:r>
            <a:endParaRPr lang="en-US" sz="2000" dirty="0"/>
          </a:p>
        </p:txBody>
      </p:sp>
      <p:sp>
        <p:nvSpPr>
          <p:cNvPr id="16" name="Text 13"/>
          <p:cNvSpPr/>
          <p:nvPr/>
        </p:nvSpPr>
        <p:spPr>
          <a:xfrm>
            <a:off x="713232" y="4251960"/>
            <a:ext cx="1554480" cy="237744"/>
          </a:xfrm>
          <a:prstGeom prst="rect">
            <a:avLst/>
          </a:prstGeom>
          <a:noFill/>
          <a:ln/>
        </p:spPr>
        <p:txBody>
          <a:bodyPr wrap="square" lIns="0" tIns="0" rIns="0" bIns="0" rtlCol="0" anchor="t">
            <a:spAutoFit/>
          </a:bodyPr>
          <a:lstStyle/>
          <a:p>
            <a:pPr indent="0" marL="0">
              <a:buNone/>
            </a:pPr>
            <a:r>
              <a:rPr lang="en-US" sz="1100" dirty="0">
                <a:solidFill>
                  <a:srgbClr val="68716C"/>
                </a:solidFill>
                <a:latin typeface="Arial" pitchFamily="34" charset="0"/>
                <a:ea typeface="Arial" pitchFamily="34" charset="-122"/>
                <a:cs typeface="Arial" pitchFamily="34" charset="-120"/>
              </a:rPr>
              <a:t>Existing environment</a:t>
            </a:r>
            <a:endParaRPr lang="en-US" sz="1100" dirty="0"/>
          </a:p>
        </p:txBody>
      </p:sp>
      <p:sp>
        <p:nvSpPr>
          <p:cNvPr id="17" name="Shape 14"/>
          <p:cNvSpPr/>
          <p:nvPr/>
        </p:nvSpPr>
        <p:spPr>
          <a:xfrm>
            <a:off x="2478024" y="3858768"/>
            <a:ext cx="292608" cy="0"/>
          </a:xfrm>
          <a:prstGeom prst="line">
            <a:avLst/>
          </a:prstGeom>
          <a:noFill/>
          <a:ln w="22860">
            <a:solidFill>
              <a:srgbClr val="004831"/>
            </a:solidFill>
            <a:prstDash val="solid"/>
            <a:headEnd type="none"/>
            <a:tailEnd type="triangle"/>
          </a:ln>
        </p:spPr>
      </p:sp>
      <p:sp>
        <p:nvSpPr>
          <p:cNvPr id="18" name="Shape 15"/>
          <p:cNvSpPr/>
          <p:nvPr/>
        </p:nvSpPr>
        <p:spPr>
          <a:xfrm>
            <a:off x="2862072" y="3090672"/>
            <a:ext cx="1865376" cy="1618488"/>
          </a:xfrm>
          <a:prstGeom prst="roundRect">
            <a:avLst>
              <a:gd name="adj" fmla="val 6780"/>
            </a:avLst>
          </a:prstGeom>
          <a:solidFill>
            <a:srgbClr val="FFFFFF"/>
          </a:solidFill>
          <a:ln w="12700">
            <a:solidFill>
              <a:srgbClr val="FFFFFF"/>
            </a:solidFill>
            <a:prstDash val="solid"/>
          </a:ln>
        </p:spPr>
      </p:sp>
      <p:sp>
        <p:nvSpPr>
          <p:cNvPr id="19" name="Text 16"/>
          <p:cNvSpPr/>
          <p:nvPr/>
        </p:nvSpPr>
        <p:spPr>
          <a:xfrm>
            <a:off x="3026664" y="3346704"/>
            <a:ext cx="1536192" cy="694944"/>
          </a:xfrm>
          <a:prstGeom prst="rect">
            <a:avLst/>
          </a:prstGeom>
          <a:noFill/>
          <a:ln/>
        </p:spPr>
        <p:txBody>
          <a:bodyPr wrap="square" lIns="0" tIns="0" rIns="0" bIns="0" rtlCol="0" anchor="t">
            <a:spAutoFit/>
          </a:bodyPr>
          <a:lstStyle/>
          <a:p>
            <a:pPr indent="0" marL="0">
              <a:buNone/>
            </a:pPr>
            <a:r>
              <a:rPr lang="en-US" sz="2000" b="1" dirty="0">
                <a:solidFill>
                  <a:srgbClr val="1F2522"/>
                </a:solidFill>
                <a:latin typeface="Arial" pitchFamily="34" charset="0"/>
                <a:ea typeface="Arial" pitchFamily="34" charset="-122"/>
                <a:cs typeface="Arial" pitchFamily="34" charset="-120"/>
              </a:rPr>
              <a:t>Scheduled</a:t>
            </a:r>
            <a:endParaRPr lang="en-US" sz="2000" dirty="0"/>
          </a:p>
          <a:p>
            <a:pPr indent="0" marL="0">
              <a:buNone/>
            </a:pPr>
            <a:r>
              <a:rPr lang="en-US" sz="2000" b="1" dirty="0">
                <a:solidFill>
                  <a:srgbClr val="1F2522"/>
                </a:solidFill>
                <a:latin typeface="Arial" pitchFamily="34" charset="0"/>
                <a:ea typeface="Arial" pitchFamily="34" charset="-122"/>
                <a:cs typeface="Arial" pitchFamily="34" charset="-120"/>
              </a:rPr>
              <a:t>integration</a:t>
            </a:r>
            <a:endParaRPr lang="en-US" sz="2000" dirty="0"/>
          </a:p>
        </p:txBody>
      </p:sp>
      <p:sp>
        <p:nvSpPr>
          <p:cNvPr id="20" name="Text 17"/>
          <p:cNvSpPr/>
          <p:nvPr/>
        </p:nvSpPr>
        <p:spPr>
          <a:xfrm>
            <a:off x="3026664" y="4251960"/>
            <a:ext cx="1554480" cy="237744"/>
          </a:xfrm>
          <a:prstGeom prst="rect">
            <a:avLst/>
          </a:prstGeom>
          <a:noFill/>
          <a:ln/>
        </p:spPr>
        <p:txBody>
          <a:bodyPr wrap="square" lIns="0" tIns="0" rIns="0" bIns="0" rtlCol="0" anchor="t">
            <a:spAutoFit/>
          </a:bodyPr>
          <a:lstStyle/>
          <a:p>
            <a:pPr indent="0" marL="0">
              <a:buNone/>
            </a:pPr>
            <a:r>
              <a:rPr lang="en-US" sz="1100" dirty="0">
                <a:solidFill>
                  <a:srgbClr val="68716C"/>
                </a:solidFill>
                <a:latin typeface="Arial" pitchFamily="34" charset="0"/>
                <a:ea typeface="Arial" pitchFamily="34" charset="-122"/>
                <a:cs typeface="Arial" pitchFamily="34" charset="-120"/>
              </a:rPr>
              <a:t>Import + routing</a:t>
            </a:r>
            <a:endParaRPr lang="en-US" sz="1100" dirty="0"/>
          </a:p>
        </p:txBody>
      </p:sp>
      <p:sp>
        <p:nvSpPr>
          <p:cNvPr id="21" name="Shape 18"/>
          <p:cNvSpPr/>
          <p:nvPr/>
        </p:nvSpPr>
        <p:spPr>
          <a:xfrm>
            <a:off x="4791456" y="3858768"/>
            <a:ext cx="292608" cy="0"/>
          </a:xfrm>
          <a:prstGeom prst="line">
            <a:avLst/>
          </a:prstGeom>
          <a:noFill/>
          <a:ln w="22860">
            <a:solidFill>
              <a:srgbClr val="004831"/>
            </a:solidFill>
            <a:prstDash val="solid"/>
            <a:headEnd type="none"/>
            <a:tailEnd type="triangle"/>
          </a:ln>
        </p:spPr>
      </p:sp>
      <p:sp>
        <p:nvSpPr>
          <p:cNvPr id="22" name="Shape 19"/>
          <p:cNvSpPr/>
          <p:nvPr/>
        </p:nvSpPr>
        <p:spPr>
          <a:xfrm>
            <a:off x="5175504" y="3090672"/>
            <a:ext cx="1865376" cy="1618488"/>
          </a:xfrm>
          <a:prstGeom prst="roundRect">
            <a:avLst>
              <a:gd name="adj" fmla="val 6780"/>
            </a:avLst>
          </a:prstGeom>
          <a:solidFill>
            <a:srgbClr val="004831"/>
          </a:solidFill>
          <a:ln w="12700">
            <a:solidFill>
              <a:srgbClr val="004831"/>
            </a:solidFill>
            <a:prstDash val="solid"/>
          </a:ln>
        </p:spPr>
      </p:sp>
      <p:sp>
        <p:nvSpPr>
          <p:cNvPr id="23" name="Text 20"/>
          <p:cNvSpPr/>
          <p:nvPr/>
        </p:nvSpPr>
        <p:spPr>
          <a:xfrm>
            <a:off x="5340096" y="3346704"/>
            <a:ext cx="1536192" cy="694944"/>
          </a:xfrm>
          <a:prstGeom prst="rect">
            <a:avLst/>
          </a:prstGeom>
          <a:noFill/>
          <a:ln/>
        </p:spPr>
        <p:txBody>
          <a:bodyPr wrap="square" lIns="0" tIns="0" rIns="0" bIns="0" rtlCol="0" anchor="t">
            <a:spAutoFit/>
          </a:bodyPr>
          <a:lstStyle/>
          <a:p>
            <a:pPr indent="0" marL="0">
              <a:buNone/>
            </a:pPr>
            <a:r>
              <a:rPr lang="en-US" sz="2000" b="1" dirty="0">
                <a:solidFill>
                  <a:srgbClr val="FFFFFF"/>
                </a:solidFill>
                <a:latin typeface="Arial" pitchFamily="34" charset="0"/>
                <a:ea typeface="Arial" pitchFamily="34" charset="-122"/>
                <a:cs typeface="Arial" pitchFamily="34" charset="-120"/>
              </a:rPr>
              <a:t>Review</a:t>
            </a:r>
            <a:endParaRPr lang="en-US" sz="2000" dirty="0"/>
          </a:p>
          <a:p>
            <a:pPr indent="0" marL="0">
              <a:buNone/>
            </a:pPr>
            <a:r>
              <a:rPr lang="en-US" sz="2000" b="1" dirty="0">
                <a:solidFill>
                  <a:srgbClr val="FFFFFF"/>
                </a:solidFill>
                <a:latin typeface="Arial" pitchFamily="34" charset="0"/>
                <a:ea typeface="Arial" pitchFamily="34" charset="-122"/>
                <a:cs typeface="Arial" pitchFamily="34" charset="-120"/>
              </a:rPr>
              <a:t>data store</a:t>
            </a:r>
            <a:endParaRPr lang="en-US" sz="2000" dirty="0"/>
          </a:p>
        </p:txBody>
      </p:sp>
      <p:sp>
        <p:nvSpPr>
          <p:cNvPr id="24" name="Text 21"/>
          <p:cNvSpPr/>
          <p:nvPr/>
        </p:nvSpPr>
        <p:spPr>
          <a:xfrm>
            <a:off x="5340096" y="4251960"/>
            <a:ext cx="1554480" cy="237744"/>
          </a:xfrm>
          <a:prstGeom prst="rect">
            <a:avLst/>
          </a:prstGeom>
          <a:noFill/>
          <a:ln/>
        </p:spPr>
        <p:txBody>
          <a:bodyPr wrap="square" lIns="0" tIns="0" rIns="0" bIns="0" rtlCol="0" anchor="t">
            <a:spAutoFit/>
          </a:bodyPr>
          <a:lstStyle/>
          <a:p>
            <a:pPr indent="0" marL="0">
              <a:buNone/>
            </a:pPr>
            <a:r>
              <a:rPr lang="en-US" sz="1100" dirty="0">
                <a:solidFill>
                  <a:srgbClr val="D5E4E1"/>
                </a:solidFill>
                <a:latin typeface="Arial" pitchFamily="34" charset="0"/>
                <a:ea typeface="Arial" pitchFamily="34" charset="-122"/>
                <a:cs typeface="Arial" pitchFamily="34" charset="-120"/>
              </a:rPr>
              <a:t>SQL Server</a:t>
            </a:r>
            <a:endParaRPr lang="en-US" sz="1100" dirty="0"/>
          </a:p>
        </p:txBody>
      </p:sp>
      <p:sp>
        <p:nvSpPr>
          <p:cNvPr id="25" name="Shape 22"/>
          <p:cNvSpPr/>
          <p:nvPr/>
        </p:nvSpPr>
        <p:spPr>
          <a:xfrm>
            <a:off x="7104888" y="3858768"/>
            <a:ext cx="292608" cy="0"/>
          </a:xfrm>
          <a:prstGeom prst="line">
            <a:avLst/>
          </a:prstGeom>
          <a:noFill/>
          <a:ln w="22860">
            <a:solidFill>
              <a:srgbClr val="004831"/>
            </a:solidFill>
            <a:prstDash val="solid"/>
            <a:headEnd type="none"/>
            <a:tailEnd type="triangle"/>
          </a:ln>
        </p:spPr>
      </p:sp>
      <p:sp>
        <p:nvSpPr>
          <p:cNvPr id="26" name="Shape 23"/>
          <p:cNvSpPr/>
          <p:nvPr/>
        </p:nvSpPr>
        <p:spPr>
          <a:xfrm>
            <a:off x="7397496" y="4050792"/>
            <a:ext cx="-292608" cy="0"/>
          </a:xfrm>
          <a:prstGeom prst="line">
            <a:avLst/>
          </a:prstGeom>
          <a:noFill/>
          <a:ln w="22860">
            <a:solidFill>
              <a:srgbClr val="004831"/>
            </a:solidFill>
            <a:prstDash val="solid"/>
            <a:headEnd type="none"/>
            <a:tailEnd type="triangle"/>
          </a:ln>
        </p:spPr>
      </p:sp>
      <p:sp>
        <p:nvSpPr>
          <p:cNvPr id="27" name="Shape 24"/>
          <p:cNvSpPr/>
          <p:nvPr/>
        </p:nvSpPr>
        <p:spPr>
          <a:xfrm>
            <a:off x="7488936" y="3090672"/>
            <a:ext cx="1865376" cy="1618488"/>
          </a:xfrm>
          <a:prstGeom prst="roundRect">
            <a:avLst>
              <a:gd name="adj" fmla="val 6780"/>
            </a:avLst>
          </a:prstGeom>
          <a:solidFill>
            <a:srgbClr val="FFFFFF"/>
          </a:solidFill>
          <a:ln w="12700">
            <a:solidFill>
              <a:srgbClr val="FFFFFF"/>
            </a:solidFill>
            <a:prstDash val="solid"/>
          </a:ln>
        </p:spPr>
      </p:sp>
      <p:sp>
        <p:nvSpPr>
          <p:cNvPr id="28" name="Text 25"/>
          <p:cNvSpPr/>
          <p:nvPr/>
        </p:nvSpPr>
        <p:spPr>
          <a:xfrm>
            <a:off x="7653528" y="3346704"/>
            <a:ext cx="1536192" cy="694944"/>
          </a:xfrm>
          <a:prstGeom prst="rect">
            <a:avLst/>
          </a:prstGeom>
          <a:noFill/>
          <a:ln/>
        </p:spPr>
        <p:txBody>
          <a:bodyPr wrap="square" lIns="0" tIns="0" rIns="0" bIns="0" rtlCol="0" anchor="t">
            <a:spAutoFit/>
          </a:bodyPr>
          <a:lstStyle/>
          <a:p>
            <a:pPr indent="0" marL="0">
              <a:buNone/>
            </a:pPr>
            <a:r>
              <a:rPr lang="en-US" sz="2000" b="1" dirty="0">
                <a:solidFill>
                  <a:srgbClr val="1F2522"/>
                </a:solidFill>
                <a:latin typeface="Arial" pitchFamily="34" charset="0"/>
                <a:ea typeface="Arial" pitchFamily="34" charset="-122"/>
                <a:cs typeface="Arial" pitchFamily="34" charset="-120"/>
              </a:rPr>
              <a:t>Application</a:t>
            </a:r>
            <a:endParaRPr lang="en-US" sz="2000" dirty="0"/>
          </a:p>
          <a:p>
            <a:pPr indent="0" marL="0">
              <a:buNone/>
            </a:pPr>
            <a:r>
              <a:rPr lang="en-US" sz="2000" b="1" dirty="0">
                <a:solidFill>
                  <a:srgbClr val="1F2522"/>
                </a:solidFill>
                <a:latin typeface="Arial" pitchFamily="34" charset="0"/>
                <a:ea typeface="Arial" pitchFamily="34" charset="-122"/>
                <a:cs typeface="Arial" pitchFamily="34" charset="-120"/>
              </a:rPr>
              <a:t>service</a:t>
            </a:r>
            <a:endParaRPr lang="en-US" sz="2000" dirty="0"/>
          </a:p>
        </p:txBody>
      </p:sp>
      <p:sp>
        <p:nvSpPr>
          <p:cNvPr id="29" name="Text 26"/>
          <p:cNvSpPr/>
          <p:nvPr/>
        </p:nvSpPr>
        <p:spPr>
          <a:xfrm>
            <a:off x="7653528" y="4251960"/>
            <a:ext cx="1554480" cy="237744"/>
          </a:xfrm>
          <a:prstGeom prst="rect">
            <a:avLst/>
          </a:prstGeom>
          <a:noFill/>
          <a:ln/>
        </p:spPr>
        <p:txBody>
          <a:bodyPr wrap="square" lIns="0" tIns="0" rIns="0" bIns="0" rtlCol="0" anchor="t">
            <a:spAutoFit/>
          </a:bodyPr>
          <a:lstStyle/>
          <a:p>
            <a:pPr indent="0" marL="0">
              <a:buNone/>
            </a:pPr>
            <a:r>
              <a:rPr lang="en-US" sz="1100" dirty="0">
                <a:solidFill>
                  <a:srgbClr val="68716C"/>
                </a:solidFill>
                <a:latin typeface="Arial" pitchFamily="34" charset="0"/>
                <a:ea typeface="Arial" pitchFamily="34" charset="-122"/>
                <a:cs typeface="Arial" pitchFamily="34" charset="-120"/>
              </a:rPr>
              <a:t>Workflow + access</a:t>
            </a:r>
            <a:endParaRPr lang="en-US" sz="1100" dirty="0"/>
          </a:p>
        </p:txBody>
      </p:sp>
      <p:sp>
        <p:nvSpPr>
          <p:cNvPr id="30" name="Shape 27"/>
          <p:cNvSpPr/>
          <p:nvPr/>
        </p:nvSpPr>
        <p:spPr>
          <a:xfrm>
            <a:off x="9418320" y="3858768"/>
            <a:ext cx="292608" cy="0"/>
          </a:xfrm>
          <a:prstGeom prst="line">
            <a:avLst/>
          </a:prstGeom>
          <a:noFill/>
          <a:ln w="22860">
            <a:solidFill>
              <a:srgbClr val="004831"/>
            </a:solidFill>
            <a:prstDash val="solid"/>
            <a:headEnd type="none"/>
            <a:tailEnd type="triangle"/>
          </a:ln>
        </p:spPr>
      </p:sp>
      <p:sp>
        <p:nvSpPr>
          <p:cNvPr id="31" name="Shape 28"/>
          <p:cNvSpPr/>
          <p:nvPr/>
        </p:nvSpPr>
        <p:spPr>
          <a:xfrm>
            <a:off x="9710928" y="4050792"/>
            <a:ext cx="-292608" cy="0"/>
          </a:xfrm>
          <a:prstGeom prst="line">
            <a:avLst/>
          </a:prstGeom>
          <a:noFill/>
          <a:ln w="22860">
            <a:solidFill>
              <a:srgbClr val="004831"/>
            </a:solidFill>
            <a:prstDash val="solid"/>
            <a:headEnd type="none"/>
            <a:tailEnd type="triangle"/>
          </a:ln>
        </p:spPr>
      </p:sp>
      <p:sp>
        <p:nvSpPr>
          <p:cNvPr id="32" name="Shape 29"/>
          <p:cNvSpPr/>
          <p:nvPr/>
        </p:nvSpPr>
        <p:spPr>
          <a:xfrm>
            <a:off x="9802368" y="3090672"/>
            <a:ext cx="1865376" cy="1618488"/>
          </a:xfrm>
          <a:prstGeom prst="roundRect">
            <a:avLst>
              <a:gd name="adj" fmla="val 6780"/>
            </a:avLst>
          </a:prstGeom>
          <a:solidFill>
            <a:srgbClr val="FFFFFF"/>
          </a:solidFill>
          <a:ln w="12700">
            <a:solidFill>
              <a:srgbClr val="FFFFFF"/>
            </a:solidFill>
            <a:prstDash val="solid"/>
          </a:ln>
        </p:spPr>
      </p:sp>
      <p:sp>
        <p:nvSpPr>
          <p:cNvPr id="33" name="Text 30"/>
          <p:cNvSpPr/>
          <p:nvPr/>
        </p:nvSpPr>
        <p:spPr>
          <a:xfrm>
            <a:off x="9966960" y="3346704"/>
            <a:ext cx="1536192" cy="694944"/>
          </a:xfrm>
          <a:prstGeom prst="rect">
            <a:avLst/>
          </a:prstGeom>
          <a:noFill/>
          <a:ln/>
        </p:spPr>
        <p:txBody>
          <a:bodyPr wrap="square" lIns="0" tIns="0" rIns="0" bIns="0" rtlCol="0" anchor="t">
            <a:spAutoFit/>
          </a:bodyPr>
          <a:lstStyle/>
          <a:p>
            <a:pPr indent="0" marL="0">
              <a:buNone/>
            </a:pPr>
            <a:r>
              <a:rPr lang="en-US" sz="2000" b="1" dirty="0">
                <a:solidFill>
                  <a:srgbClr val="1F2522"/>
                </a:solidFill>
                <a:latin typeface="Arial" pitchFamily="34" charset="0"/>
                <a:ea typeface="Arial" pitchFamily="34" charset="-122"/>
                <a:cs typeface="Arial" pitchFamily="34" charset="-120"/>
              </a:rPr>
              <a:t>Browser</a:t>
            </a:r>
            <a:endParaRPr lang="en-US" sz="2000" dirty="0"/>
          </a:p>
          <a:p>
            <a:pPr indent="0" marL="0">
              <a:buNone/>
            </a:pPr>
            <a:r>
              <a:rPr lang="en-US" sz="2000" b="1" dirty="0">
                <a:solidFill>
                  <a:srgbClr val="1F2522"/>
                </a:solidFill>
                <a:latin typeface="Arial" pitchFamily="34" charset="0"/>
                <a:ea typeface="Arial" pitchFamily="34" charset="-122"/>
                <a:cs typeface="Arial" pitchFamily="34" charset="-120"/>
              </a:rPr>
              <a:t>workspace</a:t>
            </a:r>
            <a:endParaRPr lang="en-US" sz="2000" dirty="0"/>
          </a:p>
        </p:txBody>
      </p:sp>
      <p:sp>
        <p:nvSpPr>
          <p:cNvPr id="34" name="Text 31"/>
          <p:cNvSpPr/>
          <p:nvPr/>
        </p:nvSpPr>
        <p:spPr>
          <a:xfrm>
            <a:off x="9966960" y="4251960"/>
            <a:ext cx="1554480" cy="237744"/>
          </a:xfrm>
          <a:prstGeom prst="rect">
            <a:avLst/>
          </a:prstGeom>
          <a:noFill/>
          <a:ln/>
        </p:spPr>
        <p:txBody>
          <a:bodyPr wrap="square" lIns="0" tIns="0" rIns="0" bIns="0" rtlCol="0" anchor="t">
            <a:spAutoFit/>
          </a:bodyPr>
          <a:lstStyle/>
          <a:p>
            <a:pPr indent="0" marL="0">
              <a:buNone/>
            </a:pPr>
            <a:r>
              <a:rPr lang="en-US" sz="1100" dirty="0">
                <a:solidFill>
                  <a:srgbClr val="68716C"/>
                </a:solidFill>
                <a:latin typeface="Arial" pitchFamily="34" charset="0"/>
                <a:ea typeface="Arial" pitchFamily="34" charset="-122"/>
                <a:cs typeface="Arial" pitchFamily="34" charset="-120"/>
              </a:rPr>
              <a:t>React interface</a:t>
            </a:r>
            <a:endParaRPr lang="en-US" sz="1100" dirty="0"/>
          </a:p>
        </p:txBody>
      </p:sp>
      <p:sp>
        <p:nvSpPr>
          <p:cNvPr id="35" name="Shape 32"/>
          <p:cNvSpPr/>
          <p:nvPr/>
        </p:nvSpPr>
        <p:spPr>
          <a:xfrm>
            <a:off x="548640" y="5157216"/>
            <a:ext cx="11091672" cy="539496"/>
          </a:xfrm>
          <a:prstGeom prst="roundRect">
            <a:avLst>
              <a:gd name="adj" fmla="val 20339"/>
            </a:avLst>
          </a:prstGeom>
          <a:solidFill>
            <a:srgbClr val="EAF2EE"/>
          </a:solidFill>
          <a:ln w="12700">
            <a:solidFill>
              <a:srgbClr val="EAF2EE"/>
            </a:solidFill>
            <a:prstDash val="solid"/>
          </a:ln>
        </p:spPr>
      </p:sp>
      <p:sp>
        <p:nvSpPr>
          <p:cNvPr id="36" name="Text 33"/>
          <p:cNvSpPr/>
          <p:nvPr/>
        </p:nvSpPr>
        <p:spPr>
          <a:xfrm>
            <a:off x="758952" y="5321808"/>
            <a:ext cx="10643616" cy="246888"/>
          </a:xfrm>
          <a:prstGeom prst="rect">
            <a:avLst/>
          </a:prstGeom>
          <a:noFill/>
          <a:ln/>
        </p:spPr>
        <p:txBody>
          <a:bodyPr wrap="square" lIns="0" tIns="0" rIns="0" bIns="0" rtlCol="0" anchor="t">
            <a:spAutoFit/>
          </a:bodyPr>
          <a:lstStyle/>
          <a:p>
            <a:pPr indent="0" marL="0">
              <a:buNone/>
            </a:pPr>
            <a:r>
              <a:rPr lang="en-US" sz="1400" b="1" dirty="0">
                <a:solidFill>
                  <a:srgbClr val="004831"/>
                </a:solidFill>
                <a:latin typeface="Arial" pitchFamily="34" charset="0"/>
                <a:ea typeface="Arial" pitchFamily="34" charset="-122"/>
                <a:cs typeface="Arial" pitchFamily="34" charset="-120"/>
              </a:rPr>
              <a:t>New messages enter through integration. Reviews and audit events stay linked in one application data store.</a:t>
            </a:r>
            <a:endParaRPr lang="en-US" sz="1400" dirty="0"/>
          </a:p>
        </p:txBody>
      </p:sp>
      <p:sp>
        <p:nvSpPr>
          <p:cNvPr id="37" name="Text 34"/>
          <p:cNvSpPr/>
          <p:nvPr/>
        </p:nvSpPr>
        <p:spPr>
          <a:xfrm>
            <a:off x="548640" y="5998464"/>
            <a:ext cx="11064240" cy="320040"/>
          </a:xfrm>
          <a:prstGeom prst="rect">
            <a:avLst/>
          </a:prstGeom>
          <a:noFill/>
          <a:ln/>
        </p:spPr>
        <p:txBody>
          <a:bodyPr wrap="square" lIns="0" tIns="0" rIns="0" bIns="0" rtlCol="0" anchor="t">
            <a:spAutoFit/>
          </a:bodyPr>
          <a:lstStyle/>
          <a:p>
            <a:pPr indent="0" marL="0">
              <a:buNone/>
            </a:pPr>
            <a:r>
              <a:rPr lang="en-US" sz="1100" dirty="0">
                <a:solidFill>
                  <a:srgbClr val="68716C"/>
                </a:solidFill>
                <a:latin typeface="Arial" pitchFamily="34" charset="0"/>
                <a:ea typeface="Arial" pitchFamily="34" charset="-122"/>
                <a:cs typeface="Arial" pitchFamily="34" charset="-120"/>
              </a:rPr>
              <a:t>High-level design for persistent deployment; the screenshots use an in-memory demonstration environment.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6"/>
        </a:solidFill>
      </p:bgPr>
    </p:bg>
    <p:spTree>
      <p:nvGrpSpPr>
        <p:cNvPr id="1" name=""/>
        <p:cNvGrpSpPr/>
        <p:nvPr/>
      </p:nvGrpSpPr>
      <p:grpSpPr>
        <a:xfrm>
          <a:off x="0" y="0"/>
          <a:ext cx="0" cy="0"/>
          <a:chOff x="0" y="0"/>
          <a:chExt cx="0" cy="0"/>
        </a:xfrm>
      </p:grpSpPr>
      <p:sp>
        <p:nvSpPr>
          <p:cNvPr id="2" name="Text 0"/>
          <p:cNvSpPr/>
          <p:nvPr/>
        </p:nvSpPr>
        <p:spPr>
          <a:xfrm>
            <a:off x="548640" y="429768"/>
            <a:ext cx="10058400" cy="210312"/>
          </a:xfrm>
          <a:prstGeom prst="rect">
            <a:avLst/>
          </a:prstGeom>
          <a:noFill/>
          <a:ln/>
        </p:spPr>
        <p:txBody>
          <a:bodyPr wrap="square" lIns="0" tIns="0" rIns="0" bIns="0" rtlCol="0" anchor="t">
            <a:spAutoFit/>
          </a:bodyPr>
          <a:lstStyle/>
          <a:p>
            <a:pPr indent="0" marL="0">
              <a:buNone/>
            </a:pPr>
            <a:r>
              <a:rPr lang="en-US" sz="1100" b="1" dirty="0">
                <a:solidFill>
                  <a:srgbClr val="004831"/>
                </a:solidFill>
                <a:latin typeface="Arial" pitchFamily="34" charset="0"/>
                <a:ea typeface="Arial" pitchFamily="34" charset="-122"/>
                <a:cs typeface="Arial" pitchFamily="34" charset="-120"/>
              </a:rPr>
              <a:t>Current scope and readiness</a:t>
            </a:r>
            <a:endParaRPr lang="en-US" sz="1100" dirty="0"/>
          </a:p>
        </p:txBody>
      </p:sp>
      <p:sp>
        <p:nvSpPr>
          <p:cNvPr id="3" name="Text 1"/>
          <p:cNvSpPr/>
          <p:nvPr/>
        </p:nvSpPr>
        <p:spPr>
          <a:xfrm>
            <a:off x="530352" y="868680"/>
            <a:ext cx="11064240" cy="621792"/>
          </a:xfrm>
          <a:prstGeom prst="rect">
            <a:avLst/>
          </a:prstGeom>
          <a:noFill/>
          <a:ln/>
        </p:spPr>
        <p:txBody>
          <a:bodyPr wrap="square" lIns="0" tIns="0" rIns="0" bIns="0" rtlCol="0" anchor="t">
            <a:spAutoFit/>
          </a:bodyPr>
          <a:lstStyle/>
          <a:p>
            <a:pPr indent="0" marL="0">
              <a:buNone/>
            </a:pPr>
            <a:r>
              <a:rPr lang="en-US" sz="3400" b="1" dirty="0">
                <a:solidFill>
                  <a:srgbClr val="1F2522"/>
                </a:solidFill>
                <a:latin typeface="Arial" pitchFamily="34" charset="0"/>
                <a:ea typeface="Arial" pitchFamily="34" charset="-122"/>
                <a:cs typeface="Arial" pitchFamily="34" charset="-120"/>
              </a:rPr>
              <a:t>A working workflow, with a clear path to pilot</a:t>
            </a:r>
            <a:endParaRPr lang="en-US" sz="3400" dirty="0"/>
          </a:p>
        </p:txBody>
      </p:sp>
      <p:sp>
        <p:nvSpPr>
          <p:cNvPr id="4" name="Text 2"/>
          <p:cNvSpPr/>
          <p:nvPr/>
        </p:nvSpPr>
        <p:spPr>
          <a:xfrm>
            <a:off x="548640" y="1572768"/>
            <a:ext cx="10927080" cy="502920"/>
          </a:xfrm>
          <a:prstGeom prst="rect">
            <a:avLst/>
          </a:prstGeom>
          <a:noFill/>
          <a:ln/>
        </p:spPr>
        <p:txBody>
          <a:bodyPr wrap="square" lIns="0" tIns="0" rIns="0" bIns="0" rtlCol="0" anchor="t">
            <a:spAutoFit/>
          </a:bodyPr>
          <a:lstStyle/>
          <a:p>
            <a:pPr indent="0" marL="0">
              <a:buNone/>
            </a:pPr>
            <a:r>
              <a:rPr lang="en-US" sz="1600" dirty="0">
                <a:solidFill>
                  <a:srgbClr val="68716C"/>
                </a:solidFill>
                <a:latin typeface="Arial" pitchFamily="34" charset="0"/>
                <a:ea typeface="Arial" pitchFamily="34" charset="-122"/>
                <a:cs typeface="Arial" pitchFamily="34" charset="-120"/>
              </a:rPr>
              <a:t>Demonstrated functionality and deployment preparation are separate milestones.</a:t>
            </a:r>
            <a:endParaRPr lang="en-US" sz="1600" dirty="0"/>
          </a:p>
        </p:txBody>
      </p:sp>
      <p:sp>
        <p:nvSpPr>
          <p:cNvPr id="5" name="Text 3"/>
          <p:cNvSpPr/>
          <p:nvPr/>
        </p:nvSpPr>
        <p:spPr>
          <a:xfrm>
            <a:off x="530352" y="6455664"/>
            <a:ext cx="7315200" cy="164592"/>
          </a:xfrm>
          <a:prstGeom prst="rect">
            <a:avLst/>
          </a:prstGeom>
          <a:noFill/>
          <a:ln/>
        </p:spPr>
        <p:txBody>
          <a:bodyPr wrap="square" lIns="0" tIns="0" rIns="0" bIns="0" rtlCol="0" anchor="t">
            <a:spAutoFit/>
          </a:bodyPr>
          <a:lstStyle/>
          <a:p>
            <a:pPr indent="0" marL="0">
              <a:buNone/>
            </a:pPr>
            <a:r>
              <a:rPr lang="en-US" sz="900" dirty="0">
                <a:solidFill>
                  <a:srgbClr val="68716C"/>
                </a:solidFill>
                <a:latin typeface="Arial" pitchFamily="34" charset="0"/>
                <a:ea typeface="Arial" pitchFamily="34" charset="-122"/>
                <a:cs typeface="Arial" pitchFamily="34" charset="-120"/>
              </a:rPr>
              <a:t>ORP  /  Operations Reporting and Processing</a:t>
            </a:r>
            <a:endParaRPr lang="en-US" sz="900" dirty="0"/>
          </a:p>
        </p:txBody>
      </p:sp>
      <p:sp>
        <p:nvSpPr>
          <p:cNvPr id="6" name="Text 4"/>
          <p:cNvSpPr/>
          <p:nvPr/>
        </p:nvSpPr>
        <p:spPr>
          <a:xfrm>
            <a:off x="11064240" y="6419088"/>
            <a:ext cx="566928" cy="228600"/>
          </a:xfrm>
          <a:prstGeom prst="rect">
            <a:avLst/>
          </a:prstGeom>
          <a:noFill/>
          <a:ln/>
        </p:spPr>
        <p:txBody>
          <a:bodyPr wrap="square" lIns="0" tIns="0" rIns="0" bIns="0" rtlCol="0" anchor="t">
            <a:spAutoFit/>
          </a:bodyPr>
          <a:lstStyle/>
          <a:p>
            <a:pPr algn="r" indent="0" marL="0">
              <a:buNone/>
            </a:pPr>
            <a:r>
              <a:rPr lang="en-US" sz="1100" dirty="0">
                <a:solidFill>
                  <a:srgbClr val="68716C"/>
                </a:solidFill>
                <a:latin typeface="Arial" pitchFamily="34" charset="0"/>
                <a:ea typeface="Arial" pitchFamily="34" charset="-122"/>
                <a:cs typeface="Arial" pitchFamily="34" charset="-120"/>
              </a:rPr>
              <a:t>10</a:t>
            </a:r>
            <a:endParaRPr lang="en-US" sz="1100" dirty="0"/>
          </a:p>
        </p:txBody>
      </p:sp>
      <p:sp>
        <p:nvSpPr>
          <p:cNvPr id="8" name="Shape 5"/>
          <p:cNvSpPr/>
          <p:nvPr/>
        </p:nvSpPr>
        <p:spPr>
          <a:xfrm>
            <a:off x="548640" y="2368296"/>
            <a:ext cx="5404104" cy="3346704"/>
          </a:xfrm>
          <a:prstGeom prst="roundRect">
            <a:avLst>
              <a:gd name="adj" fmla="val 3279"/>
            </a:avLst>
          </a:prstGeom>
          <a:solidFill>
            <a:srgbClr val="FFFFFF"/>
          </a:solidFill>
          <a:ln w="12700">
            <a:solidFill>
              <a:srgbClr val="FFFFFF"/>
            </a:solidFill>
            <a:prstDash val="solid"/>
          </a:ln>
        </p:spPr>
      </p:sp>
      <p:sp>
        <p:nvSpPr>
          <p:cNvPr id="9" name="Shape 6"/>
          <p:cNvSpPr/>
          <p:nvPr/>
        </p:nvSpPr>
        <p:spPr>
          <a:xfrm>
            <a:off x="6254496" y="2368296"/>
            <a:ext cx="5385816" cy="3346704"/>
          </a:xfrm>
          <a:prstGeom prst="roundRect">
            <a:avLst>
              <a:gd name="adj" fmla="val 3279"/>
            </a:avLst>
          </a:prstGeom>
          <a:solidFill>
            <a:srgbClr val="EAF2EE"/>
          </a:solidFill>
          <a:ln w="12700">
            <a:solidFill>
              <a:srgbClr val="EAF2EE"/>
            </a:solidFill>
            <a:prstDash val="solid"/>
          </a:ln>
        </p:spPr>
      </p:sp>
      <p:sp>
        <p:nvSpPr>
          <p:cNvPr id="10" name="Shape 7"/>
          <p:cNvSpPr/>
          <p:nvPr/>
        </p:nvSpPr>
        <p:spPr>
          <a:xfrm>
            <a:off x="804672" y="2624328"/>
            <a:ext cx="2039112" cy="320040"/>
          </a:xfrm>
          <a:prstGeom prst="roundRect">
            <a:avLst>
              <a:gd name="adj" fmla="val 34286"/>
            </a:avLst>
          </a:prstGeom>
          <a:solidFill>
            <a:srgbClr val="EAF2EE"/>
          </a:solidFill>
          <a:ln w="12700">
            <a:solidFill>
              <a:srgbClr val="EAF2EE"/>
            </a:solidFill>
            <a:prstDash val="solid"/>
          </a:ln>
        </p:spPr>
      </p:sp>
      <p:sp>
        <p:nvSpPr>
          <p:cNvPr id="11" name="Text 8"/>
          <p:cNvSpPr/>
          <p:nvPr/>
        </p:nvSpPr>
        <p:spPr>
          <a:xfrm>
            <a:off x="923544" y="2690165"/>
            <a:ext cx="1801368" cy="182880"/>
          </a:xfrm>
          <a:prstGeom prst="rect">
            <a:avLst/>
          </a:prstGeom>
          <a:noFill/>
          <a:ln/>
        </p:spPr>
        <p:txBody>
          <a:bodyPr wrap="square" lIns="0" tIns="0" rIns="0" bIns="0" rtlCol="0" anchor="t">
            <a:spAutoFit/>
          </a:bodyPr>
          <a:lstStyle/>
          <a:p>
            <a:pPr indent="0" marL="0">
              <a:buNone/>
            </a:pPr>
            <a:r>
              <a:rPr lang="en-US" sz="1050" b="1" dirty="0">
                <a:solidFill>
                  <a:srgbClr val="004831"/>
                </a:solidFill>
                <a:latin typeface="Arial" pitchFamily="34" charset="0"/>
                <a:ea typeface="Arial" pitchFamily="34" charset="-122"/>
                <a:cs typeface="Arial" pitchFamily="34" charset="-120"/>
              </a:rPr>
              <a:t>Demonstrated today</a:t>
            </a:r>
            <a:endParaRPr lang="en-US" sz="1050" dirty="0"/>
          </a:p>
        </p:txBody>
      </p:sp>
      <p:sp>
        <p:nvSpPr>
          <p:cNvPr id="12" name="Shape 9"/>
          <p:cNvSpPr/>
          <p:nvPr/>
        </p:nvSpPr>
        <p:spPr>
          <a:xfrm>
            <a:off x="6519672" y="2624328"/>
            <a:ext cx="2112264" cy="320040"/>
          </a:xfrm>
          <a:prstGeom prst="roundRect">
            <a:avLst>
              <a:gd name="adj" fmla="val 34286"/>
            </a:avLst>
          </a:prstGeom>
          <a:solidFill>
            <a:srgbClr val="004831"/>
          </a:solidFill>
          <a:ln w="12700">
            <a:solidFill>
              <a:srgbClr val="004831"/>
            </a:solidFill>
            <a:prstDash val="solid"/>
          </a:ln>
        </p:spPr>
      </p:sp>
      <p:sp>
        <p:nvSpPr>
          <p:cNvPr id="13" name="Text 10"/>
          <p:cNvSpPr/>
          <p:nvPr/>
        </p:nvSpPr>
        <p:spPr>
          <a:xfrm>
            <a:off x="6638544" y="2690165"/>
            <a:ext cx="1874520" cy="182880"/>
          </a:xfrm>
          <a:prstGeom prst="rect">
            <a:avLst/>
          </a:prstGeom>
          <a:noFill/>
          <a:ln/>
        </p:spPr>
        <p:txBody>
          <a:bodyPr wrap="square" lIns="0" tIns="0" rIns="0" bIns="0" rtlCol="0" anchor="t">
            <a:spAutoFit/>
          </a:bodyPr>
          <a:lstStyle/>
          <a:p>
            <a:pPr indent="0" marL="0">
              <a:buNone/>
            </a:pPr>
            <a:r>
              <a:rPr lang="en-US" sz="1050" b="1" dirty="0">
                <a:solidFill>
                  <a:srgbClr val="FFFFFF"/>
                </a:solidFill>
                <a:latin typeface="Arial" pitchFamily="34" charset="0"/>
                <a:ea typeface="Arial" pitchFamily="34" charset="-122"/>
                <a:cs typeface="Arial" pitchFamily="34" charset="-120"/>
              </a:rPr>
              <a:t>Prepare for the pilot</a:t>
            </a:r>
            <a:endParaRPr lang="en-US" sz="1050" dirty="0"/>
          </a:p>
        </p:txBody>
      </p:sp>
      <p:sp>
        <p:nvSpPr>
          <p:cNvPr id="14" name="Shape 11"/>
          <p:cNvSpPr/>
          <p:nvPr/>
        </p:nvSpPr>
        <p:spPr>
          <a:xfrm>
            <a:off x="841248" y="3227832"/>
            <a:ext cx="274320" cy="274320"/>
          </a:xfrm>
          <a:prstGeom prst="ellipse">
            <a:avLst/>
          </a:prstGeom>
          <a:solidFill>
            <a:srgbClr val="EAF2EE"/>
          </a:solidFill>
          <a:ln w="12700">
            <a:solidFill>
              <a:srgbClr val="EAF2EE"/>
            </a:solidFill>
            <a:prstDash val="solid"/>
          </a:ln>
        </p:spPr>
      </p:sp>
      <p:sp>
        <p:nvSpPr>
          <p:cNvPr id="15" name="Shape 12"/>
          <p:cNvSpPr/>
          <p:nvPr/>
        </p:nvSpPr>
        <p:spPr>
          <a:xfrm>
            <a:off x="915314" y="3367735"/>
            <a:ext cx="43891" cy="41148"/>
          </a:xfrm>
          <a:prstGeom prst="line">
            <a:avLst/>
          </a:prstGeom>
          <a:noFill/>
          <a:ln w="27940">
            <a:solidFill>
              <a:srgbClr val="004831"/>
            </a:solidFill>
            <a:prstDash val="solid"/>
            <a:headEnd type="none"/>
            <a:tailEnd type="none"/>
          </a:ln>
        </p:spPr>
      </p:sp>
      <p:sp>
        <p:nvSpPr>
          <p:cNvPr id="16" name="Shape 13"/>
          <p:cNvSpPr/>
          <p:nvPr/>
        </p:nvSpPr>
        <p:spPr>
          <a:xfrm>
            <a:off x="959206" y="3408883"/>
            <a:ext cx="85039" cy="-90526"/>
          </a:xfrm>
          <a:prstGeom prst="line">
            <a:avLst/>
          </a:prstGeom>
          <a:noFill/>
          <a:ln w="27940">
            <a:solidFill>
              <a:srgbClr val="004831"/>
            </a:solidFill>
            <a:prstDash val="solid"/>
            <a:headEnd type="none"/>
            <a:tailEnd type="none"/>
          </a:ln>
        </p:spPr>
      </p:sp>
      <p:sp>
        <p:nvSpPr>
          <p:cNvPr id="17" name="Text 14"/>
          <p:cNvSpPr/>
          <p:nvPr/>
        </p:nvSpPr>
        <p:spPr>
          <a:xfrm>
            <a:off x="1261872" y="3236976"/>
            <a:ext cx="4379976" cy="320040"/>
          </a:xfrm>
          <a:prstGeom prst="rect">
            <a:avLst/>
          </a:prstGeom>
          <a:noFill/>
          <a:ln/>
        </p:spPr>
        <p:txBody>
          <a:bodyPr wrap="square" lIns="0" tIns="0" rIns="0" bIns="0" rtlCol="0" anchor="t">
            <a:spAutoFit/>
          </a:bodyPr>
          <a:lstStyle/>
          <a:p>
            <a:pPr indent="0" marL="0">
              <a:buNone/>
            </a:pPr>
            <a:r>
              <a:rPr lang="en-US" sz="1600" dirty="0">
                <a:solidFill>
                  <a:srgbClr val="1F2522"/>
                </a:solidFill>
                <a:latin typeface="Arial" pitchFamily="34" charset="0"/>
                <a:ea typeface="Arial" pitchFamily="34" charset="-122"/>
                <a:cs typeface="Arial" pitchFamily="34" charset="-120"/>
              </a:rPr>
              <a:t>Team and personal message queues</a:t>
            </a:r>
            <a:endParaRPr lang="en-US" sz="1600" dirty="0"/>
          </a:p>
        </p:txBody>
      </p:sp>
      <p:sp>
        <p:nvSpPr>
          <p:cNvPr id="18" name="Shape 15"/>
          <p:cNvSpPr/>
          <p:nvPr/>
        </p:nvSpPr>
        <p:spPr>
          <a:xfrm>
            <a:off x="841248" y="3730752"/>
            <a:ext cx="274320" cy="274320"/>
          </a:xfrm>
          <a:prstGeom prst="ellipse">
            <a:avLst/>
          </a:prstGeom>
          <a:solidFill>
            <a:srgbClr val="EAF2EE"/>
          </a:solidFill>
          <a:ln w="12700">
            <a:solidFill>
              <a:srgbClr val="EAF2EE"/>
            </a:solidFill>
            <a:prstDash val="solid"/>
          </a:ln>
        </p:spPr>
      </p:sp>
      <p:sp>
        <p:nvSpPr>
          <p:cNvPr id="19" name="Shape 16"/>
          <p:cNvSpPr/>
          <p:nvPr/>
        </p:nvSpPr>
        <p:spPr>
          <a:xfrm>
            <a:off x="915314" y="3870655"/>
            <a:ext cx="43891" cy="41148"/>
          </a:xfrm>
          <a:prstGeom prst="line">
            <a:avLst/>
          </a:prstGeom>
          <a:noFill/>
          <a:ln w="27940">
            <a:solidFill>
              <a:srgbClr val="004831"/>
            </a:solidFill>
            <a:prstDash val="solid"/>
            <a:headEnd type="none"/>
            <a:tailEnd type="none"/>
          </a:ln>
        </p:spPr>
      </p:sp>
      <p:sp>
        <p:nvSpPr>
          <p:cNvPr id="20" name="Shape 17"/>
          <p:cNvSpPr/>
          <p:nvPr/>
        </p:nvSpPr>
        <p:spPr>
          <a:xfrm>
            <a:off x="959206" y="3911803"/>
            <a:ext cx="85039" cy="-90526"/>
          </a:xfrm>
          <a:prstGeom prst="line">
            <a:avLst/>
          </a:prstGeom>
          <a:noFill/>
          <a:ln w="27940">
            <a:solidFill>
              <a:srgbClr val="004831"/>
            </a:solidFill>
            <a:prstDash val="solid"/>
            <a:headEnd type="none"/>
            <a:tailEnd type="none"/>
          </a:ln>
        </p:spPr>
      </p:sp>
      <p:sp>
        <p:nvSpPr>
          <p:cNvPr id="21" name="Text 18"/>
          <p:cNvSpPr/>
          <p:nvPr/>
        </p:nvSpPr>
        <p:spPr>
          <a:xfrm>
            <a:off x="1261872" y="3739896"/>
            <a:ext cx="4379976" cy="320040"/>
          </a:xfrm>
          <a:prstGeom prst="rect">
            <a:avLst/>
          </a:prstGeom>
          <a:noFill/>
          <a:ln/>
        </p:spPr>
        <p:txBody>
          <a:bodyPr wrap="square" lIns="0" tIns="0" rIns="0" bIns="0" rtlCol="0" anchor="t">
            <a:spAutoFit/>
          </a:bodyPr>
          <a:lstStyle/>
          <a:p>
            <a:pPr indent="0" marL="0">
              <a:buNone/>
            </a:pPr>
            <a:r>
              <a:rPr lang="en-US" sz="1600" dirty="0">
                <a:solidFill>
                  <a:srgbClr val="1F2522"/>
                </a:solidFill>
                <a:latin typeface="Arial" pitchFamily="34" charset="0"/>
                <a:ea typeface="Arial" pitchFamily="34" charset="-122"/>
                <a:cs typeface="Arial" pitchFamily="34" charset="-120"/>
              </a:rPr>
              <a:t>Manual assignment and review decisions</a:t>
            </a:r>
            <a:endParaRPr lang="en-US" sz="1600" dirty="0"/>
          </a:p>
        </p:txBody>
      </p:sp>
      <p:sp>
        <p:nvSpPr>
          <p:cNvPr id="22" name="Shape 19"/>
          <p:cNvSpPr/>
          <p:nvPr/>
        </p:nvSpPr>
        <p:spPr>
          <a:xfrm>
            <a:off x="841248" y="4233672"/>
            <a:ext cx="274320" cy="274320"/>
          </a:xfrm>
          <a:prstGeom prst="ellipse">
            <a:avLst/>
          </a:prstGeom>
          <a:solidFill>
            <a:srgbClr val="EAF2EE"/>
          </a:solidFill>
          <a:ln w="12700">
            <a:solidFill>
              <a:srgbClr val="EAF2EE"/>
            </a:solidFill>
            <a:prstDash val="solid"/>
          </a:ln>
        </p:spPr>
      </p:sp>
      <p:sp>
        <p:nvSpPr>
          <p:cNvPr id="23" name="Shape 20"/>
          <p:cNvSpPr/>
          <p:nvPr/>
        </p:nvSpPr>
        <p:spPr>
          <a:xfrm>
            <a:off x="915314" y="4373575"/>
            <a:ext cx="43891" cy="41148"/>
          </a:xfrm>
          <a:prstGeom prst="line">
            <a:avLst/>
          </a:prstGeom>
          <a:noFill/>
          <a:ln w="27940">
            <a:solidFill>
              <a:srgbClr val="004831"/>
            </a:solidFill>
            <a:prstDash val="solid"/>
            <a:headEnd type="none"/>
            <a:tailEnd type="none"/>
          </a:ln>
        </p:spPr>
      </p:sp>
      <p:sp>
        <p:nvSpPr>
          <p:cNvPr id="24" name="Shape 21"/>
          <p:cNvSpPr/>
          <p:nvPr/>
        </p:nvSpPr>
        <p:spPr>
          <a:xfrm>
            <a:off x="959206" y="4414723"/>
            <a:ext cx="85039" cy="-90526"/>
          </a:xfrm>
          <a:prstGeom prst="line">
            <a:avLst/>
          </a:prstGeom>
          <a:noFill/>
          <a:ln w="27940">
            <a:solidFill>
              <a:srgbClr val="004831"/>
            </a:solidFill>
            <a:prstDash val="solid"/>
            <a:headEnd type="none"/>
            <a:tailEnd type="none"/>
          </a:ln>
        </p:spPr>
      </p:sp>
      <p:sp>
        <p:nvSpPr>
          <p:cNvPr id="25" name="Text 22"/>
          <p:cNvSpPr/>
          <p:nvPr/>
        </p:nvSpPr>
        <p:spPr>
          <a:xfrm>
            <a:off x="1261872" y="4242816"/>
            <a:ext cx="4379976" cy="320040"/>
          </a:xfrm>
          <a:prstGeom prst="rect">
            <a:avLst/>
          </a:prstGeom>
          <a:noFill/>
          <a:ln/>
        </p:spPr>
        <p:txBody>
          <a:bodyPr wrap="square" lIns="0" tIns="0" rIns="0" bIns="0" rtlCol="0" anchor="t">
            <a:spAutoFit/>
          </a:bodyPr>
          <a:lstStyle/>
          <a:p>
            <a:pPr indent="0" marL="0">
              <a:buNone/>
            </a:pPr>
            <a:r>
              <a:rPr lang="en-US" sz="1600" dirty="0">
                <a:solidFill>
                  <a:srgbClr val="1F2522"/>
                </a:solidFill>
                <a:latin typeface="Arial" pitchFamily="34" charset="0"/>
                <a:ea typeface="Arial" pitchFamily="34" charset="-122"/>
                <a:cs typeface="Arial" pitchFamily="34" charset="-120"/>
              </a:rPr>
              <a:t>One to three review levels</a:t>
            </a:r>
            <a:endParaRPr lang="en-US" sz="1600" dirty="0"/>
          </a:p>
        </p:txBody>
      </p:sp>
      <p:sp>
        <p:nvSpPr>
          <p:cNvPr id="26" name="Shape 23"/>
          <p:cNvSpPr/>
          <p:nvPr/>
        </p:nvSpPr>
        <p:spPr>
          <a:xfrm>
            <a:off x="841248" y="4736592"/>
            <a:ext cx="274320" cy="274320"/>
          </a:xfrm>
          <a:prstGeom prst="ellipse">
            <a:avLst/>
          </a:prstGeom>
          <a:solidFill>
            <a:srgbClr val="EAF2EE"/>
          </a:solidFill>
          <a:ln w="12700">
            <a:solidFill>
              <a:srgbClr val="EAF2EE"/>
            </a:solidFill>
            <a:prstDash val="solid"/>
          </a:ln>
        </p:spPr>
      </p:sp>
      <p:sp>
        <p:nvSpPr>
          <p:cNvPr id="27" name="Shape 24"/>
          <p:cNvSpPr/>
          <p:nvPr/>
        </p:nvSpPr>
        <p:spPr>
          <a:xfrm>
            <a:off x="915314" y="4876495"/>
            <a:ext cx="43891" cy="41148"/>
          </a:xfrm>
          <a:prstGeom prst="line">
            <a:avLst/>
          </a:prstGeom>
          <a:noFill/>
          <a:ln w="27940">
            <a:solidFill>
              <a:srgbClr val="004831"/>
            </a:solidFill>
            <a:prstDash val="solid"/>
            <a:headEnd type="none"/>
            <a:tailEnd type="none"/>
          </a:ln>
        </p:spPr>
      </p:sp>
      <p:sp>
        <p:nvSpPr>
          <p:cNvPr id="28" name="Shape 25"/>
          <p:cNvSpPr/>
          <p:nvPr/>
        </p:nvSpPr>
        <p:spPr>
          <a:xfrm>
            <a:off x="959206" y="4917643"/>
            <a:ext cx="85039" cy="-90526"/>
          </a:xfrm>
          <a:prstGeom prst="line">
            <a:avLst/>
          </a:prstGeom>
          <a:noFill/>
          <a:ln w="27940">
            <a:solidFill>
              <a:srgbClr val="004831"/>
            </a:solidFill>
            <a:prstDash val="solid"/>
            <a:headEnd type="none"/>
            <a:tailEnd type="none"/>
          </a:ln>
        </p:spPr>
      </p:sp>
      <p:sp>
        <p:nvSpPr>
          <p:cNvPr id="29" name="Text 26"/>
          <p:cNvSpPr/>
          <p:nvPr/>
        </p:nvSpPr>
        <p:spPr>
          <a:xfrm>
            <a:off x="1261872" y="4745736"/>
            <a:ext cx="4379976" cy="320040"/>
          </a:xfrm>
          <a:prstGeom prst="rect">
            <a:avLst/>
          </a:prstGeom>
          <a:noFill/>
          <a:ln/>
        </p:spPr>
        <p:txBody>
          <a:bodyPr wrap="square" lIns="0" tIns="0" rIns="0" bIns="0" rtlCol="0" anchor="t">
            <a:spAutoFit/>
          </a:bodyPr>
          <a:lstStyle/>
          <a:p>
            <a:pPr indent="0" marL="0">
              <a:buNone/>
            </a:pPr>
            <a:r>
              <a:rPr lang="en-US" sz="1600" dirty="0">
                <a:solidFill>
                  <a:srgbClr val="1F2522"/>
                </a:solidFill>
                <a:latin typeface="Arial" pitchFamily="34" charset="0"/>
                <a:ea typeface="Arial" pitchFamily="34" charset="-122"/>
                <a:cs typeface="Arial" pitchFamily="34" charset="-120"/>
              </a:rPr>
              <a:t>Access rules and message audit history</a:t>
            </a:r>
            <a:endParaRPr lang="en-US" sz="1600" dirty="0"/>
          </a:p>
        </p:txBody>
      </p:sp>
      <p:sp>
        <p:nvSpPr>
          <p:cNvPr id="30" name="Shape 27"/>
          <p:cNvSpPr/>
          <p:nvPr/>
        </p:nvSpPr>
        <p:spPr>
          <a:xfrm>
            <a:off x="6528816" y="3227832"/>
            <a:ext cx="274320" cy="274320"/>
          </a:xfrm>
          <a:prstGeom prst="ellipse">
            <a:avLst/>
          </a:prstGeom>
          <a:solidFill>
            <a:srgbClr val="004831"/>
          </a:solidFill>
          <a:ln w="12700">
            <a:solidFill>
              <a:srgbClr val="004831"/>
            </a:solidFill>
            <a:prstDash val="solid"/>
          </a:ln>
        </p:spPr>
      </p:sp>
      <p:sp>
        <p:nvSpPr>
          <p:cNvPr id="31" name="Text 28"/>
          <p:cNvSpPr/>
          <p:nvPr/>
        </p:nvSpPr>
        <p:spPr>
          <a:xfrm>
            <a:off x="6528816" y="3282696"/>
            <a:ext cx="274320" cy="164592"/>
          </a:xfrm>
          <a:prstGeom prst="rect">
            <a:avLst/>
          </a:prstGeom>
          <a:noFill/>
          <a:ln/>
        </p:spPr>
        <p:txBody>
          <a:bodyPr wrap="square" lIns="0" tIns="0" rIns="0" bIns="0" rtlCol="0" anchor="t">
            <a:sp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32" name="Text 29"/>
          <p:cNvSpPr/>
          <p:nvPr/>
        </p:nvSpPr>
        <p:spPr>
          <a:xfrm>
            <a:off x="6967728" y="3236976"/>
            <a:ext cx="4361688" cy="347472"/>
          </a:xfrm>
          <a:prstGeom prst="rect">
            <a:avLst/>
          </a:prstGeom>
          <a:noFill/>
          <a:ln/>
        </p:spPr>
        <p:txBody>
          <a:bodyPr wrap="square" lIns="0" tIns="0" rIns="0" bIns="0" rtlCol="0" anchor="t">
            <a:spAutoFit/>
          </a:bodyPr>
          <a:lstStyle/>
          <a:p>
            <a:pPr indent="0" marL="0">
              <a:buNone/>
            </a:pPr>
            <a:r>
              <a:rPr lang="en-US" sz="1530" dirty="0">
                <a:solidFill>
                  <a:srgbClr val="1F2522"/>
                </a:solidFill>
                <a:latin typeface="Arial" pitchFamily="34" charset="0"/>
                <a:ea typeface="Arial" pitchFamily="34" charset="-122"/>
                <a:cs typeface="Arial" pitchFamily="34" charset="-120"/>
              </a:rPr>
              <a:t>Corporate sign-in and approved source access</a:t>
            </a:r>
            <a:endParaRPr lang="en-US" sz="1530" dirty="0"/>
          </a:p>
        </p:txBody>
      </p:sp>
      <p:sp>
        <p:nvSpPr>
          <p:cNvPr id="33" name="Shape 30"/>
          <p:cNvSpPr/>
          <p:nvPr/>
        </p:nvSpPr>
        <p:spPr>
          <a:xfrm>
            <a:off x="6528816" y="3730752"/>
            <a:ext cx="274320" cy="274320"/>
          </a:xfrm>
          <a:prstGeom prst="ellipse">
            <a:avLst/>
          </a:prstGeom>
          <a:solidFill>
            <a:srgbClr val="004831"/>
          </a:solidFill>
          <a:ln w="12700">
            <a:solidFill>
              <a:srgbClr val="004831"/>
            </a:solidFill>
            <a:prstDash val="solid"/>
          </a:ln>
        </p:spPr>
      </p:sp>
      <p:sp>
        <p:nvSpPr>
          <p:cNvPr id="34" name="Text 31"/>
          <p:cNvSpPr/>
          <p:nvPr/>
        </p:nvSpPr>
        <p:spPr>
          <a:xfrm>
            <a:off x="6528816" y="3785616"/>
            <a:ext cx="274320" cy="164592"/>
          </a:xfrm>
          <a:prstGeom prst="rect">
            <a:avLst/>
          </a:prstGeom>
          <a:noFill/>
          <a:ln/>
        </p:spPr>
        <p:txBody>
          <a:bodyPr wrap="square" lIns="0" tIns="0" rIns="0" bIns="0" rtlCol="0" anchor="t">
            <a:sp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35" name="Text 32"/>
          <p:cNvSpPr/>
          <p:nvPr/>
        </p:nvSpPr>
        <p:spPr>
          <a:xfrm>
            <a:off x="6967728" y="3739896"/>
            <a:ext cx="4361688" cy="347472"/>
          </a:xfrm>
          <a:prstGeom prst="rect">
            <a:avLst/>
          </a:prstGeom>
          <a:noFill/>
          <a:ln/>
        </p:spPr>
        <p:txBody>
          <a:bodyPr wrap="square" lIns="0" tIns="0" rIns="0" bIns="0" rtlCol="0" anchor="t">
            <a:spAutoFit/>
          </a:bodyPr>
          <a:lstStyle/>
          <a:p>
            <a:pPr indent="0" marL="0">
              <a:buNone/>
            </a:pPr>
            <a:r>
              <a:rPr lang="en-US" sz="1530" dirty="0">
                <a:solidFill>
                  <a:srgbClr val="1F2522"/>
                </a:solidFill>
                <a:latin typeface="Arial" pitchFamily="34" charset="0"/>
                <a:ea typeface="Arial" pitchFamily="34" charset="-122"/>
                <a:cs typeface="Arial" pitchFamily="34" charset="-120"/>
              </a:rPr>
              <a:t>Routing, permissions and review-level mapping</a:t>
            </a:r>
            <a:endParaRPr lang="en-US" sz="1530" dirty="0"/>
          </a:p>
        </p:txBody>
      </p:sp>
      <p:sp>
        <p:nvSpPr>
          <p:cNvPr id="36" name="Shape 33"/>
          <p:cNvSpPr/>
          <p:nvPr/>
        </p:nvSpPr>
        <p:spPr>
          <a:xfrm>
            <a:off x="6528816" y="4233672"/>
            <a:ext cx="274320" cy="274320"/>
          </a:xfrm>
          <a:prstGeom prst="ellipse">
            <a:avLst/>
          </a:prstGeom>
          <a:solidFill>
            <a:srgbClr val="004831"/>
          </a:solidFill>
          <a:ln w="12700">
            <a:solidFill>
              <a:srgbClr val="004831"/>
            </a:solidFill>
            <a:prstDash val="solid"/>
          </a:ln>
        </p:spPr>
      </p:sp>
      <p:sp>
        <p:nvSpPr>
          <p:cNvPr id="37" name="Text 34"/>
          <p:cNvSpPr/>
          <p:nvPr/>
        </p:nvSpPr>
        <p:spPr>
          <a:xfrm>
            <a:off x="6528816" y="4288536"/>
            <a:ext cx="274320" cy="164592"/>
          </a:xfrm>
          <a:prstGeom prst="rect">
            <a:avLst/>
          </a:prstGeom>
          <a:noFill/>
          <a:ln/>
        </p:spPr>
        <p:txBody>
          <a:bodyPr wrap="square" lIns="0" tIns="0" rIns="0" bIns="0" rtlCol="0" anchor="t">
            <a:sp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8" name="Text 35"/>
          <p:cNvSpPr/>
          <p:nvPr/>
        </p:nvSpPr>
        <p:spPr>
          <a:xfrm>
            <a:off x="6967728" y="4242816"/>
            <a:ext cx="4361688" cy="347472"/>
          </a:xfrm>
          <a:prstGeom prst="rect">
            <a:avLst/>
          </a:prstGeom>
          <a:noFill/>
          <a:ln/>
        </p:spPr>
        <p:txBody>
          <a:bodyPr wrap="square" lIns="0" tIns="0" rIns="0" bIns="0" rtlCol="0" anchor="t">
            <a:spAutoFit/>
          </a:bodyPr>
          <a:lstStyle/>
          <a:p>
            <a:pPr indent="0" marL="0">
              <a:buNone/>
            </a:pPr>
            <a:r>
              <a:rPr lang="en-US" sz="1530" dirty="0">
                <a:solidFill>
                  <a:srgbClr val="1F2522"/>
                </a:solidFill>
                <a:latin typeface="Arial" pitchFamily="34" charset="0"/>
                <a:ea typeface="Arial" pitchFamily="34" charset="-122"/>
                <a:cs typeface="Arial" pitchFamily="34" charset="-120"/>
              </a:rPr>
              <a:t>Operating support, recovery and user testing</a:t>
            </a:r>
            <a:endParaRPr lang="en-US" sz="1530" dirty="0"/>
          </a:p>
        </p:txBody>
      </p:sp>
      <p:sp>
        <p:nvSpPr>
          <p:cNvPr id="39" name="Shape 36"/>
          <p:cNvSpPr/>
          <p:nvPr/>
        </p:nvSpPr>
        <p:spPr>
          <a:xfrm>
            <a:off x="6528816" y="4736592"/>
            <a:ext cx="274320" cy="274320"/>
          </a:xfrm>
          <a:prstGeom prst="ellipse">
            <a:avLst/>
          </a:prstGeom>
          <a:solidFill>
            <a:srgbClr val="004831"/>
          </a:solidFill>
          <a:ln w="12700">
            <a:solidFill>
              <a:srgbClr val="004831"/>
            </a:solidFill>
            <a:prstDash val="solid"/>
          </a:ln>
        </p:spPr>
      </p:sp>
      <p:sp>
        <p:nvSpPr>
          <p:cNvPr id="40" name="Text 37"/>
          <p:cNvSpPr/>
          <p:nvPr/>
        </p:nvSpPr>
        <p:spPr>
          <a:xfrm>
            <a:off x="6528816" y="4791456"/>
            <a:ext cx="274320" cy="164592"/>
          </a:xfrm>
          <a:prstGeom prst="rect">
            <a:avLst/>
          </a:prstGeom>
          <a:noFill/>
          <a:ln/>
        </p:spPr>
        <p:txBody>
          <a:bodyPr wrap="square" lIns="0" tIns="0" rIns="0" bIns="0" rtlCol="0" anchor="t">
            <a:sp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41" name="Text 38"/>
          <p:cNvSpPr/>
          <p:nvPr/>
        </p:nvSpPr>
        <p:spPr>
          <a:xfrm>
            <a:off x="6967728" y="4745736"/>
            <a:ext cx="4361688" cy="347472"/>
          </a:xfrm>
          <a:prstGeom prst="rect">
            <a:avLst/>
          </a:prstGeom>
          <a:noFill/>
          <a:ln/>
        </p:spPr>
        <p:txBody>
          <a:bodyPr wrap="square" lIns="0" tIns="0" rIns="0" bIns="0" rtlCol="0" anchor="t">
            <a:spAutoFit/>
          </a:bodyPr>
          <a:lstStyle/>
          <a:p>
            <a:pPr indent="0" marL="0">
              <a:buNone/>
            </a:pPr>
            <a:r>
              <a:rPr lang="en-US" sz="1530" dirty="0">
                <a:solidFill>
                  <a:srgbClr val="1F2522"/>
                </a:solidFill>
                <a:latin typeface="Arial" pitchFamily="34" charset="0"/>
                <a:ea typeface="Arial" pitchFamily="34" charset="-122"/>
                <a:cs typeface="Arial" pitchFamily="34" charset="-120"/>
              </a:rPr>
              <a:t>Agreed handling of exceptions and waiting work</a:t>
            </a:r>
            <a:endParaRPr lang="en-US" sz="1530" dirty="0"/>
          </a:p>
        </p:txBody>
      </p:sp>
      <p:sp>
        <p:nvSpPr>
          <p:cNvPr id="42" name="Text 39"/>
          <p:cNvSpPr/>
          <p:nvPr/>
        </p:nvSpPr>
        <p:spPr>
          <a:xfrm>
            <a:off x="548640" y="5998464"/>
            <a:ext cx="11064240" cy="320040"/>
          </a:xfrm>
          <a:prstGeom prst="rect">
            <a:avLst/>
          </a:prstGeom>
          <a:noFill/>
          <a:ln/>
        </p:spPr>
        <p:txBody>
          <a:bodyPr wrap="square" lIns="0" tIns="0" rIns="0" bIns="0" rtlCol="0" anchor="t">
            <a:spAutoFit/>
          </a:bodyPr>
          <a:lstStyle/>
          <a:p>
            <a:pPr indent="0" marL="0">
              <a:buNone/>
            </a:pPr>
            <a:r>
              <a:rPr lang="en-US" sz="1100" dirty="0">
                <a:solidFill>
                  <a:srgbClr val="68716C"/>
                </a:solidFill>
                <a:latin typeface="Arial" pitchFamily="34" charset="0"/>
                <a:ea typeface="Arial" pitchFamily="34" charset="-122"/>
                <a:cs typeface="Arial" pitchFamily="34" charset="-120"/>
              </a:rPr>
              <a:t>Automatic assignment, workload balancing and SLA escalation are not part of the demonstrated scope.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6"/>
        </a:solidFill>
      </p:bgPr>
    </p:bg>
    <p:spTree>
      <p:nvGrpSpPr>
        <p:cNvPr id="1" name=""/>
        <p:cNvGrpSpPr/>
        <p:nvPr/>
      </p:nvGrpSpPr>
      <p:grpSpPr>
        <a:xfrm>
          <a:off x="0" y="0"/>
          <a:ext cx="0" cy="0"/>
          <a:chOff x="0" y="0"/>
          <a:chExt cx="0" cy="0"/>
        </a:xfrm>
      </p:grpSpPr>
      <p:sp>
        <p:nvSpPr>
          <p:cNvPr id="2" name="Text 0"/>
          <p:cNvSpPr/>
          <p:nvPr/>
        </p:nvSpPr>
        <p:spPr>
          <a:xfrm>
            <a:off x="548640" y="429768"/>
            <a:ext cx="10058400" cy="210312"/>
          </a:xfrm>
          <a:prstGeom prst="rect">
            <a:avLst/>
          </a:prstGeom>
          <a:noFill/>
          <a:ln/>
        </p:spPr>
        <p:txBody>
          <a:bodyPr wrap="square" lIns="0" tIns="0" rIns="0" bIns="0" rtlCol="0" anchor="t">
            <a:spAutoFit/>
          </a:bodyPr>
          <a:lstStyle/>
          <a:p>
            <a:pPr indent="0" marL="0">
              <a:buNone/>
            </a:pPr>
            <a:r>
              <a:rPr lang="en-US" sz="1100" b="1" dirty="0">
                <a:solidFill>
                  <a:srgbClr val="004831"/>
                </a:solidFill>
                <a:latin typeface="Arial" pitchFamily="34" charset="0"/>
                <a:ea typeface="Arial" pitchFamily="34" charset="-122"/>
                <a:cs typeface="Arial" pitchFamily="34" charset="-120"/>
              </a:rPr>
              <a:t>Proposed pilot</a:t>
            </a:r>
            <a:endParaRPr lang="en-US" sz="1100" dirty="0"/>
          </a:p>
        </p:txBody>
      </p:sp>
      <p:sp>
        <p:nvSpPr>
          <p:cNvPr id="3" name="Text 1"/>
          <p:cNvSpPr/>
          <p:nvPr/>
        </p:nvSpPr>
        <p:spPr>
          <a:xfrm>
            <a:off x="530352" y="868680"/>
            <a:ext cx="11064240" cy="621792"/>
          </a:xfrm>
          <a:prstGeom prst="rect">
            <a:avLst/>
          </a:prstGeom>
          <a:noFill/>
          <a:ln/>
        </p:spPr>
        <p:txBody>
          <a:bodyPr wrap="square" lIns="0" tIns="0" rIns="0" bIns="0" rtlCol="0" anchor="t">
            <a:spAutoFit/>
          </a:bodyPr>
          <a:lstStyle/>
          <a:p>
            <a:pPr indent="0" marL="0">
              <a:buNone/>
            </a:pPr>
            <a:r>
              <a:rPr lang="en-US" sz="3400" b="1" dirty="0">
                <a:solidFill>
                  <a:srgbClr val="1F2522"/>
                </a:solidFill>
                <a:latin typeface="Arial" pitchFamily="34" charset="0"/>
                <a:ea typeface="Arial" pitchFamily="34" charset="-122"/>
                <a:cs typeface="Arial" pitchFamily="34" charset="-120"/>
              </a:rPr>
              <a:t>Use a focused pilot to measure the difference</a:t>
            </a:r>
            <a:endParaRPr lang="en-US" sz="3400" dirty="0"/>
          </a:p>
        </p:txBody>
      </p:sp>
      <p:sp>
        <p:nvSpPr>
          <p:cNvPr id="4" name="Text 2"/>
          <p:cNvSpPr/>
          <p:nvPr/>
        </p:nvSpPr>
        <p:spPr>
          <a:xfrm>
            <a:off x="548640" y="1572768"/>
            <a:ext cx="10927080" cy="502920"/>
          </a:xfrm>
          <a:prstGeom prst="rect">
            <a:avLst/>
          </a:prstGeom>
          <a:noFill/>
          <a:ln/>
        </p:spPr>
        <p:txBody>
          <a:bodyPr wrap="square" lIns="0" tIns="0" rIns="0" bIns="0" rtlCol="0" anchor="t">
            <a:spAutoFit/>
          </a:bodyPr>
          <a:lstStyle/>
          <a:p>
            <a:pPr indent="0" marL="0">
              <a:buNone/>
            </a:pPr>
            <a:r>
              <a:rPr lang="en-US" sz="1600" dirty="0">
                <a:solidFill>
                  <a:srgbClr val="68716C"/>
                </a:solidFill>
                <a:latin typeface="Arial" pitchFamily="34" charset="0"/>
                <a:ea typeface="Arial" pitchFamily="34" charset="-122"/>
                <a:cs typeface="Arial" pitchFamily="34" charset="-120"/>
              </a:rPr>
              <a:t>Start with an agreed team and message scope, then compare the experience and operating results.</a:t>
            </a:r>
            <a:endParaRPr lang="en-US" sz="1600" dirty="0"/>
          </a:p>
        </p:txBody>
      </p:sp>
      <p:sp>
        <p:nvSpPr>
          <p:cNvPr id="5" name="Text 3"/>
          <p:cNvSpPr/>
          <p:nvPr/>
        </p:nvSpPr>
        <p:spPr>
          <a:xfrm>
            <a:off x="530352" y="6455664"/>
            <a:ext cx="7315200" cy="164592"/>
          </a:xfrm>
          <a:prstGeom prst="rect">
            <a:avLst/>
          </a:prstGeom>
          <a:noFill/>
          <a:ln/>
        </p:spPr>
        <p:txBody>
          <a:bodyPr wrap="square" lIns="0" tIns="0" rIns="0" bIns="0" rtlCol="0" anchor="t">
            <a:spAutoFit/>
          </a:bodyPr>
          <a:lstStyle/>
          <a:p>
            <a:pPr indent="0" marL="0">
              <a:buNone/>
            </a:pPr>
            <a:r>
              <a:rPr lang="en-US" sz="900" dirty="0">
                <a:solidFill>
                  <a:srgbClr val="68716C"/>
                </a:solidFill>
                <a:latin typeface="Arial" pitchFamily="34" charset="0"/>
                <a:ea typeface="Arial" pitchFamily="34" charset="-122"/>
                <a:cs typeface="Arial" pitchFamily="34" charset="-120"/>
              </a:rPr>
              <a:t>ORP  /  Operations Reporting and Processing</a:t>
            </a:r>
            <a:endParaRPr lang="en-US" sz="900" dirty="0"/>
          </a:p>
        </p:txBody>
      </p:sp>
      <p:sp>
        <p:nvSpPr>
          <p:cNvPr id="6" name="Text 4"/>
          <p:cNvSpPr/>
          <p:nvPr/>
        </p:nvSpPr>
        <p:spPr>
          <a:xfrm>
            <a:off x="11064240" y="6419088"/>
            <a:ext cx="566928" cy="228600"/>
          </a:xfrm>
          <a:prstGeom prst="rect">
            <a:avLst/>
          </a:prstGeom>
          <a:noFill/>
          <a:ln/>
        </p:spPr>
        <p:txBody>
          <a:bodyPr wrap="square" lIns="0" tIns="0" rIns="0" bIns="0" rtlCol="0" anchor="t">
            <a:spAutoFit/>
          </a:bodyPr>
          <a:lstStyle/>
          <a:p>
            <a:pPr algn="r" indent="0" marL="0">
              <a:buNone/>
            </a:pPr>
            <a:r>
              <a:rPr lang="en-US" sz="1100" dirty="0">
                <a:solidFill>
                  <a:srgbClr val="68716C"/>
                </a:solidFill>
                <a:latin typeface="Arial" pitchFamily="34" charset="0"/>
                <a:ea typeface="Arial" pitchFamily="34" charset="-122"/>
                <a:cs typeface="Arial" pitchFamily="34" charset="-120"/>
              </a:rPr>
              <a:t>11</a:t>
            </a:r>
            <a:endParaRPr lang="en-US" sz="1100" dirty="0"/>
          </a:p>
        </p:txBody>
      </p:sp>
      <p:sp>
        <p:nvSpPr>
          <p:cNvPr id="8" name="Shape 5"/>
          <p:cNvSpPr/>
          <p:nvPr/>
        </p:nvSpPr>
        <p:spPr>
          <a:xfrm>
            <a:off x="594360" y="2450592"/>
            <a:ext cx="502920" cy="502920"/>
          </a:xfrm>
          <a:prstGeom prst="ellipse">
            <a:avLst/>
          </a:prstGeom>
          <a:solidFill>
            <a:srgbClr val="004831"/>
          </a:solidFill>
          <a:ln w="12700">
            <a:solidFill>
              <a:srgbClr val="004831"/>
            </a:solidFill>
            <a:prstDash val="solid"/>
          </a:ln>
        </p:spPr>
      </p:sp>
      <p:sp>
        <p:nvSpPr>
          <p:cNvPr id="9" name="Text 6"/>
          <p:cNvSpPr/>
          <p:nvPr/>
        </p:nvSpPr>
        <p:spPr>
          <a:xfrm>
            <a:off x="594360" y="2551176"/>
            <a:ext cx="502920" cy="274320"/>
          </a:xfrm>
          <a:prstGeom prst="rect">
            <a:avLst/>
          </a:prstGeom>
          <a:noFill/>
          <a:ln/>
        </p:spPr>
        <p:txBody>
          <a:bodyPr wrap="square" lIns="0" tIns="0" rIns="0" bIns="0" rtlCol="0" anchor="t">
            <a:sp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0" name="Text 7"/>
          <p:cNvSpPr/>
          <p:nvPr/>
        </p:nvSpPr>
        <p:spPr>
          <a:xfrm>
            <a:off x="1280160" y="2542032"/>
            <a:ext cx="1920240" cy="365760"/>
          </a:xfrm>
          <a:prstGeom prst="rect">
            <a:avLst/>
          </a:prstGeom>
          <a:noFill/>
          <a:ln/>
        </p:spPr>
        <p:txBody>
          <a:bodyPr wrap="square" lIns="0" tIns="0" rIns="0" bIns="0" rtlCol="0" anchor="t">
            <a:spAutoFit/>
          </a:bodyPr>
          <a:lstStyle/>
          <a:p>
            <a:pPr indent="0" marL="0">
              <a:buNone/>
            </a:pPr>
            <a:r>
              <a:rPr lang="en-US" sz="1800" b="1" dirty="0">
                <a:solidFill>
                  <a:srgbClr val="004831"/>
                </a:solidFill>
                <a:latin typeface="Arial" pitchFamily="34" charset="0"/>
                <a:ea typeface="Arial" pitchFamily="34" charset="-122"/>
                <a:cs typeface="Arial" pitchFamily="34" charset="-120"/>
              </a:rPr>
              <a:t>Agree scope</a:t>
            </a:r>
            <a:endParaRPr lang="en-US" sz="1800" dirty="0"/>
          </a:p>
        </p:txBody>
      </p:sp>
      <p:sp>
        <p:nvSpPr>
          <p:cNvPr id="11" name="Shape 8"/>
          <p:cNvSpPr/>
          <p:nvPr/>
        </p:nvSpPr>
        <p:spPr>
          <a:xfrm>
            <a:off x="3017520" y="2715768"/>
            <a:ext cx="310896" cy="0"/>
          </a:xfrm>
          <a:prstGeom prst="line">
            <a:avLst/>
          </a:prstGeom>
          <a:noFill/>
          <a:ln w="20320">
            <a:solidFill>
              <a:srgbClr val="D8DDD9"/>
            </a:solidFill>
            <a:prstDash val="solid"/>
            <a:headEnd type="none"/>
            <a:tailEnd type="triangle"/>
          </a:ln>
        </p:spPr>
      </p:sp>
      <p:sp>
        <p:nvSpPr>
          <p:cNvPr id="12" name="Shape 9"/>
          <p:cNvSpPr/>
          <p:nvPr/>
        </p:nvSpPr>
        <p:spPr>
          <a:xfrm>
            <a:off x="3447288" y="2450592"/>
            <a:ext cx="502920" cy="502920"/>
          </a:xfrm>
          <a:prstGeom prst="ellipse">
            <a:avLst/>
          </a:prstGeom>
          <a:solidFill>
            <a:srgbClr val="004831"/>
          </a:solidFill>
          <a:ln w="12700">
            <a:solidFill>
              <a:srgbClr val="004831"/>
            </a:solidFill>
            <a:prstDash val="solid"/>
          </a:ln>
        </p:spPr>
      </p:sp>
      <p:sp>
        <p:nvSpPr>
          <p:cNvPr id="13" name="Text 10"/>
          <p:cNvSpPr/>
          <p:nvPr/>
        </p:nvSpPr>
        <p:spPr>
          <a:xfrm>
            <a:off x="3447288" y="2551176"/>
            <a:ext cx="502920" cy="274320"/>
          </a:xfrm>
          <a:prstGeom prst="rect">
            <a:avLst/>
          </a:prstGeom>
          <a:noFill/>
          <a:ln/>
        </p:spPr>
        <p:txBody>
          <a:bodyPr wrap="square" lIns="0" tIns="0" rIns="0" bIns="0" rtlCol="0" anchor="t">
            <a:sp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1"/>
          <p:cNvSpPr/>
          <p:nvPr/>
        </p:nvSpPr>
        <p:spPr>
          <a:xfrm>
            <a:off x="4133088" y="2542032"/>
            <a:ext cx="1920240" cy="365760"/>
          </a:xfrm>
          <a:prstGeom prst="rect">
            <a:avLst/>
          </a:prstGeom>
          <a:noFill/>
          <a:ln/>
        </p:spPr>
        <p:txBody>
          <a:bodyPr wrap="square" lIns="0" tIns="0" rIns="0" bIns="0" rtlCol="0" anchor="t">
            <a:spAutoFit/>
          </a:bodyPr>
          <a:lstStyle/>
          <a:p>
            <a:pPr indent="0" marL="0">
              <a:buNone/>
            </a:pPr>
            <a:r>
              <a:rPr lang="en-US" sz="1800" b="1" dirty="0">
                <a:solidFill>
                  <a:srgbClr val="004831"/>
                </a:solidFill>
                <a:latin typeface="Arial" pitchFamily="34" charset="0"/>
                <a:ea typeface="Arial" pitchFamily="34" charset="-122"/>
                <a:cs typeface="Arial" pitchFamily="34" charset="-120"/>
              </a:rPr>
              <a:t>Configure</a:t>
            </a:r>
            <a:endParaRPr lang="en-US" sz="1800" dirty="0"/>
          </a:p>
        </p:txBody>
      </p:sp>
      <p:sp>
        <p:nvSpPr>
          <p:cNvPr id="15" name="Shape 12"/>
          <p:cNvSpPr/>
          <p:nvPr/>
        </p:nvSpPr>
        <p:spPr>
          <a:xfrm>
            <a:off x="5870448" y="2715768"/>
            <a:ext cx="310896" cy="0"/>
          </a:xfrm>
          <a:prstGeom prst="line">
            <a:avLst/>
          </a:prstGeom>
          <a:noFill/>
          <a:ln w="20320">
            <a:solidFill>
              <a:srgbClr val="D8DDD9"/>
            </a:solidFill>
            <a:prstDash val="solid"/>
            <a:headEnd type="none"/>
            <a:tailEnd type="triangle"/>
          </a:ln>
        </p:spPr>
      </p:sp>
      <p:sp>
        <p:nvSpPr>
          <p:cNvPr id="16" name="Shape 13"/>
          <p:cNvSpPr/>
          <p:nvPr/>
        </p:nvSpPr>
        <p:spPr>
          <a:xfrm>
            <a:off x="6300216" y="2450592"/>
            <a:ext cx="502920" cy="502920"/>
          </a:xfrm>
          <a:prstGeom prst="ellipse">
            <a:avLst/>
          </a:prstGeom>
          <a:solidFill>
            <a:srgbClr val="004831"/>
          </a:solidFill>
          <a:ln w="12700">
            <a:solidFill>
              <a:srgbClr val="004831"/>
            </a:solidFill>
            <a:prstDash val="solid"/>
          </a:ln>
        </p:spPr>
      </p:sp>
      <p:sp>
        <p:nvSpPr>
          <p:cNvPr id="17" name="Text 14"/>
          <p:cNvSpPr/>
          <p:nvPr/>
        </p:nvSpPr>
        <p:spPr>
          <a:xfrm>
            <a:off x="6300216" y="2551176"/>
            <a:ext cx="502920" cy="274320"/>
          </a:xfrm>
          <a:prstGeom prst="rect">
            <a:avLst/>
          </a:prstGeom>
          <a:noFill/>
          <a:ln/>
        </p:spPr>
        <p:txBody>
          <a:bodyPr wrap="square" lIns="0" tIns="0" rIns="0" bIns="0" rtlCol="0" anchor="t">
            <a:sp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8" name="Text 15"/>
          <p:cNvSpPr/>
          <p:nvPr/>
        </p:nvSpPr>
        <p:spPr>
          <a:xfrm>
            <a:off x="6986016" y="2542032"/>
            <a:ext cx="1920240" cy="365760"/>
          </a:xfrm>
          <a:prstGeom prst="rect">
            <a:avLst/>
          </a:prstGeom>
          <a:noFill/>
          <a:ln/>
        </p:spPr>
        <p:txBody>
          <a:bodyPr wrap="square" lIns="0" tIns="0" rIns="0" bIns="0" rtlCol="0" anchor="t">
            <a:spAutoFit/>
          </a:bodyPr>
          <a:lstStyle/>
          <a:p>
            <a:pPr indent="0" marL="0">
              <a:buNone/>
            </a:pPr>
            <a:r>
              <a:rPr lang="en-US" sz="1800" b="1" dirty="0">
                <a:solidFill>
                  <a:srgbClr val="004831"/>
                </a:solidFill>
                <a:latin typeface="Arial" pitchFamily="34" charset="0"/>
                <a:ea typeface="Arial" pitchFamily="34" charset="-122"/>
                <a:cs typeface="Arial" pitchFamily="34" charset="-120"/>
              </a:rPr>
              <a:t>Exercise workflows</a:t>
            </a:r>
            <a:endParaRPr lang="en-US" sz="1800" dirty="0"/>
          </a:p>
        </p:txBody>
      </p:sp>
      <p:sp>
        <p:nvSpPr>
          <p:cNvPr id="19" name="Shape 16"/>
          <p:cNvSpPr/>
          <p:nvPr/>
        </p:nvSpPr>
        <p:spPr>
          <a:xfrm>
            <a:off x="8723376" y="2715768"/>
            <a:ext cx="310896" cy="0"/>
          </a:xfrm>
          <a:prstGeom prst="line">
            <a:avLst/>
          </a:prstGeom>
          <a:noFill/>
          <a:ln w="20320">
            <a:solidFill>
              <a:srgbClr val="D8DDD9"/>
            </a:solidFill>
            <a:prstDash val="solid"/>
            <a:headEnd type="none"/>
            <a:tailEnd type="triangle"/>
          </a:ln>
        </p:spPr>
      </p:sp>
      <p:sp>
        <p:nvSpPr>
          <p:cNvPr id="20" name="Shape 17"/>
          <p:cNvSpPr/>
          <p:nvPr/>
        </p:nvSpPr>
        <p:spPr>
          <a:xfrm>
            <a:off x="9153144" y="2450592"/>
            <a:ext cx="502920" cy="502920"/>
          </a:xfrm>
          <a:prstGeom prst="ellipse">
            <a:avLst/>
          </a:prstGeom>
          <a:solidFill>
            <a:srgbClr val="004831"/>
          </a:solidFill>
          <a:ln w="12700">
            <a:solidFill>
              <a:srgbClr val="004831"/>
            </a:solidFill>
            <a:prstDash val="solid"/>
          </a:ln>
        </p:spPr>
      </p:sp>
      <p:sp>
        <p:nvSpPr>
          <p:cNvPr id="21" name="Text 18"/>
          <p:cNvSpPr/>
          <p:nvPr/>
        </p:nvSpPr>
        <p:spPr>
          <a:xfrm>
            <a:off x="9153144" y="2551176"/>
            <a:ext cx="502920" cy="274320"/>
          </a:xfrm>
          <a:prstGeom prst="rect">
            <a:avLst/>
          </a:prstGeom>
          <a:noFill/>
          <a:ln/>
        </p:spPr>
        <p:txBody>
          <a:bodyPr wrap="square" lIns="0" tIns="0" rIns="0" bIns="0" rtlCol="0" anchor="t">
            <a:sp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2" name="Text 19"/>
          <p:cNvSpPr/>
          <p:nvPr/>
        </p:nvSpPr>
        <p:spPr>
          <a:xfrm>
            <a:off x="9838944" y="2542032"/>
            <a:ext cx="1920240" cy="365760"/>
          </a:xfrm>
          <a:prstGeom prst="rect">
            <a:avLst/>
          </a:prstGeom>
          <a:noFill/>
          <a:ln/>
        </p:spPr>
        <p:txBody>
          <a:bodyPr wrap="square" lIns="0" tIns="0" rIns="0" bIns="0" rtlCol="0" anchor="t">
            <a:spAutoFit/>
          </a:bodyPr>
          <a:lstStyle/>
          <a:p>
            <a:pPr indent="0" marL="0">
              <a:buNone/>
            </a:pPr>
            <a:r>
              <a:rPr lang="en-US" sz="1800" b="1" dirty="0">
                <a:solidFill>
                  <a:srgbClr val="004831"/>
                </a:solidFill>
                <a:latin typeface="Arial" pitchFamily="34" charset="0"/>
                <a:ea typeface="Arial" pitchFamily="34" charset="-122"/>
                <a:cs typeface="Arial" pitchFamily="34" charset="-120"/>
              </a:rPr>
              <a:t>Evaluate</a:t>
            </a:r>
            <a:endParaRPr lang="en-US" sz="1800" dirty="0"/>
          </a:p>
        </p:txBody>
      </p:sp>
      <p:sp>
        <p:nvSpPr>
          <p:cNvPr id="23" name="Shape 20"/>
          <p:cNvSpPr/>
          <p:nvPr/>
        </p:nvSpPr>
        <p:spPr>
          <a:xfrm>
            <a:off x="548640" y="3438144"/>
            <a:ext cx="3547872" cy="2148840"/>
          </a:xfrm>
          <a:prstGeom prst="roundRect">
            <a:avLst>
              <a:gd name="adj" fmla="val 5106"/>
            </a:avLst>
          </a:prstGeom>
          <a:solidFill>
            <a:srgbClr val="FFFFFF"/>
          </a:solidFill>
          <a:ln w="12700">
            <a:solidFill>
              <a:srgbClr val="FFFFFF"/>
            </a:solidFill>
            <a:prstDash val="solid"/>
          </a:ln>
        </p:spPr>
      </p:sp>
      <p:sp>
        <p:nvSpPr>
          <p:cNvPr id="24" name="Shape 21"/>
          <p:cNvSpPr/>
          <p:nvPr/>
        </p:nvSpPr>
        <p:spPr>
          <a:xfrm>
            <a:off x="777240" y="3675888"/>
            <a:ext cx="530352" cy="530352"/>
          </a:xfrm>
          <a:prstGeom prst="ellipse">
            <a:avLst/>
          </a:prstGeom>
          <a:solidFill>
            <a:srgbClr val="EAF2EE"/>
          </a:solidFill>
          <a:ln w="12700">
            <a:solidFill>
              <a:srgbClr val="EAF2EE"/>
            </a:solidFill>
            <a:prstDash val="solid"/>
          </a:ln>
        </p:spPr>
      </p:sp>
      <p:sp>
        <p:nvSpPr>
          <p:cNvPr id="25" name="Shape 22"/>
          <p:cNvSpPr/>
          <p:nvPr/>
        </p:nvSpPr>
        <p:spPr>
          <a:xfrm>
            <a:off x="909828" y="3808476"/>
            <a:ext cx="265176" cy="265176"/>
          </a:xfrm>
          <a:prstGeom prst="ellipse">
            <a:avLst/>
          </a:prstGeom>
          <a:solidFill>
            <a:srgbClr val="EAF2EE"/>
          </a:solidFill>
          <a:ln w="12700">
            <a:solidFill>
              <a:srgbClr val="004831"/>
            </a:solidFill>
            <a:prstDash val="solid"/>
          </a:ln>
        </p:spPr>
      </p:sp>
      <p:sp>
        <p:nvSpPr>
          <p:cNvPr id="26" name="Shape 23"/>
          <p:cNvSpPr/>
          <p:nvPr/>
        </p:nvSpPr>
        <p:spPr>
          <a:xfrm>
            <a:off x="1042416" y="3861511"/>
            <a:ext cx="0" cy="84856"/>
          </a:xfrm>
          <a:prstGeom prst="line">
            <a:avLst/>
          </a:prstGeom>
          <a:noFill/>
          <a:ln w="21590">
            <a:solidFill>
              <a:srgbClr val="004831"/>
            </a:solidFill>
            <a:prstDash val="solid"/>
            <a:headEnd type="none"/>
            <a:tailEnd type="none"/>
          </a:ln>
        </p:spPr>
      </p:sp>
      <p:sp>
        <p:nvSpPr>
          <p:cNvPr id="27" name="Shape 24"/>
          <p:cNvSpPr/>
          <p:nvPr/>
        </p:nvSpPr>
        <p:spPr>
          <a:xfrm>
            <a:off x="1042416" y="3946368"/>
            <a:ext cx="68946" cy="42428"/>
          </a:xfrm>
          <a:prstGeom prst="line">
            <a:avLst/>
          </a:prstGeom>
          <a:noFill/>
          <a:ln w="21590">
            <a:solidFill>
              <a:srgbClr val="004831"/>
            </a:solidFill>
            <a:prstDash val="solid"/>
            <a:headEnd type="none"/>
            <a:tailEnd type="none"/>
          </a:ln>
        </p:spPr>
      </p:sp>
      <p:sp>
        <p:nvSpPr>
          <p:cNvPr id="28" name="Text 25"/>
          <p:cNvSpPr/>
          <p:nvPr/>
        </p:nvSpPr>
        <p:spPr>
          <a:xfrm>
            <a:off x="777240" y="4416552"/>
            <a:ext cx="3108960" cy="356616"/>
          </a:xfrm>
          <a:prstGeom prst="rect">
            <a:avLst/>
          </a:prstGeom>
          <a:noFill/>
          <a:ln/>
        </p:spPr>
        <p:txBody>
          <a:bodyPr wrap="square" lIns="0" tIns="0" rIns="0" bIns="0" rtlCol="0" anchor="t">
            <a:spAutoFit/>
          </a:bodyPr>
          <a:lstStyle/>
          <a:p>
            <a:pPr indent="0" marL="0">
              <a:buNone/>
            </a:pPr>
            <a:r>
              <a:rPr lang="en-US" sz="2000" b="1" dirty="0">
                <a:solidFill>
                  <a:srgbClr val="1F2522"/>
                </a:solidFill>
                <a:latin typeface="Arial" pitchFamily="34" charset="0"/>
                <a:ea typeface="Arial" pitchFamily="34" charset="-122"/>
                <a:cs typeface="Arial" pitchFamily="34" charset="-120"/>
              </a:rPr>
              <a:t>Time to assignment</a:t>
            </a:r>
            <a:endParaRPr lang="en-US" sz="2000" dirty="0"/>
          </a:p>
        </p:txBody>
      </p:sp>
      <p:sp>
        <p:nvSpPr>
          <p:cNvPr id="29" name="Text 26"/>
          <p:cNvSpPr/>
          <p:nvPr/>
        </p:nvSpPr>
        <p:spPr>
          <a:xfrm>
            <a:off x="777240" y="4901184"/>
            <a:ext cx="3072384" cy="493776"/>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Median time from registration</a:t>
            </a:r>
            <a:endParaRPr lang="en-US" sz="1500" dirty="0"/>
          </a:p>
          <a:p>
            <a:pPr indent="0" marL="0">
              <a:buNone/>
            </a:pPr>
            <a:r>
              <a:rPr lang="en-US" sz="1500" dirty="0">
                <a:solidFill>
                  <a:srgbClr val="68716C"/>
                </a:solidFill>
                <a:latin typeface="Arial" pitchFamily="34" charset="0"/>
                <a:ea typeface="Arial" pitchFamily="34" charset="-122"/>
                <a:cs typeface="Arial" pitchFamily="34" charset="-120"/>
              </a:rPr>
              <a:t>to first assignment.</a:t>
            </a:r>
            <a:endParaRPr lang="en-US" sz="1500" dirty="0"/>
          </a:p>
        </p:txBody>
      </p:sp>
      <p:sp>
        <p:nvSpPr>
          <p:cNvPr id="30" name="Shape 27"/>
          <p:cNvSpPr/>
          <p:nvPr/>
        </p:nvSpPr>
        <p:spPr>
          <a:xfrm>
            <a:off x="4325112" y="3438144"/>
            <a:ext cx="3547872" cy="2148840"/>
          </a:xfrm>
          <a:prstGeom prst="roundRect">
            <a:avLst>
              <a:gd name="adj" fmla="val 5106"/>
            </a:avLst>
          </a:prstGeom>
          <a:solidFill>
            <a:srgbClr val="FFFFFF"/>
          </a:solidFill>
          <a:ln w="12700">
            <a:solidFill>
              <a:srgbClr val="FFFFFF"/>
            </a:solidFill>
            <a:prstDash val="solid"/>
          </a:ln>
        </p:spPr>
      </p:sp>
      <p:sp>
        <p:nvSpPr>
          <p:cNvPr id="31" name="Shape 28"/>
          <p:cNvSpPr/>
          <p:nvPr/>
        </p:nvSpPr>
        <p:spPr>
          <a:xfrm>
            <a:off x="4553712" y="3675888"/>
            <a:ext cx="530352" cy="530352"/>
          </a:xfrm>
          <a:prstGeom prst="ellipse">
            <a:avLst/>
          </a:prstGeom>
          <a:solidFill>
            <a:srgbClr val="EAF2EE"/>
          </a:solidFill>
          <a:ln w="12700">
            <a:solidFill>
              <a:srgbClr val="EAF2EE"/>
            </a:solidFill>
            <a:prstDash val="solid"/>
          </a:ln>
        </p:spPr>
      </p:sp>
      <p:sp>
        <p:nvSpPr>
          <p:cNvPr id="32" name="Shape 29"/>
          <p:cNvSpPr/>
          <p:nvPr/>
        </p:nvSpPr>
        <p:spPr>
          <a:xfrm>
            <a:off x="4696907" y="3946368"/>
            <a:ext cx="84856" cy="79553"/>
          </a:xfrm>
          <a:prstGeom prst="line">
            <a:avLst/>
          </a:prstGeom>
          <a:noFill/>
          <a:ln w="27940">
            <a:solidFill>
              <a:srgbClr val="004831"/>
            </a:solidFill>
            <a:prstDash val="solid"/>
            <a:headEnd type="none"/>
            <a:tailEnd type="none"/>
          </a:ln>
        </p:spPr>
      </p:sp>
      <p:sp>
        <p:nvSpPr>
          <p:cNvPr id="33" name="Shape 30"/>
          <p:cNvSpPr/>
          <p:nvPr/>
        </p:nvSpPr>
        <p:spPr>
          <a:xfrm>
            <a:off x="4781763" y="4025920"/>
            <a:ext cx="164409" cy="-175016"/>
          </a:xfrm>
          <a:prstGeom prst="line">
            <a:avLst/>
          </a:prstGeom>
          <a:noFill/>
          <a:ln w="27940">
            <a:solidFill>
              <a:srgbClr val="004831"/>
            </a:solidFill>
            <a:prstDash val="solid"/>
            <a:headEnd type="none"/>
            <a:tailEnd type="none"/>
          </a:ln>
        </p:spPr>
      </p:sp>
      <p:sp>
        <p:nvSpPr>
          <p:cNvPr id="34" name="Text 31"/>
          <p:cNvSpPr/>
          <p:nvPr/>
        </p:nvSpPr>
        <p:spPr>
          <a:xfrm>
            <a:off x="4553712" y="4416552"/>
            <a:ext cx="3108960" cy="356616"/>
          </a:xfrm>
          <a:prstGeom prst="rect">
            <a:avLst/>
          </a:prstGeom>
          <a:noFill/>
          <a:ln/>
        </p:spPr>
        <p:txBody>
          <a:bodyPr wrap="square" lIns="0" tIns="0" rIns="0" bIns="0" rtlCol="0" anchor="t">
            <a:spAutoFit/>
          </a:bodyPr>
          <a:lstStyle/>
          <a:p>
            <a:pPr indent="0" marL="0">
              <a:buNone/>
            </a:pPr>
            <a:r>
              <a:rPr lang="en-US" sz="2000" b="1" dirty="0">
                <a:solidFill>
                  <a:srgbClr val="1F2522"/>
                </a:solidFill>
                <a:latin typeface="Arial" pitchFamily="34" charset="0"/>
                <a:ea typeface="Arial" pitchFamily="34" charset="-122"/>
                <a:cs typeface="Arial" pitchFamily="34" charset="-120"/>
              </a:rPr>
              <a:t>Review turnaround</a:t>
            </a:r>
            <a:endParaRPr lang="en-US" sz="2000" dirty="0"/>
          </a:p>
        </p:txBody>
      </p:sp>
      <p:sp>
        <p:nvSpPr>
          <p:cNvPr id="35" name="Text 32"/>
          <p:cNvSpPr/>
          <p:nvPr/>
        </p:nvSpPr>
        <p:spPr>
          <a:xfrm>
            <a:off x="4553712" y="4901184"/>
            <a:ext cx="3072384" cy="493776"/>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Median time from registration</a:t>
            </a:r>
            <a:endParaRPr lang="en-US" sz="1500" dirty="0"/>
          </a:p>
          <a:p>
            <a:pPr indent="0" marL="0">
              <a:buNone/>
            </a:pPr>
            <a:r>
              <a:rPr lang="en-US" sz="1500" dirty="0">
                <a:solidFill>
                  <a:srgbClr val="68716C"/>
                </a:solidFill>
                <a:latin typeface="Arial" pitchFamily="34" charset="0"/>
                <a:ea typeface="Arial" pitchFamily="34" charset="-122"/>
                <a:cs typeface="Arial" pitchFamily="34" charset="-120"/>
              </a:rPr>
              <a:t>to completion, by workflow.</a:t>
            </a:r>
            <a:endParaRPr lang="en-US" sz="1500" dirty="0"/>
          </a:p>
        </p:txBody>
      </p:sp>
      <p:sp>
        <p:nvSpPr>
          <p:cNvPr id="36" name="Shape 33"/>
          <p:cNvSpPr/>
          <p:nvPr/>
        </p:nvSpPr>
        <p:spPr>
          <a:xfrm>
            <a:off x="8101584" y="3438144"/>
            <a:ext cx="3547872" cy="2148840"/>
          </a:xfrm>
          <a:prstGeom prst="roundRect">
            <a:avLst>
              <a:gd name="adj" fmla="val 5106"/>
            </a:avLst>
          </a:prstGeom>
          <a:solidFill>
            <a:srgbClr val="FFFFFF"/>
          </a:solidFill>
          <a:ln w="12700">
            <a:solidFill>
              <a:srgbClr val="FFFFFF"/>
            </a:solidFill>
            <a:prstDash val="solid"/>
          </a:ln>
        </p:spPr>
      </p:sp>
      <p:sp>
        <p:nvSpPr>
          <p:cNvPr id="37" name="Shape 34"/>
          <p:cNvSpPr/>
          <p:nvPr/>
        </p:nvSpPr>
        <p:spPr>
          <a:xfrm>
            <a:off x="8330184" y="3675888"/>
            <a:ext cx="530352" cy="530352"/>
          </a:xfrm>
          <a:prstGeom prst="ellipse">
            <a:avLst/>
          </a:prstGeom>
          <a:solidFill>
            <a:srgbClr val="EAF2EE"/>
          </a:solidFill>
          <a:ln w="12700">
            <a:solidFill>
              <a:srgbClr val="EAF2EE"/>
            </a:solidFill>
            <a:prstDash val="solid"/>
          </a:ln>
        </p:spPr>
      </p:sp>
      <p:sp>
        <p:nvSpPr>
          <p:cNvPr id="38" name="Shape 35"/>
          <p:cNvSpPr/>
          <p:nvPr/>
        </p:nvSpPr>
        <p:spPr>
          <a:xfrm>
            <a:off x="8526414" y="3797869"/>
            <a:ext cx="137892" cy="137892"/>
          </a:xfrm>
          <a:prstGeom prst="ellipse">
            <a:avLst/>
          </a:prstGeom>
          <a:solidFill>
            <a:srgbClr val="004831"/>
          </a:solidFill>
          <a:ln w="12700">
            <a:solidFill>
              <a:srgbClr val="004831"/>
            </a:solidFill>
            <a:prstDash val="solid"/>
          </a:ln>
        </p:spPr>
      </p:sp>
      <p:sp>
        <p:nvSpPr>
          <p:cNvPr id="39" name="Shape 36"/>
          <p:cNvSpPr/>
          <p:nvPr/>
        </p:nvSpPr>
        <p:spPr>
          <a:xfrm>
            <a:off x="8468076" y="3967582"/>
            <a:ext cx="254569" cy="127284"/>
          </a:xfrm>
          <a:prstGeom prst="roundRect">
            <a:avLst/>
          </a:prstGeom>
          <a:solidFill>
            <a:srgbClr val="004831"/>
          </a:solidFill>
          <a:ln w="12700">
            <a:solidFill>
              <a:srgbClr val="004831"/>
            </a:solidFill>
            <a:prstDash val="solid"/>
          </a:ln>
        </p:spPr>
      </p:sp>
      <p:sp>
        <p:nvSpPr>
          <p:cNvPr id="40" name="Text 37"/>
          <p:cNvSpPr/>
          <p:nvPr/>
        </p:nvSpPr>
        <p:spPr>
          <a:xfrm>
            <a:off x="8330184" y="4416552"/>
            <a:ext cx="3108960" cy="356616"/>
          </a:xfrm>
          <a:prstGeom prst="rect">
            <a:avLst/>
          </a:prstGeom>
          <a:noFill/>
          <a:ln/>
        </p:spPr>
        <p:txBody>
          <a:bodyPr wrap="square" lIns="0" tIns="0" rIns="0" bIns="0" rtlCol="0" anchor="t">
            <a:spAutoFit/>
          </a:bodyPr>
          <a:lstStyle/>
          <a:p>
            <a:pPr indent="0" marL="0">
              <a:buNone/>
            </a:pPr>
            <a:r>
              <a:rPr lang="en-US" sz="2000" b="1" dirty="0">
                <a:solidFill>
                  <a:srgbClr val="1F2522"/>
                </a:solidFill>
                <a:latin typeface="Arial" pitchFamily="34" charset="0"/>
                <a:ea typeface="Arial" pitchFamily="34" charset="-122"/>
                <a:cs typeface="Arial" pitchFamily="34" charset="-120"/>
              </a:rPr>
              <a:t>User experience</a:t>
            </a:r>
            <a:endParaRPr lang="en-US" sz="2000" dirty="0"/>
          </a:p>
        </p:txBody>
      </p:sp>
      <p:sp>
        <p:nvSpPr>
          <p:cNvPr id="41" name="Text 38"/>
          <p:cNvSpPr/>
          <p:nvPr/>
        </p:nvSpPr>
        <p:spPr>
          <a:xfrm>
            <a:off x="8330184" y="4901184"/>
            <a:ext cx="3072384" cy="493776"/>
          </a:xfrm>
          <a:prstGeom prst="rect">
            <a:avLst/>
          </a:prstGeom>
          <a:noFill/>
          <a:ln/>
        </p:spPr>
        <p:txBody>
          <a:bodyPr wrap="square" lIns="0" tIns="0" rIns="0" bIns="0" rtlCol="0" anchor="t">
            <a:spAutoFit/>
          </a:bodyPr>
          <a:lstStyle/>
          <a:p>
            <a:pPr indent="0" marL="0">
              <a:buNone/>
            </a:pPr>
            <a:r>
              <a:rPr lang="en-US" sz="1500" dirty="0">
                <a:solidFill>
                  <a:srgbClr val="68716C"/>
                </a:solidFill>
                <a:latin typeface="Arial" pitchFamily="34" charset="0"/>
                <a:ea typeface="Arial" pitchFamily="34" charset="-122"/>
                <a:cs typeface="Arial" pitchFamily="34" charset="-120"/>
              </a:rPr>
              <a:t>Task completion in testing</a:t>
            </a:r>
            <a:endParaRPr lang="en-US" sz="1500" dirty="0"/>
          </a:p>
          <a:p>
            <a:pPr indent="0" marL="0">
              <a:buNone/>
            </a:pPr>
            <a:r>
              <a:rPr lang="en-US" sz="1500" dirty="0">
                <a:solidFill>
                  <a:srgbClr val="68716C"/>
                </a:solidFill>
                <a:latin typeface="Arial" pitchFamily="34" charset="0"/>
                <a:ea typeface="Arial" pitchFamily="34" charset="-122"/>
                <a:cs typeface="Arial" pitchFamily="34" charset="-120"/>
              </a:rPr>
              <a:t>and structured user feedback.</a:t>
            </a:r>
            <a:endParaRPr lang="en-US" sz="1500" dirty="0"/>
          </a:p>
        </p:txBody>
      </p:sp>
      <p:sp>
        <p:nvSpPr>
          <p:cNvPr id="42" name="Text 39"/>
          <p:cNvSpPr/>
          <p:nvPr/>
        </p:nvSpPr>
        <p:spPr>
          <a:xfrm>
            <a:off x="548640" y="5998464"/>
            <a:ext cx="11064240" cy="320040"/>
          </a:xfrm>
          <a:prstGeom prst="rect">
            <a:avLst/>
          </a:prstGeom>
          <a:noFill/>
          <a:ln/>
        </p:spPr>
        <p:txBody>
          <a:bodyPr wrap="square" lIns="0" tIns="0" rIns="0" bIns="0" rtlCol="0" anchor="t">
            <a:spAutoFit/>
          </a:bodyPr>
          <a:lstStyle/>
          <a:p>
            <a:pPr indent="0" marL="0">
              <a:buNone/>
            </a:pPr>
            <a:r>
              <a:rPr lang="en-US" sz="1100" dirty="0">
                <a:solidFill>
                  <a:srgbClr val="68716C"/>
                </a:solidFill>
                <a:latin typeface="Arial" pitchFamily="34" charset="0"/>
                <a:ea typeface="Arial" pitchFamily="34" charset="-122"/>
                <a:cs typeface="Arial" pitchFamily="34" charset="-120"/>
              </a:rPr>
              <a:t>Proposed evaluation measures. Agree the baseline, targets and review date before the pilot starts.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3322"/>
        </a:solidFill>
      </p:bgPr>
    </p:bg>
    <p:spTree>
      <p:nvGrpSpPr>
        <p:cNvPr id="1" name=""/>
        <p:cNvGrpSpPr/>
        <p:nvPr/>
      </p:nvGrpSpPr>
      <p:grpSpPr>
        <a:xfrm>
          <a:off x="0" y="0"/>
          <a:ext cx="0" cy="0"/>
          <a:chOff x="0" y="0"/>
          <a:chExt cx="0" cy="0"/>
        </a:xfrm>
      </p:grpSpPr>
      <p:sp>
        <p:nvSpPr>
          <p:cNvPr id="2" name="Text 0"/>
          <p:cNvSpPr/>
          <p:nvPr/>
        </p:nvSpPr>
        <p:spPr>
          <a:xfrm>
            <a:off x="548640" y="429768"/>
            <a:ext cx="10058400" cy="210312"/>
          </a:xfrm>
          <a:prstGeom prst="rect">
            <a:avLst/>
          </a:prstGeom>
          <a:noFill/>
          <a:ln/>
        </p:spPr>
        <p:txBody>
          <a:bodyPr wrap="square" lIns="0" tIns="0" rIns="0" bIns="0" rtlCol="0" anchor="t">
            <a:spAutoFit/>
          </a:bodyPr>
          <a:lstStyle/>
          <a:p>
            <a:pPr indent="0" marL="0">
              <a:buNone/>
            </a:pPr>
            <a:r>
              <a:rPr lang="en-US" sz="1100" b="1" dirty="0">
                <a:solidFill>
                  <a:srgbClr val="C4D600"/>
                </a:solidFill>
                <a:latin typeface="Arial" pitchFamily="34" charset="0"/>
                <a:ea typeface="Arial" pitchFamily="34" charset="-122"/>
                <a:cs typeface="Arial" pitchFamily="34" charset="-120"/>
              </a:rPr>
              <a:t>Decision and discussion</a:t>
            </a:r>
            <a:endParaRPr lang="en-US" sz="1100" dirty="0"/>
          </a:p>
        </p:txBody>
      </p:sp>
      <p:sp>
        <p:nvSpPr>
          <p:cNvPr id="3" name="Text 1"/>
          <p:cNvSpPr/>
          <p:nvPr/>
        </p:nvSpPr>
        <p:spPr>
          <a:xfrm>
            <a:off x="530352" y="868680"/>
            <a:ext cx="11064240" cy="621792"/>
          </a:xfrm>
          <a:prstGeom prst="rect">
            <a:avLst/>
          </a:prstGeom>
          <a:noFill/>
          <a:ln/>
        </p:spPr>
        <p:txBody>
          <a:bodyPr wrap="square" lIns="0" tIns="0" rIns="0" bIns="0" rtlCol="0" anchor="t">
            <a:spAutoFit/>
          </a:bodyPr>
          <a:lstStyle/>
          <a:p>
            <a:pPr indent="0" marL="0">
              <a:buNone/>
            </a:pPr>
            <a:r>
              <a:rPr lang="en-US" sz="3400" b="1" dirty="0">
                <a:solidFill>
                  <a:srgbClr val="FFFFFF"/>
                </a:solidFill>
                <a:latin typeface="Arial" pitchFamily="34" charset="0"/>
                <a:ea typeface="Arial" pitchFamily="34" charset="-122"/>
                <a:cs typeface="Arial" pitchFamily="34" charset="-120"/>
              </a:rPr>
              <a:t>The next step: agree a focused pilot</a:t>
            </a:r>
            <a:endParaRPr lang="en-US" sz="3400" dirty="0"/>
          </a:p>
        </p:txBody>
      </p:sp>
      <p:sp>
        <p:nvSpPr>
          <p:cNvPr id="4" name="Text 2"/>
          <p:cNvSpPr/>
          <p:nvPr/>
        </p:nvSpPr>
        <p:spPr>
          <a:xfrm>
            <a:off x="548640" y="1572768"/>
            <a:ext cx="10927080" cy="502920"/>
          </a:xfrm>
          <a:prstGeom prst="rect">
            <a:avLst/>
          </a:prstGeom>
          <a:noFill/>
          <a:ln/>
        </p:spPr>
        <p:txBody>
          <a:bodyPr wrap="square" lIns="0" tIns="0" rIns="0" bIns="0" rtlCol="0" anchor="t">
            <a:spAutoFit/>
          </a:bodyPr>
          <a:lstStyle/>
          <a:p>
            <a:pPr indent="0" marL="0">
              <a:buNone/>
            </a:pPr>
            <a:r>
              <a:rPr lang="en-US" sz="1600" dirty="0">
                <a:solidFill>
                  <a:srgbClr val="B1CCC4"/>
                </a:solidFill>
                <a:latin typeface="Arial" pitchFamily="34" charset="0"/>
                <a:ea typeface="Arial" pitchFamily="34" charset="-122"/>
                <a:cs typeface="Arial" pitchFamily="34" charset="-120"/>
              </a:rPr>
              <a:t>Give the team a shared process — and validate it with the people who will use it.</a:t>
            </a:r>
            <a:endParaRPr lang="en-US" sz="1600" dirty="0"/>
          </a:p>
        </p:txBody>
      </p:sp>
      <p:sp>
        <p:nvSpPr>
          <p:cNvPr id="5" name="Text 3"/>
          <p:cNvSpPr/>
          <p:nvPr/>
        </p:nvSpPr>
        <p:spPr>
          <a:xfrm>
            <a:off x="530352" y="6455664"/>
            <a:ext cx="7315200" cy="164592"/>
          </a:xfrm>
          <a:prstGeom prst="rect">
            <a:avLst/>
          </a:prstGeom>
          <a:noFill/>
          <a:ln/>
        </p:spPr>
        <p:txBody>
          <a:bodyPr wrap="square" lIns="0" tIns="0" rIns="0" bIns="0" rtlCol="0" anchor="t">
            <a:spAutoFit/>
          </a:bodyPr>
          <a:lstStyle/>
          <a:p>
            <a:pPr indent="0" marL="0">
              <a:buNone/>
            </a:pPr>
            <a:r>
              <a:rPr lang="en-US" sz="900" dirty="0">
                <a:solidFill>
                  <a:srgbClr val="B1CCC4"/>
                </a:solidFill>
                <a:latin typeface="Arial" pitchFamily="34" charset="0"/>
                <a:ea typeface="Arial" pitchFamily="34" charset="-122"/>
                <a:cs typeface="Arial" pitchFamily="34" charset="-120"/>
              </a:rPr>
              <a:t>ORP  /  Operations Reporting and Processing</a:t>
            </a:r>
            <a:endParaRPr lang="en-US" sz="900" dirty="0"/>
          </a:p>
        </p:txBody>
      </p:sp>
      <p:sp>
        <p:nvSpPr>
          <p:cNvPr id="6" name="Text 4"/>
          <p:cNvSpPr/>
          <p:nvPr/>
        </p:nvSpPr>
        <p:spPr>
          <a:xfrm>
            <a:off x="11064240" y="6419088"/>
            <a:ext cx="566928" cy="228600"/>
          </a:xfrm>
          <a:prstGeom prst="rect">
            <a:avLst/>
          </a:prstGeom>
          <a:noFill/>
          <a:ln/>
        </p:spPr>
        <p:txBody>
          <a:bodyPr wrap="square" lIns="0" tIns="0" rIns="0" bIns="0" rtlCol="0" anchor="t">
            <a:spAutoFit/>
          </a:bodyPr>
          <a:lstStyle/>
          <a:p>
            <a:pPr algn="r" indent="0" marL="0">
              <a:buNone/>
            </a:pPr>
            <a:r>
              <a:rPr lang="en-US" sz="1100" dirty="0">
                <a:solidFill>
                  <a:srgbClr val="B1CCC4"/>
                </a:solidFill>
                <a:latin typeface="Arial" pitchFamily="34" charset="0"/>
                <a:ea typeface="Arial" pitchFamily="34" charset="-122"/>
                <a:cs typeface="Arial" pitchFamily="34" charset="-120"/>
              </a:rPr>
              <a:t>12</a:t>
            </a:r>
            <a:endParaRPr lang="en-US" sz="1100" dirty="0"/>
          </a:p>
        </p:txBody>
      </p:sp>
      <p:sp>
        <p:nvSpPr>
          <p:cNvPr id="8" name="Shape 5"/>
          <p:cNvSpPr/>
          <p:nvPr/>
        </p:nvSpPr>
        <p:spPr>
          <a:xfrm>
            <a:off x="621792" y="2487168"/>
            <a:ext cx="539496" cy="539496"/>
          </a:xfrm>
          <a:prstGeom prst="ellipse">
            <a:avLst/>
          </a:prstGeom>
          <a:solidFill>
            <a:srgbClr val="C4D600"/>
          </a:solidFill>
          <a:ln w="12700">
            <a:solidFill>
              <a:srgbClr val="C4D600"/>
            </a:solidFill>
            <a:prstDash val="solid"/>
          </a:ln>
        </p:spPr>
      </p:sp>
      <p:sp>
        <p:nvSpPr>
          <p:cNvPr id="9" name="Text 6"/>
          <p:cNvSpPr/>
          <p:nvPr/>
        </p:nvSpPr>
        <p:spPr>
          <a:xfrm>
            <a:off x="621792" y="2587752"/>
            <a:ext cx="539496" cy="274320"/>
          </a:xfrm>
          <a:prstGeom prst="rect">
            <a:avLst/>
          </a:prstGeom>
          <a:noFill/>
          <a:ln/>
        </p:spPr>
        <p:txBody>
          <a:bodyPr wrap="square" lIns="0" tIns="0" rIns="0" bIns="0" rtlCol="0" anchor="t">
            <a:spAutoFit/>
          </a:bodyPr>
          <a:lstStyle/>
          <a:p>
            <a:pPr algn="ctr" indent="0" marL="0">
              <a:buNone/>
            </a:pPr>
            <a:r>
              <a:rPr lang="en-US" sz="1700" b="1" dirty="0">
                <a:solidFill>
                  <a:srgbClr val="003322"/>
                </a:solidFill>
                <a:latin typeface="Arial" pitchFamily="34" charset="0"/>
                <a:ea typeface="Arial" pitchFamily="34" charset="-122"/>
                <a:cs typeface="Arial" pitchFamily="34" charset="-120"/>
              </a:rPr>
              <a:t>01</a:t>
            </a:r>
            <a:endParaRPr lang="en-US" sz="1700" dirty="0"/>
          </a:p>
        </p:txBody>
      </p:sp>
      <p:sp>
        <p:nvSpPr>
          <p:cNvPr id="10" name="Text 7"/>
          <p:cNvSpPr/>
          <p:nvPr/>
        </p:nvSpPr>
        <p:spPr>
          <a:xfrm>
            <a:off x="1444752" y="2505456"/>
            <a:ext cx="4462272" cy="347472"/>
          </a:xfrm>
          <a:prstGeom prst="rect">
            <a:avLst/>
          </a:prstGeom>
          <a:noFill/>
          <a:ln/>
        </p:spPr>
        <p:txBody>
          <a:bodyPr wrap="square" lIns="0" tIns="0" rIns="0" bIns="0" rtlCol="0" anchor="t">
            <a:spAutoFit/>
          </a:bodyPr>
          <a:lstStyle/>
          <a:p>
            <a:pPr indent="0" marL="0">
              <a:buNone/>
            </a:pPr>
            <a:r>
              <a:rPr lang="en-US" sz="2400" b="1" dirty="0">
                <a:solidFill>
                  <a:srgbClr val="FFFFFF"/>
                </a:solidFill>
                <a:latin typeface="Arial" pitchFamily="34" charset="0"/>
                <a:ea typeface="Arial" pitchFamily="34" charset="-122"/>
                <a:cs typeface="Arial" pitchFamily="34" charset="-120"/>
              </a:rPr>
              <a:t>Name the owner</a:t>
            </a:r>
            <a:endParaRPr lang="en-US" sz="2400" dirty="0"/>
          </a:p>
        </p:txBody>
      </p:sp>
      <p:sp>
        <p:nvSpPr>
          <p:cNvPr id="11" name="Text 8"/>
          <p:cNvSpPr/>
          <p:nvPr/>
        </p:nvSpPr>
        <p:spPr>
          <a:xfrm>
            <a:off x="1453896" y="2953512"/>
            <a:ext cx="5623560" cy="329184"/>
          </a:xfrm>
          <a:prstGeom prst="rect">
            <a:avLst/>
          </a:prstGeom>
          <a:noFill/>
          <a:ln/>
        </p:spPr>
        <p:txBody>
          <a:bodyPr wrap="square" lIns="0" tIns="0" rIns="0" bIns="0" rtlCol="0" anchor="t">
            <a:spAutoFit/>
          </a:bodyPr>
          <a:lstStyle/>
          <a:p>
            <a:pPr indent="0" marL="0">
              <a:buNone/>
            </a:pPr>
            <a:r>
              <a:rPr lang="en-US" sz="1600" dirty="0">
                <a:solidFill>
                  <a:srgbClr val="B1CCC4"/>
                </a:solidFill>
                <a:latin typeface="Arial" pitchFamily="34" charset="0"/>
                <a:ea typeface="Arial" pitchFamily="34" charset="-122"/>
                <a:cs typeface="Arial" pitchFamily="34" charset="-120"/>
              </a:rPr>
              <a:t>Business sponsor + representative users</a:t>
            </a:r>
            <a:endParaRPr lang="en-US" sz="1600" dirty="0"/>
          </a:p>
        </p:txBody>
      </p:sp>
      <p:sp>
        <p:nvSpPr>
          <p:cNvPr id="12" name="Shape 9"/>
          <p:cNvSpPr/>
          <p:nvPr/>
        </p:nvSpPr>
        <p:spPr>
          <a:xfrm>
            <a:off x="621792" y="3438144"/>
            <a:ext cx="539496" cy="539496"/>
          </a:xfrm>
          <a:prstGeom prst="ellipse">
            <a:avLst/>
          </a:prstGeom>
          <a:solidFill>
            <a:srgbClr val="C4D600"/>
          </a:solidFill>
          <a:ln w="12700">
            <a:solidFill>
              <a:srgbClr val="C4D600"/>
            </a:solidFill>
            <a:prstDash val="solid"/>
          </a:ln>
        </p:spPr>
      </p:sp>
      <p:sp>
        <p:nvSpPr>
          <p:cNvPr id="13" name="Text 10"/>
          <p:cNvSpPr/>
          <p:nvPr/>
        </p:nvSpPr>
        <p:spPr>
          <a:xfrm>
            <a:off x="621792" y="3538728"/>
            <a:ext cx="539496" cy="274320"/>
          </a:xfrm>
          <a:prstGeom prst="rect">
            <a:avLst/>
          </a:prstGeom>
          <a:noFill/>
          <a:ln/>
        </p:spPr>
        <p:txBody>
          <a:bodyPr wrap="square" lIns="0" tIns="0" rIns="0" bIns="0" rtlCol="0" anchor="t">
            <a:spAutoFit/>
          </a:bodyPr>
          <a:lstStyle/>
          <a:p>
            <a:pPr algn="ctr" indent="0" marL="0">
              <a:buNone/>
            </a:pPr>
            <a:r>
              <a:rPr lang="en-US" sz="1700" b="1" dirty="0">
                <a:solidFill>
                  <a:srgbClr val="003322"/>
                </a:solidFill>
                <a:latin typeface="Arial" pitchFamily="34" charset="0"/>
                <a:ea typeface="Arial" pitchFamily="34" charset="-122"/>
                <a:cs typeface="Arial" pitchFamily="34" charset="-120"/>
              </a:rPr>
              <a:t>02</a:t>
            </a:r>
            <a:endParaRPr lang="en-US" sz="1700" dirty="0"/>
          </a:p>
        </p:txBody>
      </p:sp>
      <p:sp>
        <p:nvSpPr>
          <p:cNvPr id="14" name="Text 11"/>
          <p:cNvSpPr/>
          <p:nvPr/>
        </p:nvSpPr>
        <p:spPr>
          <a:xfrm>
            <a:off x="1444752" y="3456432"/>
            <a:ext cx="4462272" cy="347472"/>
          </a:xfrm>
          <a:prstGeom prst="rect">
            <a:avLst/>
          </a:prstGeom>
          <a:noFill/>
          <a:ln/>
        </p:spPr>
        <p:txBody>
          <a:bodyPr wrap="square" lIns="0" tIns="0" rIns="0" bIns="0" rtlCol="0" anchor="t">
            <a:spAutoFit/>
          </a:bodyPr>
          <a:lstStyle/>
          <a:p>
            <a:pPr indent="0" marL="0">
              <a:buNone/>
            </a:pPr>
            <a:r>
              <a:rPr lang="en-US" sz="2400" b="1" dirty="0">
                <a:solidFill>
                  <a:srgbClr val="FFFFFF"/>
                </a:solidFill>
                <a:latin typeface="Arial" pitchFamily="34" charset="0"/>
                <a:ea typeface="Arial" pitchFamily="34" charset="-122"/>
                <a:cs typeface="Arial" pitchFamily="34" charset="-120"/>
              </a:rPr>
              <a:t>Bound the scope</a:t>
            </a:r>
            <a:endParaRPr lang="en-US" sz="2400" dirty="0"/>
          </a:p>
        </p:txBody>
      </p:sp>
      <p:sp>
        <p:nvSpPr>
          <p:cNvPr id="15" name="Text 12"/>
          <p:cNvSpPr/>
          <p:nvPr/>
        </p:nvSpPr>
        <p:spPr>
          <a:xfrm>
            <a:off x="1453896" y="3904488"/>
            <a:ext cx="5623560" cy="329184"/>
          </a:xfrm>
          <a:prstGeom prst="rect">
            <a:avLst/>
          </a:prstGeom>
          <a:noFill/>
          <a:ln/>
        </p:spPr>
        <p:txBody>
          <a:bodyPr wrap="square" lIns="0" tIns="0" rIns="0" bIns="0" rtlCol="0" anchor="t">
            <a:spAutoFit/>
          </a:bodyPr>
          <a:lstStyle/>
          <a:p>
            <a:pPr indent="0" marL="0">
              <a:buNone/>
            </a:pPr>
            <a:r>
              <a:rPr lang="en-US" sz="1600" dirty="0">
                <a:solidFill>
                  <a:srgbClr val="B1CCC4"/>
                </a:solidFill>
                <a:latin typeface="Arial" pitchFamily="34" charset="0"/>
                <a:ea typeface="Arial" pitchFamily="34" charset="-122"/>
                <a:cs typeface="Arial" pitchFamily="34" charset="-120"/>
              </a:rPr>
              <a:t>Departments, message types and exceptions</a:t>
            </a:r>
            <a:endParaRPr lang="en-US" sz="1600" dirty="0"/>
          </a:p>
        </p:txBody>
      </p:sp>
      <p:sp>
        <p:nvSpPr>
          <p:cNvPr id="16" name="Shape 13"/>
          <p:cNvSpPr/>
          <p:nvPr/>
        </p:nvSpPr>
        <p:spPr>
          <a:xfrm>
            <a:off x="621792" y="4389120"/>
            <a:ext cx="539496" cy="539496"/>
          </a:xfrm>
          <a:prstGeom prst="ellipse">
            <a:avLst/>
          </a:prstGeom>
          <a:solidFill>
            <a:srgbClr val="C4D600"/>
          </a:solidFill>
          <a:ln w="12700">
            <a:solidFill>
              <a:srgbClr val="C4D600"/>
            </a:solidFill>
            <a:prstDash val="solid"/>
          </a:ln>
        </p:spPr>
      </p:sp>
      <p:sp>
        <p:nvSpPr>
          <p:cNvPr id="17" name="Text 14"/>
          <p:cNvSpPr/>
          <p:nvPr/>
        </p:nvSpPr>
        <p:spPr>
          <a:xfrm>
            <a:off x="621792" y="4489704"/>
            <a:ext cx="539496" cy="274320"/>
          </a:xfrm>
          <a:prstGeom prst="rect">
            <a:avLst/>
          </a:prstGeom>
          <a:noFill/>
          <a:ln/>
        </p:spPr>
        <p:txBody>
          <a:bodyPr wrap="square" lIns="0" tIns="0" rIns="0" bIns="0" rtlCol="0" anchor="t">
            <a:spAutoFit/>
          </a:bodyPr>
          <a:lstStyle/>
          <a:p>
            <a:pPr algn="ctr" indent="0" marL="0">
              <a:buNone/>
            </a:pPr>
            <a:r>
              <a:rPr lang="en-US" sz="1700" b="1" dirty="0">
                <a:solidFill>
                  <a:srgbClr val="003322"/>
                </a:solidFill>
                <a:latin typeface="Arial" pitchFamily="34" charset="0"/>
                <a:ea typeface="Arial" pitchFamily="34" charset="-122"/>
                <a:cs typeface="Arial" pitchFamily="34" charset="-120"/>
              </a:rPr>
              <a:t>03</a:t>
            </a:r>
            <a:endParaRPr lang="en-US" sz="1700" dirty="0"/>
          </a:p>
        </p:txBody>
      </p:sp>
      <p:sp>
        <p:nvSpPr>
          <p:cNvPr id="18" name="Text 15"/>
          <p:cNvSpPr/>
          <p:nvPr/>
        </p:nvSpPr>
        <p:spPr>
          <a:xfrm>
            <a:off x="1444752" y="4407408"/>
            <a:ext cx="4462272" cy="347472"/>
          </a:xfrm>
          <a:prstGeom prst="rect">
            <a:avLst/>
          </a:prstGeom>
          <a:noFill/>
          <a:ln/>
        </p:spPr>
        <p:txBody>
          <a:bodyPr wrap="square" lIns="0" tIns="0" rIns="0" bIns="0" rtlCol="0" anchor="t">
            <a:spAutoFit/>
          </a:bodyPr>
          <a:lstStyle/>
          <a:p>
            <a:pPr indent="0" marL="0">
              <a:buNone/>
            </a:pPr>
            <a:r>
              <a:rPr lang="en-US" sz="2400" b="1" dirty="0">
                <a:solidFill>
                  <a:srgbClr val="FFFFFF"/>
                </a:solidFill>
                <a:latin typeface="Arial" pitchFamily="34" charset="0"/>
                <a:ea typeface="Arial" pitchFamily="34" charset="-122"/>
                <a:cs typeface="Arial" pitchFamily="34" charset="-120"/>
              </a:rPr>
              <a:t>Define success</a:t>
            </a:r>
            <a:endParaRPr lang="en-US" sz="2400" dirty="0"/>
          </a:p>
        </p:txBody>
      </p:sp>
      <p:sp>
        <p:nvSpPr>
          <p:cNvPr id="19" name="Text 16"/>
          <p:cNvSpPr/>
          <p:nvPr/>
        </p:nvSpPr>
        <p:spPr>
          <a:xfrm>
            <a:off x="1453896" y="4855464"/>
            <a:ext cx="5623560" cy="329184"/>
          </a:xfrm>
          <a:prstGeom prst="rect">
            <a:avLst/>
          </a:prstGeom>
          <a:noFill/>
          <a:ln/>
        </p:spPr>
        <p:txBody>
          <a:bodyPr wrap="square" lIns="0" tIns="0" rIns="0" bIns="0" rtlCol="0" anchor="t">
            <a:spAutoFit/>
          </a:bodyPr>
          <a:lstStyle/>
          <a:p>
            <a:pPr indent="0" marL="0">
              <a:buNone/>
            </a:pPr>
            <a:r>
              <a:rPr lang="en-US" sz="1600" dirty="0">
                <a:solidFill>
                  <a:srgbClr val="B1CCC4"/>
                </a:solidFill>
                <a:latin typeface="Arial" pitchFamily="34" charset="0"/>
                <a:ea typeface="Arial" pitchFamily="34" charset="-122"/>
                <a:cs typeface="Arial" pitchFamily="34" charset="-120"/>
              </a:rPr>
              <a:t>Baseline, targets and a review date</a:t>
            </a:r>
            <a:endParaRPr lang="en-US" sz="1600" dirty="0"/>
          </a:p>
        </p:txBody>
      </p:sp>
      <p:sp>
        <p:nvSpPr>
          <p:cNvPr id="20" name="Shape 17"/>
          <p:cNvSpPr/>
          <p:nvPr/>
        </p:nvSpPr>
        <p:spPr>
          <a:xfrm>
            <a:off x="8229600" y="2450592"/>
            <a:ext cx="3410712" cy="3154680"/>
          </a:xfrm>
          <a:prstGeom prst="roundRect">
            <a:avLst>
              <a:gd name="adj" fmla="val 3478"/>
            </a:avLst>
          </a:prstGeom>
          <a:solidFill>
            <a:srgbClr val="005742"/>
          </a:solidFill>
          <a:ln w="12700">
            <a:solidFill>
              <a:srgbClr val="005742"/>
            </a:solidFill>
            <a:prstDash val="solid"/>
          </a:ln>
        </p:spPr>
      </p:sp>
      <p:sp>
        <p:nvSpPr>
          <p:cNvPr id="21" name="Shape 18"/>
          <p:cNvSpPr/>
          <p:nvPr/>
        </p:nvSpPr>
        <p:spPr>
          <a:xfrm>
            <a:off x="8540496" y="2761488"/>
            <a:ext cx="749808" cy="749808"/>
          </a:xfrm>
          <a:prstGeom prst="ellipse">
            <a:avLst/>
          </a:prstGeom>
          <a:solidFill>
            <a:srgbClr val="C4D600"/>
          </a:solidFill>
          <a:ln w="12700">
            <a:solidFill>
              <a:srgbClr val="C4D600"/>
            </a:solidFill>
            <a:prstDash val="solid"/>
          </a:ln>
        </p:spPr>
      </p:sp>
      <p:sp>
        <p:nvSpPr>
          <p:cNvPr id="22" name="Shape 19"/>
          <p:cNvSpPr/>
          <p:nvPr/>
        </p:nvSpPr>
        <p:spPr>
          <a:xfrm>
            <a:off x="8817925" y="2933944"/>
            <a:ext cx="194950" cy="194950"/>
          </a:xfrm>
          <a:prstGeom prst="ellipse">
            <a:avLst/>
          </a:prstGeom>
          <a:solidFill>
            <a:srgbClr val="003322"/>
          </a:solidFill>
          <a:ln w="12700">
            <a:solidFill>
              <a:srgbClr val="003322"/>
            </a:solidFill>
            <a:prstDash val="solid"/>
          </a:ln>
        </p:spPr>
      </p:sp>
      <p:sp>
        <p:nvSpPr>
          <p:cNvPr id="23" name="Shape 20"/>
          <p:cNvSpPr/>
          <p:nvPr/>
        </p:nvSpPr>
        <p:spPr>
          <a:xfrm>
            <a:off x="8735446" y="3173882"/>
            <a:ext cx="359908" cy="179954"/>
          </a:xfrm>
          <a:prstGeom prst="roundRect">
            <a:avLst/>
          </a:prstGeom>
          <a:solidFill>
            <a:srgbClr val="003322"/>
          </a:solidFill>
          <a:ln w="12700">
            <a:solidFill>
              <a:srgbClr val="003322"/>
            </a:solidFill>
            <a:prstDash val="solid"/>
          </a:ln>
        </p:spPr>
      </p:sp>
      <p:sp>
        <p:nvSpPr>
          <p:cNvPr id="24" name="Text 21"/>
          <p:cNvSpPr/>
          <p:nvPr/>
        </p:nvSpPr>
        <p:spPr>
          <a:xfrm>
            <a:off x="8540496" y="3858768"/>
            <a:ext cx="2743200" cy="941832"/>
          </a:xfrm>
          <a:prstGeom prst="rect">
            <a:avLst/>
          </a:prstGeom>
          <a:noFill/>
          <a:ln/>
        </p:spPr>
        <p:txBody>
          <a:bodyPr wrap="square" lIns="0" tIns="0" rIns="0" bIns="0" rtlCol="0" anchor="t">
            <a:spAutoFit/>
          </a:bodyPr>
          <a:lstStyle/>
          <a:p>
            <a:pPr indent="0" marL="0">
              <a:buNone/>
            </a:pPr>
            <a:r>
              <a:rPr lang="en-US" sz="2900" b="1" dirty="0">
                <a:solidFill>
                  <a:srgbClr val="FFFFFF"/>
                </a:solidFill>
                <a:latin typeface="Arial" pitchFamily="34" charset="0"/>
                <a:ea typeface="Arial" pitchFamily="34" charset="-122"/>
                <a:cs typeface="Arial" pitchFamily="34" charset="-120"/>
              </a:rPr>
              <a:t>Which team</a:t>
            </a:r>
            <a:endParaRPr lang="en-US" sz="2900" dirty="0"/>
          </a:p>
          <a:p>
            <a:pPr indent="0" marL="0">
              <a:buNone/>
            </a:pPr>
            <a:r>
              <a:rPr lang="en-US" sz="2900" b="1" dirty="0">
                <a:solidFill>
                  <a:srgbClr val="FFFFFF"/>
                </a:solidFill>
                <a:latin typeface="Arial" pitchFamily="34" charset="0"/>
                <a:ea typeface="Arial" pitchFamily="34" charset="-122"/>
                <a:cs typeface="Arial" pitchFamily="34" charset="-120"/>
              </a:rPr>
              <a:t>should go first?</a:t>
            </a:r>
            <a:endParaRPr lang="en-US" sz="2900" dirty="0"/>
          </a:p>
        </p:txBody>
      </p:sp>
      <p:sp>
        <p:nvSpPr>
          <p:cNvPr id="25" name="Text 22"/>
          <p:cNvSpPr/>
          <p:nvPr/>
        </p:nvSpPr>
        <p:spPr>
          <a:xfrm>
            <a:off x="8549640" y="5102352"/>
            <a:ext cx="2468880" cy="246888"/>
          </a:xfrm>
          <a:prstGeom prst="rect">
            <a:avLst/>
          </a:prstGeom>
          <a:noFill/>
          <a:ln/>
        </p:spPr>
        <p:txBody>
          <a:bodyPr wrap="square" lIns="0" tIns="0" rIns="0" bIns="0" rtlCol="0" anchor="t">
            <a:spAutoFit/>
          </a:bodyPr>
          <a:lstStyle/>
          <a:p>
            <a:pPr indent="0" marL="0">
              <a:buNone/>
            </a:pPr>
            <a:r>
              <a:rPr lang="en-US" sz="1200" dirty="0">
                <a:solidFill>
                  <a:srgbClr val="D5E4E1"/>
                </a:solidFill>
                <a:latin typeface="Arial" pitchFamily="34" charset="0"/>
                <a:ea typeface="Arial" pitchFamily="34" charset="-122"/>
                <a:cs typeface="Arial" pitchFamily="34" charset="-120"/>
              </a:rPr>
              <a:t>Discussion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Operations Reporting and Processing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ORP — SWIFT message review</dc:title>
  <dc:subject>Business introduction for leadership and future users</dc:subject>
  <dc:creator>SwiftReview project team</dc:creator>
  <cp:lastModifiedBy>SwiftReview project team</cp:lastModifiedBy>
  <cp:revision>1</cp:revision>
  <dcterms:created xsi:type="dcterms:W3CDTF">2026-09-08T16:47:01Z</dcterms:created>
  <dcterms:modified xsi:type="dcterms:W3CDTF">2026-09-08T16:47:01Z</dcterms:modified>
</cp:coreProperties>
</file>